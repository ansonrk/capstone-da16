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6.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8.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9.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1.xml" ContentType="application/vnd.openxmlformats-officedocument.presentationml.notes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2.xml" ContentType="application/vnd.openxmlformats-officedocument.presentationml.notesSlide+xml"/>
  <Override PartName="/ppt/charts/chart10.xml" ContentType="application/vnd.openxmlformats-officedocument.drawingml.chart+xml"/>
  <Override PartName="/ppt/notesSlides/notesSlide13.xml" ContentType="application/vnd.openxmlformats-officedocument.presentationml.notesSlide+xml"/>
  <Override PartName="/ppt/charts/chart11.xml" ContentType="application/vnd.openxmlformats-officedocument.drawingml.chart+xml"/>
  <Override PartName="/ppt/notesSlides/notesSlide14.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89" r:id="rId4"/>
    <p:sldId id="258" r:id="rId5"/>
    <p:sldId id="293" r:id="rId6"/>
    <p:sldId id="287" r:id="rId7"/>
    <p:sldId id="288" r:id="rId8"/>
    <p:sldId id="290" r:id="rId9"/>
    <p:sldId id="291" r:id="rId10"/>
    <p:sldId id="292" r:id="rId11"/>
    <p:sldId id="260" r:id="rId12"/>
    <p:sldId id="261" r:id="rId13"/>
    <p:sldId id="262" r:id="rId14"/>
    <p:sldId id="263" r:id="rId15"/>
    <p:sldId id="264" r:id="rId16"/>
    <p:sldId id="265" r:id="rId17"/>
    <p:sldId id="266" r:id="rId18"/>
    <p:sldId id="26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7" d="100"/>
          <a:sy n="67" d="100"/>
        </p:scale>
        <p:origin x="370" y="30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D:\NEW%20DATA\New%20folder\Total_Transplants_Over_Tim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D:\NEW%20DATA\New%20folder\All_Organ_Transplant_Rate_per_100k_by_Sex_Char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D:\NEW%20DATA\New%20folder\All_Organ_Transplant_Race_Ethnicity_Char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NEW%20DATA\New%20folder\Heart_Top_States_Waitlist_per_100k.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NEW%20DATA\New%20folder\Kidney_Lung_Top_States_Waitlist_per_100k.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NEW%20DATA\New%20folder\Kidney_Lung_Top_States_Waitlist_per_100k.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288655512622108"/>
          <c:y val="5.174074074074074E-2"/>
          <c:w val="0.8544517225828846"/>
          <c:h val="0.69683111111111107"/>
        </c:manualLayout>
      </c:layout>
      <c:lineChart>
        <c:grouping val="standard"/>
        <c:varyColors val="1"/>
        <c:ser>
          <c:idx val="0"/>
          <c:order val="0"/>
          <c:tx>
            <c:strRef>
              <c:f>Transplants_Over_Time!$B$3</c:f>
              <c:strCache>
                <c:ptCount val="1"/>
                <c:pt idx="0">
                  <c:v>Transplants</c:v>
                </c:pt>
              </c:strCache>
            </c:strRef>
          </c:tx>
          <c:marker>
            <c:symbol val="circle"/>
            <c:size val="5"/>
          </c:marker>
          <c:dPt>
            <c:idx val="0"/>
            <c:marker>
              <c:symbol val="circle"/>
              <c:size val="5"/>
              <c:spPr>
                <a:solidFill>
                  <a:schemeClr val="accent1"/>
                </a:solidFill>
                <a:ln w="9525">
                  <a:solidFill>
                    <a:schemeClr val="accent1"/>
                  </a:solidFill>
                </a:ln>
                <a:effectLst/>
              </c:spPr>
            </c:marker>
            <c:bubble3D val="0"/>
            <c:spPr>
              <a:ln w="28575" cap="rnd">
                <a:solidFill>
                  <a:schemeClr val="accent1"/>
                </a:solidFill>
                <a:round/>
              </a:ln>
              <a:effectLst/>
            </c:spPr>
            <c:extLst>
              <c:ext xmlns:c16="http://schemas.microsoft.com/office/drawing/2014/chart" uri="{C3380CC4-5D6E-409C-BE32-E72D297353CC}">
                <c16:uniqueId val="{00000001-998B-426A-864B-12F73B564E2D}"/>
              </c:ext>
            </c:extLst>
          </c:dPt>
          <c:dPt>
            <c:idx val="1"/>
            <c:marker>
              <c:symbol val="circle"/>
              <c:size val="5"/>
              <c:spPr>
                <a:solidFill>
                  <a:schemeClr val="accent2"/>
                </a:solidFill>
                <a:ln w="9525">
                  <a:solidFill>
                    <a:schemeClr val="accent2"/>
                  </a:solidFill>
                </a:ln>
                <a:effectLst/>
              </c:spPr>
            </c:marker>
            <c:bubble3D val="0"/>
            <c:spPr>
              <a:ln w="28575" cap="rnd">
                <a:solidFill>
                  <a:schemeClr val="accent2"/>
                </a:solidFill>
                <a:round/>
              </a:ln>
              <a:effectLst/>
            </c:spPr>
            <c:extLst>
              <c:ext xmlns:c16="http://schemas.microsoft.com/office/drawing/2014/chart" uri="{C3380CC4-5D6E-409C-BE32-E72D297353CC}">
                <c16:uniqueId val="{00000003-998B-426A-864B-12F73B564E2D}"/>
              </c:ext>
            </c:extLst>
          </c:dPt>
          <c:dPt>
            <c:idx val="2"/>
            <c:marker>
              <c:symbol val="circle"/>
              <c:size val="5"/>
              <c:spPr>
                <a:solidFill>
                  <a:schemeClr val="accent3"/>
                </a:solidFill>
                <a:ln w="9525">
                  <a:solidFill>
                    <a:schemeClr val="accent3"/>
                  </a:solidFill>
                </a:ln>
                <a:effectLst/>
              </c:spPr>
            </c:marker>
            <c:bubble3D val="0"/>
            <c:spPr>
              <a:ln w="28575" cap="rnd">
                <a:solidFill>
                  <a:schemeClr val="accent3"/>
                </a:solidFill>
                <a:round/>
              </a:ln>
              <a:effectLst/>
            </c:spPr>
            <c:extLst>
              <c:ext xmlns:c16="http://schemas.microsoft.com/office/drawing/2014/chart" uri="{C3380CC4-5D6E-409C-BE32-E72D297353CC}">
                <c16:uniqueId val="{00000005-998B-426A-864B-12F73B564E2D}"/>
              </c:ext>
            </c:extLst>
          </c:dPt>
          <c:dPt>
            <c:idx val="3"/>
            <c:marker>
              <c:symbol val="circle"/>
              <c:size val="5"/>
              <c:spPr>
                <a:solidFill>
                  <a:schemeClr val="accent4"/>
                </a:solidFill>
                <a:ln w="9525">
                  <a:solidFill>
                    <a:schemeClr val="accent4"/>
                  </a:solidFill>
                </a:ln>
                <a:effectLst/>
              </c:spPr>
            </c:marker>
            <c:bubble3D val="0"/>
            <c:spPr>
              <a:ln w="28575" cap="rnd">
                <a:solidFill>
                  <a:schemeClr val="accent4"/>
                </a:solidFill>
                <a:round/>
              </a:ln>
              <a:effectLst/>
            </c:spPr>
            <c:extLst>
              <c:ext xmlns:c16="http://schemas.microsoft.com/office/drawing/2014/chart" uri="{C3380CC4-5D6E-409C-BE32-E72D297353CC}">
                <c16:uniqueId val="{00000007-998B-426A-864B-12F73B564E2D}"/>
              </c:ext>
            </c:extLst>
          </c:dPt>
          <c:dPt>
            <c:idx val="4"/>
            <c:marker>
              <c:symbol val="circle"/>
              <c:size val="5"/>
              <c:spPr>
                <a:solidFill>
                  <a:schemeClr val="accent5"/>
                </a:solidFill>
                <a:ln w="9525">
                  <a:solidFill>
                    <a:schemeClr val="accent5"/>
                  </a:solidFill>
                </a:ln>
                <a:effectLst/>
              </c:spPr>
            </c:marker>
            <c:bubble3D val="0"/>
            <c:spPr>
              <a:ln w="28575" cap="rnd">
                <a:solidFill>
                  <a:schemeClr val="accent5"/>
                </a:solidFill>
                <a:round/>
              </a:ln>
              <a:effectLst/>
            </c:spPr>
            <c:extLst>
              <c:ext xmlns:c16="http://schemas.microsoft.com/office/drawing/2014/chart" uri="{C3380CC4-5D6E-409C-BE32-E72D297353CC}">
                <c16:uniqueId val="{00000009-998B-426A-864B-12F73B564E2D}"/>
              </c:ext>
            </c:extLst>
          </c:dPt>
          <c:dPt>
            <c:idx val="5"/>
            <c:marker>
              <c:symbol val="circle"/>
              <c:size val="5"/>
              <c:spPr>
                <a:solidFill>
                  <a:schemeClr val="accent6"/>
                </a:solidFill>
                <a:ln w="9525">
                  <a:solidFill>
                    <a:schemeClr val="accent6"/>
                  </a:solidFill>
                </a:ln>
                <a:effectLst/>
              </c:spPr>
            </c:marker>
            <c:bubble3D val="0"/>
            <c:spPr>
              <a:ln w="28575" cap="rnd">
                <a:solidFill>
                  <a:schemeClr val="accent6"/>
                </a:solidFill>
                <a:round/>
              </a:ln>
              <a:effectLst/>
            </c:spPr>
            <c:extLst>
              <c:ext xmlns:c16="http://schemas.microsoft.com/office/drawing/2014/chart" uri="{C3380CC4-5D6E-409C-BE32-E72D297353CC}">
                <c16:uniqueId val="{0000000B-998B-426A-864B-12F73B564E2D}"/>
              </c:ext>
            </c:extLst>
          </c:dPt>
          <c:dPt>
            <c:idx val="6"/>
            <c:marker>
              <c:symbol val="circle"/>
              <c:size val="5"/>
              <c:spPr>
                <a:solidFill>
                  <a:schemeClr val="accent1">
                    <a:lumMod val="60000"/>
                  </a:schemeClr>
                </a:solidFill>
                <a:ln w="9525">
                  <a:solidFill>
                    <a:schemeClr val="accent1">
                      <a:lumMod val="60000"/>
                    </a:schemeClr>
                  </a:solidFill>
                </a:ln>
                <a:effectLst/>
              </c:spPr>
            </c:marker>
            <c:bubble3D val="0"/>
            <c:spPr>
              <a:ln w="28575" cap="rnd">
                <a:solidFill>
                  <a:schemeClr val="accent1">
                    <a:lumMod val="60000"/>
                  </a:schemeClr>
                </a:solidFill>
                <a:round/>
              </a:ln>
              <a:effectLst/>
            </c:spPr>
            <c:extLst>
              <c:ext xmlns:c16="http://schemas.microsoft.com/office/drawing/2014/chart" uri="{C3380CC4-5D6E-409C-BE32-E72D297353CC}">
                <c16:uniqueId val="{0000000D-998B-426A-864B-12F73B564E2D}"/>
              </c:ext>
            </c:extLst>
          </c:dPt>
          <c:dPt>
            <c:idx val="7"/>
            <c:marker>
              <c:symbol val="circle"/>
              <c:size val="5"/>
              <c:spPr>
                <a:solidFill>
                  <a:schemeClr val="accent2">
                    <a:lumMod val="60000"/>
                  </a:schemeClr>
                </a:solidFill>
                <a:ln w="9525">
                  <a:solidFill>
                    <a:schemeClr val="accent2">
                      <a:lumMod val="60000"/>
                    </a:schemeClr>
                  </a:solidFill>
                </a:ln>
                <a:effectLst/>
              </c:spPr>
            </c:marker>
            <c:bubble3D val="0"/>
            <c:spPr>
              <a:ln w="28575" cap="rnd">
                <a:solidFill>
                  <a:schemeClr val="accent2">
                    <a:lumMod val="60000"/>
                  </a:schemeClr>
                </a:solidFill>
                <a:round/>
              </a:ln>
              <a:effectLst/>
            </c:spPr>
            <c:extLst>
              <c:ext xmlns:c16="http://schemas.microsoft.com/office/drawing/2014/chart" uri="{C3380CC4-5D6E-409C-BE32-E72D297353CC}">
                <c16:uniqueId val="{0000000F-998B-426A-864B-12F73B564E2D}"/>
              </c:ext>
            </c:extLst>
          </c:dPt>
          <c:dPt>
            <c:idx val="8"/>
            <c:marker>
              <c:symbol val="circle"/>
              <c:size val="5"/>
              <c:spPr>
                <a:solidFill>
                  <a:schemeClr val="accent3">
                    <a:lumMod val="60000"/>
                  </a:schemeClr>
                </a:solidFill>
                <a:ln w="9525">
                  <a:solidFill>
                    <a:schemeClr val="accent3">
                      <a:lumMod val="60000"/>
                    </a:schemeClr>
                  </a:solidFill>
                </a:ln>
                <a:effectLst/>
              </c:spPr>
            </c:marker>
            <c:bubble3D val="0"/>
            <c:spPr>
              <a:ln w="28575" cap="rnd">
                <a:solidFill>
                  <a:schemeClr val="accent3">
                    <a:lumMod val="60000"/>
                  </a:schemeClr>
                </a:solidFill>
                <a:round/>
              </a:ln>
              <a:effectLst/>
            </c:spPr>
            <c:extLst>
              <c:ext xmlns:c16="http://schemas.microsoft.com/office/drawing/2014/chart" uri="{C3380CC4-5D6E-409C-BE32-E72D297353CC}">
                <c16:uniqueId val="{00000011-998B-426A-864B-12F73B564E2D}"/>
              </c:ext>
            </c:extLst>
          </c:dPt>
          <c:dPt>
            <c:idx val="9"/>
            <c:marker>
              <c:symbol val="circle"/>
              <c:size val="5"/>
              <c:spPr>
                <a:solidFill>
                  <a:schemeClr val="accent4">
                    <a:lumMod val="60000"/>
                  </a:schemeClr>
                </a:solidFill>
                <a:ln w="9525">
                  <a:solidFill>
                    <a:schemeClr val="accent4">
                      <a:lumMod val="60000"/>
                    </a:schemeClr>
                  </a:solidFill>
                </a:ln>
                <a:effectLst/>
              </c:spPr>
            </c:marker>
            <c:bubble3D val="0"/>
            <c:spPr>
              <a:ln w="28575" cap="rnd">
                <a:solidFill>
                  <a:schemeClr val="accent4">
                    <a:lumMod val="60000"/>
                  </a:schemeClr>
                </a:solidFill>
                <a:round/>
              </a:ln>
              <a:effectLst/>
            </c:spPr>
            <c:extLst>
              <c:ext xmlns:c16="http://schemas.microsoft.com/office/drawing/2014/chart" uri="{C3380CC4-5D6E-409C-BE32-E72D297353CC}">
                <c16:uniqueId val="{00000013-998B-426A-864B-12F73B564E2D}"/>
              </c:ext>
            </c:extLst>
          </c:dPt>
          <c:dPt>
            <c:idx val="10"/>
            <c:marker>
              <c:symbol val="circle"/>
              <c:size val="5"/>
              <c:spPr>
                <a:solidFill>
                  <a:schemeClr val="accent5">
                    <a:lumMod val="60000"/>
                  </a:schemeClr>
                </a:solidFill>
                <a:ln w="9525">
                  <a:solidFill>
                    <a:schemeClr val="accent5">
                      <a:lumMod val="60000"/>
                    </a:schemeClr>
                  </a:solidFill>
                </a:ln>
                <a:effectLst/>
              </c:spPr>
            </c:marker>
            <c:bubble3D val="0"/>
            <c:spPr>
              <a:ln w="28575" cap="rnd">
                <a:solidFill>
                  <a:schemeClr val="accent5">
                    <a:lumMod val="60000"/>
                  </a:schemeClr>
                </a:solidFill>
                <a:round/>
              </a:ln>
              <a:effectLst/>
            </c:spPr>
            <c:extLst>
              <c:ext xmlns:c16="http://schemas.microsoft.com/office/drawing/2014/chart" uri="{C3380CC4-5D6E-409C-BE32-E72D297353CC}">
                <c16:uniqueId val="{00000015-998B-426A-864B-12F73B564E2D}"/>
              </c:ext>
            </c:extLst>
          </c:dPt>
          <c:dPt>
            <c:idx val="11"/>
            <c:marker>
              <c:symbol val="circle"/>
              <c:size val="5"/>
              <c:spPr>
                <a:solidFill>
                  <a:schemeClr val="accent6">
                    <a:lumMod val="60000"/>
                  </a:schemeClr>
                </a:solidFill>
                <a:ln w="9525">
                  <a:solidFill>
                    <a:schemeClr val="accent6">
                      <a:lumMod val="60000"/>
                    </a:schemeClr>
                  </a:solidFill>
                </a:ln>
                <a:effectLst/>
              </c:spPr>
            </c:marker>
            <c:bubble3D val="0"/>
            <c:spPr>
              <a:ln w="28575" cap="rnd">
                <a:solidFill>
                  <a:schemeClr val="accent6">
                    <a:lumMod val="60000"/>
                  </a:schemeClr>
                </a:solidFill>
                <a:round/>
              </a:ln>
              <a:effectLst/>
            </c:spPr>
            <c:extLst>
              <c:ext xmlns:c16="http://schemas.microsoft.com/office/drawing/2014/chart" uri="{C3380CC4-5D6E-409C-BE32-E72D297353CC}">
                <c16:uniqueId val="{00000017-998B-426A-864B-12F73B564E2D}"/>
              </c:ext>
            </c:extLst>
          </c:dPt>
          <c:dPt>
            <c:idx val="12"/>
            <c:marker>
              <c:symbol val="circle"/>
              <c:size val="5"/>
              <c:spPr>
                <a:solidFill>
                  <a:schemeClr val="accent1">
                    <a:lumMod val="80000"/>
                    <a:lumOff val="20000"/>
                  </a:schemeClr>
                </a:solidFill>
                <a:ln w="9525">
                  <a:solidFill>
                    <a:schemeClr val="accent1">
                      <a:lumMod val="80000"/>
                      <a:lumOff val="20000"/>
                    </a:schemeClr>
                  </a:solidFill>
                </a:ln>
                <a:effectLst/>
              </c:spPr>
            </c:marker>
            <c:bubble3D val="0"/>
            <c:spPr>
              <a:ln w="28575" cap="rnd">
                <a:solidFill>
                  <a:schemeClr val="accent1">
                    <a:lumMod val="80000"/>
                    <a:lumOff val="20000"/>
                  </a:schemeClr>
                </a:solidFill>
                <a:round/>
              </a:ln>
              <a:effectLst/>
            </c:spPr>
            <c:extLst>
              <c:ext xmlns:c16="http://schemas.microsoft.com/office/drawing/2014/chart" uri="{C3380CC4-5D6E-409C-BE32-E72D297353CC}">
                <c16:uniqueId val="{00000019-998B-426A-864B-12F73B564E2D}"/>
              </c:ext>
            </c:extLst>
          </c:dPt>
          <c:dPt>
            <c:idx val="13"/>
            <c:marker>
              <c:symbol val="circle"/>
              <c:size val="5"/>
              <c:spPr>
                <a:solidFill>
                  <a:schemeClr val="accent2">
                    <a:lumMod val="80000"/>
                    <a:lumOff val="20000"/>
                  </a:schemeClr>
                </a:solidFill>
                <a:ln w="9525">
                  <a:solidFill>
                    <a:schemeClr val="accent2">
                      <a:lumMod val="80000"/>
                      <a:lumOff val="20000"/>
                    </a:schemeClr>
                  </a:solidFill>
                </a:ln>
                <a:effectLst/>
              </c:spPr>
            </c:marker>
            <c:bubble3D val="0"/>
            <c:spPr>
              <a:ln w="28575" cap="rnd">
                <a:solidFill>
                  <a:schemeClr val="accent2">
                    <a:lumMod val="80000"/>
                    <a:lumOff val="20000"/>
                  </a:schemeClr>
                </a:solidFill>
                <a:round/>
              </a:ln>
              <a:effectLst/>
            </c:spPr>
            <c:extLst>
              <c:ext xmlns:c16="http://schemas.microsoft.com/office/drawing/2014/chart" uri="{C3380CC4-5D6E-409C-BE32-E72D297353CC}">
                <c16:uniqueId val="{0000001B-998B-426A-864B-12F73B564E2D}"/>
              </c:ext>
            </c:extLst>
          </c:dPt>
          <c:dPt>
            <c:idx val="14"/>
            <c:marker>
              <c:symbol val="circle"/>
              <c:size val="5"/>
              <c:spPr>
                <a:solidFill>
                  <a:schemeClr val="accent3">
                    <a:lumMod val="80000"/>
                    <a:lumOff val="20000"/>
                  </a:schemeClr>
                </a:solidFill>
                <a:ln w="9525">
                  <a:solidFill>
                    <a:schemeClr val="accent3">
                      <a:lumMod val="80000"/>
                      <a:lumOff val="20000"/>
                    </a:schemeClr>
                  </a:solidFill>
                </a:ln>
                <a:effectLst/>
              </c:spPr>
            </c:marker>
            <c:bubble3D val="0"/>
            <c:spPr>
              <a:ln w="28575" cap="rnd">
                <a:solidFill>
                  <a:schemeClr val="accent3">
                    <a:lumMod val="80000"/>
                    <a:lumOff val="20000"/>
                  </a:schemeClr>
                </a:solidFill>
                <a:round/>
              </a:ln>
              <a:effectLst/>
            </c:spPr>
            <c:extLst>
              <c:ext xmlns:c16="http://schemas.microsoft.com/office/drawing/2014/chart" uri="{C3380CC4-5D6E-409C-BE32-E72D297353CC}">
                <c16:uniqueId val="{0000001D-998B-426A-864B-12F73B564E2D}"/>
              </c:ext>
            </c:extLst>
          </c:dPt>
          <c:dPt>
            <c:idx val="15"/>
            <c:marker>
              <c:symbol val="circle"/>
              <c:size val="5"/>
              <c:spPr>
                <a:solidFill>
                  <a:schemeClr val="accent4">
                    <a:lumMod val="80000"/>
                    <a:lumOff val="20000"/>
                  </a:schemeClr>
                </a:solidFill>
                <a:ln w="9525">
                  <a:solidFill>
                    <a:schemeClr val="accent4">
                      <a:lumMod val="80000"/>
                      <a:lumOff val="20000"/>
                    </a:schemeClr>
                  </a:solidFill>
                </a:ln>
                <a:effectLst/>
              </c:spPr>
            </c:marker>
            <c:bubble3D val="0"/>
            <c:spPr>
              <a:ln w="28575" cap="rnd">
                <a:solidFill>
                  <a:schemeClr val="accent4">
                    <a:lumMod val="80000"/>
                    <a:lumOff val="20000"/>
                  </a:schemeClr>
                </a:solidFill>
                <a:round/>
              </a:ln>
              <a:effectLst/>
            </c:spPr>
            <c:extLst>
              <c:ext xmlns:c16="http://schemas.microsoft.com/office/drawing/2014/chart" uri="{C3380CC4-5D6E-409C-BE32-E72D297353CC}">
                <c16:uniqueId val="{0000001F-998B-426A-864B-12F73B564E2D}"/>
              </c:ext>
            </c:extLst>
          </c:dPt>
          <c:dPt>
            <c:idx val="16"/>
            <c:marker>
              <c:symbol val="circle"/>
              <c:size val="5"/>
              <c:spPr>
                <a:solidFill>
                  <a:schemeClr val="accent5">
                    <a:lumMod val="80000"/>
                    <a:lumOff val="20000"/>
                  </a:schemeClr>
                </a:solidFill>
                <a:ln w="9525">
                  <a:solidFill>
                    <a:schemeClr val="accent5">
                      <a:lumMod val="80000"/>
                      <a:lumOff val="20000"/>
                    </a:schemeClr>
                  </a:solidFill>
                </a:ln>
                <a:effectLst/>
              </c:spPr>
            </c:marker>
            <c:bubble3D val="0"/>
            <c:spPr>
              <a:ln w="28575" cap="rnd">
                <a:solidFill>
                  <a:schemeClr val="accent5">
                    <a:lumMod val="80000"/>
                    <a:lumOff val="20000"/>
                  </a:schemeClr>
                </a:solidFill>
                <a:round/>
              </a:ln>
              <a:effectLst/>
            </c:spPr>
            <c:extLst>
              <c:ext xmlns:c16="http://schemas.microsoft.com/office/drawing/2014/chart" uri="{C3380CC4-5D6E-409C-BE32-E72D297353CC}">
                <c16:uniqueId val="{00000021-998B-426A-864B-12F73B564E2D}"/>
              </c:ext>
            </c:extLst>
          </c:dPt>
          <c:dPt>
            <c:idx val="17"/>
            <c:marker>
              <c:symbol val="circle"/>
              <c:size val="5"/>
              <c:spPr>
                <a:solidFill>
                  <a:schemeClr val="accent6">
                    <a:lumMod val="80000"/>
                    <a:lumOff val="20000"/>
                  </a:schemeClr>
                </a:solidFill>
                <a:ln w="9525">
                  <a:solidFill>
                    <a:schemeClr val="accent6">
                      <a:lumMod val="80000"/>
                      <a:lumOff val="20000"/>
                    </a:schemeClr>
                  </a:solidFill>
                </a:ln>
                <a:effectLst/>
              </c:spPr>
            </c:marker>
            <c:bubble3D val="0"/>
            <c:spPr>
              <a:ln w="28575" cap="rnd">
                <a:solidFill>
                  <a:schemeClr val="accent6">
                    <a:lumMod val="80000"/>
                    <a:lumOff val="20000"/>
                  </a:schemeClr>
                </a:solidFill>
                <a:round/>
              </a:ln>
              <a:effectLst/>
            </c:spPr>
            <c:extLst>
              <c:ext xmlns:c16="http://schemas.microsoft.com/office/drawing/2014/chart" uri="{C3380CC4-5D6E-409C-BE32-E72D297353CC}">
                <c16:uniqueId val="{00000023-998B-426A-864B-12F73B564E2D}"/>
              </c:ext>
            </c:extLst>
          </c:dPt>
          <c:dPt>
            <c:idx val="18"/>
            <c:marker>
              <c:symbol val="circle"/>
              <c:size val="5"/>
              <c:spPr>
                <a:solidFill>
                  <a:schemeClr val="accent1">
                    <a:lumMod val="80000"/>
                  </a:schemeClr>
                </a:solidFill>
                <a:ln w="9525">
                  <a:solidFill>
                    <a:schemeClr val="accent1">
                      <a:lumMod val="80000"/>
                    </a:schemeClr>
                  </a:solidFill>
                </a:ln>
                <a:effectLst/>
              </c:spPr>
            </c:marker>
            <c:bubble3D val="0"/>
            <c:spPr>
              <a:ln w="28575" cap="rnd">
                <a:solidFill>
                  <a:schemeClr val="accent1">
                    <a:lumMod val="80000"/>
                  </a:schemeClr>
                </a:solidFill>
                <a:round/>
              </a:ln>
              <a:effectLst/>
            </c:spPr>
            <c:extLst>
              <c:ext xmlns:c16="http://schemas.microsoft.com/office/drawing/2014/chart" uri="{C3380CC4-5D6E-409C-BE32-E72D297353CC}">
                <c16:uniqueId val="{00000025-998B-426A-864B-12F73B564E2D}"/>
              </c:ext>
            </c:extLst>
          </c:dPt>
          <c:dPt>
            <c:idx val="19"/>
            <c:marker>
              <c:symbol val="circle"/>
              <c:size val="5"/>
              <c:spPr>
                <a:solidFill>
                  <a:schemeClr val="accent2">
                    <a:lumMod val="80000"/>
                  </a:schemeClr>
                </a:solidFill>
                <a:ln w="9525">
                  <a:solidFill>
                    <a:schemeClr val="accent2">
                      <a:lumMod val="80000"/>
                    </a:schemeClr>
                  </a:solidFill>
                </a:ln>
                <a:effectLst/>
              </c:spPr>
            </c:marker>
            <c:bubble3D val="0"/>
            <c:spPr>
              <a:ln w="28575" cap="rnd">
                <a:solidFill>
                  <a:schemeClr val="accent2">
                    <a:lumMod val="80000"/>
                  </a:schemeClr>
                </a:solidFill>
                <a:round/>
              </a:ln>
              <a:effectLst/>
            </c:spPr>
            <c:extLst>
              <c:ext xmlns:c16="http://schemas.microsoft.com/office/drawing/2014/chart" uri="{C3380CC4-5D6E-409C-BE32-E72D297353CC}">
                <c16:uniqueId val="{00000027-998B-426A-864B-12F73B564E2D}"/>
              </c:ext>
            </c:extLst>
          </c:dPt>
          <c:dPt>
            <c:idx val="20"/>
            <c:marker>
              <c:symbol val="circle"/>
              <c:size val="5"/>
              <c:spPr>
                <a:solidFill>
                  <a:schemeClr val="accent3">
                    <a:lumMod val="80000"/>
                  </a:schemeClr>
                </a:solidFill>
                <a:ln w="9525">
                  <a:solidFill>
                    <a:schemeClr val="accent3">
                      <a:lumMod val="80000"/>
                    </a:schemeClr>
                  </a:solidFill>
                </a:ln>
                <a:effectLst/>
              </c:spPr>
            </c:marker>
            <c:bubble3D val="0"/>
            <c:spPr>
              <a:ln w="28575" cap="rnd">
                <a:solidFill>
                  <a:schemeClr val="accent3">
                    <a:lumMod val="80000"/>
                  </a:schemeClr>
                </a:solidFill>
                <a:round/>
              </a:ln>
              <a:effectLst/>
            </c:spPr>
            <c:extLst>
              <c:ext xmlns:c16="http://schemas.microsoft.com/office/drawing/2014/chart" uri="{C3380CC4-5D6E-409C-BE32-E72D297353CC}">
                <c16:uniqueId val="{00000029-998B-426A-864B-12F73B564E2D}"/>
              </c:ext>
            </c:extLst>
          </c:dPt>
          <c:dPt>
            <c:idx val="21"/>
            <c:marker>
              <c:symbol val="circle"/>
              <c:size val="5"/>
              <c:spPr>
                <a:solidFill>
                  <a:schemeClr val="accent4">
                    <a:lumMod val="80000"/>
                  </a:schemeClr>
                </a:solidFill>
                <a:ln w="9525">
                  <a:solidFill>
                    <a:schemeClr val="accent4">
                      <a:lumMod val="80000"/>
                    </a:schemeClr>
                  </a:solidFill>
                </a:ln>
                <a:effectLst/>
              </c:spPr>
            </c:marker>
            <c:bubble3D val="0"/>
            <c:spPr>
              <a:ln w="28575" cap="rnd">
                <a:solidFill>
                  <a:schemeClr val="accent4">
                    <a:lumMod val="80000"/>
                  </a:schemeClr>
                </a:solidFill>
                <a:round/>
              </a:ln>
              <a:effectLst/>
            </c:spPr>
            <c:extLst>
              <c:ext xmlns:c16="http://schemas.microsoft.com/office/drawing/2014/chart" uri="{C3380CC4-5D6E-409C-BE32-E72D297353CC}">
                <c16:uniqueId val="{0000002B-998B-426A-864B-12F73B564E2D}"/>
              </c:ext>
            </c:extLst>
          </c:dPt>
          <c:dPt>
            <c:idx val="22"/>
            <c:marker>
              <c:symbol val="circle"/>
              <c:size val="5"/>
              <c:spPr>
                <a:solidFill>
                  <a:schemeClr val="accent5">
                    <a:lumMod val="80000"/>
                  </a:schemeClr>
                </a:solidFill>
                <a:ln w="9525">
                  <a:solidFill>
                    <a:schemeClr val="accent5">
                      <a:lumMod val="80000"/>
                    </a:schemeClr>
                  </a:solidFill>
                </a:ln>
                <a:effectLst/>
              </c:spPr>
            </c:marker>
            <c:bubble3D val="0"/>
            <c:spPr>
              <a:ln w="28575" cap="rnd">
                <a:solidFill>
                  <a:schemeClr val="accent5">
                    <a:lumMod val="80000"/>
                  </a:schemeClr>
                </a:solidFill>
                <a:round/>
              </a:ln>
              <a:effectLst/>
            </c:spPr>
            <c:extLst>
              <c:ext xmlns:c16="http://schemas.microsoft.com/office/drawing/2014/chart" uri="{C3380CC4-5D6E-409C-BE32-E72D297353CC}">
                <c16:uniqueId val="{0000002D-998B-426A-864B-12F73B564E2D}"/>
              </c:ext>
            </c:extLst>
          </c:dPt>
          <c:dPt>
            <c:idx val="23"/>
            <c:marker>
              <c:symbol val="circle"/>
              <c:size val="5"/>
              <c:spPr>
                <a:solidFill>
                  <a:schemeClr val="accent6">
                    <a:lumMod val="80000"/>
                  </a:schemeClr>
                </a:solidFill>
                <a:ln w="9525">
                  <a:solidFill>
                    <a:schemeClr val="accent6">
                      <a:lumMod val="80000"/>
                    </a:schemeClr>
                  </a:solidFill>
                </a:ln>
                <a:effectLst/>
              </c:spPr>
            </c:marker>
            <c:bubble3D val="0"/>
            <c:spPr>
              <a:ln w="28575" cap="rnd">
                <a:solidFill>
                  <a:schemeClr val="accent6">
                    <a:lumMod val="80000"/>
                  </a:schemeClr>
                </a:solidFill>
                <a:round/>
              </a:ln>
              <a:effectLst/>
            </c:spPr>
            <c:extLst>
              <c:ext xmlns:c16="http://schemas.microsoft.com/office/drawing/2014/chart" uri="{C3380CC4-5D6E-409C-BE32-E72D297353CC}">
                <c16:uniqueId val="{0000002F-998B-426A-864B-12F73B564E2D}"/>
              </c:ext>
            </c:extLst>
          </c:dPt>
          <c:dPt>
            <c:idx val="24"/>
            <c:marker>
              <c:symbol val="circle"/>
              <c:size val="5"/>
              <c:spPr>
                <a:solidFill>
                  <a:schemeClr val="accent1">
                    <a:lumMod val="60000"/>
                    <a:lumOff val="40000"/>
                  </a:schemeClr>
                </a:solidFill>
                <a:ln w="9525">
                  <a:solidFill>
                    <a:schemeClr val="accent1">
                      <a:lumMod val="60000"/>
                      <a:lumOff val="40000"/>
                    </a:schemeClr>
                  </a:solidFill>
                </a:ln>
                <a:effectLst/>
              </c:spPr>
            </c:marker>
            <c:bubble3D val="0"/>
            <c:spPr>
              <a:ln w="28575" cap="rnd">
                <a:solidFill>
                  <a:schemeClr val="accent1">
                    <a:lumMod val="60000"/>
                    <a:lumOff val="40000"/>
                  </a:schemeClr>
                </a:solidFill>
                <a:round/>
              </a:ln>
              <a:effectLst/>
            </c:spPr>
            <c:extLst>
              <c:ext xmlns:c16="http://schemas.microsoft.com/office/drawing/2014/chart" uri="{C3380CC4-5D6E-409C-BE32-E72D297353CC}">
                <c16:uniqueId val="{00000031-998B-426A-864B-12F73B564E2D}"/>
              </c:ext>
            </c:extLst>
          </c:dPt>
          <c:dPt>
            <c:idx val="25"/>
            <c:marker>
              <c:symbol val="circle"/>
              <c:size val="5"/>
              <c:spPr>
                <a:solidFill>
                  <a:schemeClr val="accent2">
                    <a:lumMod val="60000"/>
                    <a:lumOff val="40000"/>
                  </a:schemeClr>
                </a:solidFill>
                <a:ln w="9525">
                  <a:solidFill>
                    <a:schemeClr val="accent2">
                      <a:lumMod val="60000"/>
                      <a:lumOff val="40000"/>
                    </a:schemeClr>
                  </a:solidFill>
                </a:ln>
                <a:effectLst/>
              </c:spPr>
            </c:marker>
            <c:bubble3D val="0"/>
            <c:spPr>
              <a:ln w="28575" cap="rnd">
                <a:solidFill>
                  <a:schemeClr val="accent2">
                    <a:lumMod val="60000"/>
                    <a:lumOff val="40000"/>
                  </a:schemeClr>
                </a:solidFill>
                <a:round/>
              </a:ln>
              <a:effectLst/>
            </c:spPr>
            <c:extLst>
              <c:ext xmlns:c16="http://schemas.microsoft.com/office/drawing/2014/chart" uri="{C3380CC4-5D6E-409C-BE32-E72D297353CC}">
                <c16:uniqueId val="{00000033-998B-426A-864B-12F73B564E2D}"/>
              </c:ext>
            </c:extLst>
          </c:dPt>
          <c:dPt>
            <c:idx val="26"/>
            <c:marker>
              <c:symbol val="circle"/>
              <c:size val="5"/>
              <c:spPr>
                <a:solidFill>
                  <a:schemeClr val="accent3">
                    <a:lumMod val="60000"/>
                    <a:lumOff val="40000"/>
                  </a:schemeClr>
                </a:solidFill>
                <a:ln w="9525">
                  <a:solidFill>
                    <a:schemeClr val="accent3">
                      <a:lumMod val="60000"/>
                      <a:lumOff val="40000"/>
                    </a:schemeClr>
                  </a:solidFill>
                </a:ln>
                <a:effectLst/>
              </c:spPr>
            </c:marker>
            <c:bubble3D val="0"/>
            <c:spPr>
              <a:ln w="28575" cap="rnd">
                <a:solidFill>
                  <a:schemeClr val="accent3">
                    <a:lumMod val="60000"/>
                    <a:lumOff val="40000"/>
                  </a:schemeClr>
                </a:solidFill>
                <a:round/>
              </a:ln>
              <a:effectLst/>
            </c:spPr>
            <c:extLst>
              <c:ext xmlns:c16="http://schemas.microsoft.com/office/drawing/2014/chart" uri="{C3380CC4-5D6E-409C-BE32-E72D297353CC}">
                <c16:uniqueId val="{00000035-998B-426A-864B-12F73B564E2D}"/>
              </c:ext>
            </c:extLst>
          </c:dPt>
          <c:dPt>
            <c:idx val="27"/>
            <c:marker>
              <c:symbol val="circle"/>
              <c:size val="5"/>
              <c:spPr>
                <a:solidFill>
                  <a:schemeClr val="accent4">
                    <a:lumMod val="60000"/>
                    <a:lumOff val="40000"/>
                  </a:schemeClr>
                </a:solidFill>
                <a:ln w="9525">
                  <a:solidFill>
                    <a:schemeClr val="accent4">
                      <a:lumMod val="60000"/>
                      <a:lumOff val="40000"/>
                    </a:schemeClr>
                  </a:solidFill>
                </a:ln>
                <a:effectLst/>
              </c:spPr>
            </c:marker>
            <c:bubble3D val="0"/>
            <c:spPr>
              <a:ln w="28575" cap="rnd">
                <a:solidFill>
                  <a:schemeClr val="accent4">
                    <a:lumMod val="60000"/>
                    <a:lumOff val="40000"/>
                  </a:schemeClr>
                </a:solidFill>
                <a:round/>
              </a:ln>
              <a:effectLst/>
            </c:spPr>
            <c:extLst>
              <c:ext xmlns:c16="http://schemas.microsoft.com/office/drawing/2014/chart" uri="{C3380CC4-5D6E-409C-BE32-E72D297353CC}">
                <c16:uniqueId val="{00000037-998B-426A-864B-12F73B564E2D}"/>
              </c:ext>
            </c:extLst>
          </c:dPt>
          <c:dPt>
            <c:idx val="28"/>
            <c:marker>
              <c:symbol val="circle"/>
              <c:size val="5"/>
              <c:spPr>
                <a:solidFill>
                  <a:schemeClr val="accent5">
                    <a:lumMod val="60000"/>
                    <a:lumOff val="40000"/>
                  </a:schemeClr>
                </a:solidFill>
                <a:ln w="9525">
                  <a:solidFill>
                    <a:schemeClr val="accent5">
                      <a:lumMod val="60000"/>
                      <a:lumOff val="40000"/>
                    </a:schemeClr>
                  </a:solidFill>
                </a:ln>
                <a:effectLst/>
              </c:spPr>
            </c:marker>
            <c:bubble3D val="0"/>
            <c:spPr>
              <a:ln w="28575" cap="rnd">
                <a:solidFill>
                  <a:schemeClr val="accent5">
                    <a:lumMod val="60000"/>
                    <a:lumOff val="40000"/>
                  </a:schemeClr>
                </a:solidFill>
                <a:round/>
              </a:ln>
              <a:effectLst/>
            </c:spPr>
            <c:extLst>
              <c:ext xmlns:c16="http://schemas.microsoft.com/office/drawing/2014/chart" uri="{C3380CC4-5D6E-409C-BE32-E72D297353CC}">
                <c16:uniqueId val="{00000039-998B-426A-864B-12F73B564E2D}"/>
              </c:ext>
            </c:extLst>
          </c:dPt>
          <c:dPt>
            <c:idx val="29"/>
            <c:marker>
              <c:symbol val="circle"/>
              <c:size val="5"/>
              <c:spPr>
                <a:solidFill>
                  <a:schemeClr val="accent6">
                    <a:lumMod val="60000"/>
                    <a:lumOff val="40000"/>
                  </a:schemeClr>
                </a:solidFill>
                <a:ln w="9525">
                  <a:solidFill>
                    <a:schemeClr val="accent6">
                      <a:lumMod val="60000"/>
                      <a:lumOff val="40000"/>
                    </a:schemeClr>
                  </a:solidFill>
                </a:ln>
                <a:effectLst/>
              </c:spPr>
            </c:marker>
            <c:bubble3D val="0"/>
            <c:spPr>
              <a:ln w="28575" cap="rnd">
                <a:solidFill>
                  <a:schemeClr val="accent6">
                    <a:lumMod val="60000"/>
                    <a:lumOff val="40000"/>
                  </a:schemeClr>
                </a:solidFill>
                <a:round/>
              </a:ln>
              <a:effectLst/>
            </c:spPr>
            <c:extLst>
              <c:ext xmlns:c16="http://schemas.microsoft.com/office/drawing/2014/chart" uri="{C3380CC4-5D6E-409C-BE32-E72D297353CC}">
                <c16:uniqueId val="{0000003B-998B-426A-864B-12F73B564E2D}"/>
              </c:ext>
            </c:extLst>
          </c:dPt>
          <c:dPt>
            <c:idx val="30"/>
            <c:marker>
              <c:symbol val="circle"/>
              <c:size val="5"/>
              <c:spPr>
                <a:solidFill>
                  <a:schemeClr val="accent1">
                    <a:lumMod val="50000"/>
                  </a:schemeClr>
                </a:solidFill>
                <a:ln w="9525">
                  <a:solidFill>
                    <a:schemeClr val="accent1">
                      <a:lumMod val="50000"/>
                    </a:schemeClr>
                  </a:solidFill>
                </a:ln>
                <a:effectLst/>
              </c:spPr>
            </c:marker>
            <c:bubble3D val="0"/>
            <c:spPr>
              <a:ln w="28575" cap="rnd">
                <a:solidFill>
                  <a:schemeClr val="accent1">
                    <a:lumMod val="50000"/>
                  </a:schemeClr>
                </a:solidFill>
                <a:round/>
              </a:ln>
              <a:effectLst/>
            </c:spPr>
            <c:extLst>
              <c:ext xmlns:c16="http://schemas.microsoft.com/office/drawing/2014/chart" uri="{C3380CC4-5D6E-409C-BE32-E72D297353CC}">
                <c16:uniqueId val="{0000003D-998B-426A-864B-12F73B564E2D}"/>
              </c:ext>
            </c:extLst>
          </c:dPt>
          <c:dPt>
            <c:idx val="31"/>
            <c:marker>
              <c:symbol val="circle"/>
              <c:size val="5"/>
              <c:spPr>
                <a:solidFill>
                  <a:schemeClr val="accent2">
                    <a:lumMod val="50000"/>
                  </a:schemeClr>
                </a:solidFill>
                <a:ln w="9525">
                  <a:solidFill>
                    <a:schemeClr val="accent2">
                      <a:lumMod val="50000"/>
                    </a:schemeClr>
                  </a:solidFill>
                </a:ln>
                <a:effectLst/>
              </c:spPr>
            </c:marker>
            <c:bubble3D val="0"/>
            <c:spPr>
              <a:ln w="28575" cap="rnd">
                <a:solidFill>
                  <a:schemeClr val="accent2">
                    <a:lumMod val="50000"/>
                  </a:schemeClr>
                </a:solidFill>
                <a:round/>
              </a:ln>
              <a:effectLst/>
            </c:spPr>
            <c:extLst>
              <c:ext xmlns:c16="http://schemas.microsoft.com/office/drawing/2014/chart" uri="{C3380CC4-5D6E-409C-BE32-E72D297353CC}">
                <c16:uniqueId val="{0000003F-998B-426A-864B-12F73B564E2D}"/>
              </c:ext>
            </c:extLst>
          </c:dPt>
          <c:dPt>
            <c:idx val="32"/>
            <c:marker>
              <c:symbol val="circle"/>
              <c:size val="5"/>
              <c:spPr>
                <a:solidFill>
                  <a:schemeClr val="accent3">
                    <a:lumMod val="50000"/>
                  </a:schemeClr>
                </a:solidFill>
                <a:ln w="9525">
                  <a:solidFill>
                    <a:schemeClr val="accent3">
                      <a:lumMod val="50000"/>
                    </a:schemeClr>
                  </a:solidFill>
                </a:ln>
                <a:effectLst/>
              </c:spPr>
            </c:marker>
            <c:bubble3D val="0"/>
            <c:spPr>
              <a:ln w="28575" cap="rnd">
                <a:solidFill>
                  <a:schemeClr val="accent3">
                    <a:lumMod val="50000"/>
                  </a:schemeClr>
                </a:solidFill>
                <a:round/>
              </a:ln>
              <a:effectLst/>
            </c:spPr>
            <c:extLst>
              <c:ext xmlns:c16="http://schemas.microsoft.com/office/drawing/2014/chart" uri="{C3380CC4-5D6E-409C-BE32-E72D297353CC}">
                <c16:uniqueId val="{00000041-998B-426A-864B-12F73B564E2D}"/>
              </c:ext>
            </c:extLst>
          </c:dPt>
          <c:dPt>
            <c:idx val="33"/>
            <c:marker>
              <c:symbol val="circle"/>
              <c:size val="5"/>
              <c:spPr>
                <a:solidFill>
                  <a:schemeClr val="accent4">
                    <a:lumMod val="50000"/>
                  </a:schemeClr>
                </a:solidFill>
                <a:ln w="9525">
                  <a:solidFill>
                    <a:schemeClr val="accent4">
                      <a:lumMod val="50000"/>
                    </a:schemeClr>
                  </a:solidFill>
                </a:ln>
                <a:effectLst/>
              </c:spPr>
            </c:marker>
            <c:bubble3D val="0"/>
            <c:spPr>
              <a:ln w="28575" cap="rnd">
                <a:solidFill>
                  <a:schemeClr val="accent4">
                    <a:lumMod val="50000"/>
                  </a:schemeClr>
                </a:solidFill>
                <a:round/>
              </a:ln>
              <a:effectLst/>
            </c:spPr>
            <c:extLst>
              <c:ext xmlns:c16="http://schemas.microsoft.com/office/drawing/2014/chart" uri="{C3380CC4-5D6E-409C-BE32-E72D297353CC}">
                <c16:uniqueId val="{00000043-998B-426A-864B-12F73B564E2D}"/>
              </c:ext>
            </c:extLst>
          </c:dPt>
          <c:dPt>
            <c:idx val="34"/>
            <c:marker>
              <c:symbol val="circle"/>
              <c:size val="5"/>
              <c:spPr>
                <a:solidFill>
                  <a:schemeClr val="accent5">
                    <a:lumMod val="50000"/>
                  </a:schemeClr>
                </a:solidFill>
                <a:ln w="9525">
                  <a:solidFill>
                    <a:schemeClr val="accent5">
                      <a:lumMod val="50000"/>
                    </a:schemeClr>
                  </a:solidFill>
                </a:ln>
                <a:effectLst/>
              </c:spPr>
            </c:marker>
            <c:bubble3D val="0"/>
            <c:spPr>
              <a:ln w="28575" cap="rnd">
                <a:solidFill>
                  <a:schemeClr val="accent5">
                    <a:lumMod val="50000"/>
                  </a:schemeClr>
                </a:solidFill>
                <a:round/>
              </a:ln>
              <a:effectLst/>
            </c:spPr>
            <c:extLst>
              <c:ext xmlns:c16="http://schemas.microsoft.com/office/drawing/2014/chart" uri="{C3380CC4-5D6E-409C-BE32-E72D297353CC}">
                <c16:uniqueId val="{00000045-998B-426A-864B-12F73B564E2D}"/>
              </c:ext>
            </c:extLst>
          </c:dPt>
          <c:dPt>
            <c:idx val="35"/>
            <c:marker>
              <c:symbol val="circle"/>
              <c:size val="5"/>
              <c:spPr>
                <a:solidFill>
                  <a:schemeClr val="accent6">
                    <a:lumMod val="50000"/>
                  </a:schemeClr>
                </a:solidFill>
                <a:ln w="9525">
                  <a:solidFill>
                    <a:schemeClr val="accent6">
                      <a:lumMod val="50000"/>
                    </a:schemeClr>
                  </a:solidFill>
                </a:ln>
                <a:effectLst/>
              </c:spPr>
            </c:marker>
            <c:bubble3D val="0"/>
            <c:spPr>
              <a:ln w="28575" cap="rnd">
                <a:solidFill>
                  <a:schemeClr val="accent6">
                    <a:lumMod val="50000"/>
                  </a:schemeClr>
                </a:solidFill>
                <a:round/>
              </a:ln>
              <a:effectLst/>
            </c:spPr>
            <c:extLst>
              <c:ext xmlns:c16="http://schemas.microsoft.com/office/drawing/2014/chart" uri="{C3380CC4-5D6E-409C-BE32-E72D297353CC}">
                <c16:uniqueId val="{00000047-998B-426A-864B-12F73B564E2D}"/>
              </c:ext>
            </c:extLst>
          </c:dPt>
          <c:dPt>
            <c:idx val="36"/>
            <c:marker>
              <c:symbol val="circle"/>
              <c:size val="5"/>
              <c:spPr>
                <a:solidFill>
                  <a:schemeClr val="accent1">
                    <a:lumMod val="70000"/>
                    <a:lumOff val="30000"/>
                  </a:schemeClr>
                </a:solidFill>
                <a:ln w="9525">
                  <a:solidFill>
                    <a:schemeClr val="accent1">
                      <a:lumMod val="70000"/>
                      <a:lumOff val="30000"/>
                    </a:schemeClr>
                  </a:solidFill>
                </a:ln>
                <a:effectLst/>
              </c:spPr>
            </c:marker>
            <c:bubble3D val="0"/>
            <c:spPr>
              <a:ln w="28575" cap="rnd">
                <a:solidFill>
                  <a:schemeClr val="accent1">
                    <a:lumMod val="70000"/>
                    <a:lumOff val="30000"/>
                  </a:schemeClr>
                </a:solidFill>
                <a:round/>
              </a:ln>
              <a:effectLst/>
            </c:spPr>
            <c:extLst>
              <c:ext xmlns:c16="http://schemas.microsoft.com/office/drawing/2014/chart" uri="{C3380CC4-5D6E-409C-BE32-E72D297353CC}">
                <c16:uniqueId val="{00000049-998B-426A-864B-12F73B564E2D}"/>
              </c:ext>
            </c:extLst>
          </c:dPt>
          <c:dPt>
            <c:idx val="37"/>
            <c:marker>
              <c:symbol val="circle"/>
              <c:size val="5"/>
              <c:spPr>
                <a:solidFill>
                  <a:schemeClr val="accent2">
                    <a:lumMod val="70000"/>
                    <a:lumOff val="30000"/>
                  </a:schemeClr>
                </a:solidFill>
                <a:ln w="9525">
                  <a:solidFill>
                    <a:schemeClr val="accent2">
                      <a:lumMod val="70000"/>
                      <a:lumOff val="30000"/>
                    </a:schemeClr>
                  </a:solidFill>
                </a:ln>
                <a:effectLst/>
              </c:spPr>
            </c:marker>
            <c:bubble3D val="0"/>
            <c:spPr>
              <a:ln w="28575" cap="rnd">
                <a:solidFill>
                  <a:schemeClr val="accent2">
                    <a:lumMod val="70000"/>
                    <a:lumOff val="30000"/>
                  </a:schemeClr>
                </a:solidFill>
                <a:round/>
              </a:ln>
              <a:effectLst/>
            </c:spPr>
            <c:extLst>
              <c:ext xmlns:c16="http://schemas.microsoft.com/office/drawing/2014/chart" uri="{C3380CC4-5D6E-409C-BE32-E72D297353CC}">
                <c16:uniqueId val="{0000004B-998B-426A-864B-12F73B564E2D}"/>
              </c:ext>
            </c:extLst>
          </c:dPt>
          <c:cat>
            <c:numRef>
              <c:f>Transplants_Over_Time!$A$4:$A$41</c:f>
              <c:numCache>
                <c:formatCode>General</c:formatCode>
                <c:ptCount val="38"/>
                <c:pt idx="0">
                  <c:v>1988</c:v>
                </c:pt>
                <c:pt idx="1">
                  <c:v>1989</c:v>
                </c:pt>
                <c:pt idx="2">
                  <c:v>1990</c:v>
                </c:pt>
                <c:pt idx="3">
                  <c:v>1991</c:v>
                </c:pt>
                <c:pt idx="4">
                  <c:v>1992</c:v>
                </c:pt>
                <c:pt idx="5">
                  <c:v>1993</c:v>
                </c:pt>
                <c:pt idx="6">
                  <c:v>1994</c:v>
                </c:pt>
                <c:pt idx="7">
                  <c:v>1995</c:v>
                </c:pt>
                <c:pt idx="8">
                  <c:v>1996</c:v>
                </c:pt>
                <c:pt idx="9">
                  <c:v>1997</c:v>
                </c:pt>
                <c:pt idx="10">
                  <c:v>1998</c:v>
                </c:pt>
                <c:pt idx="11">
                  <c:v>1999</c:v>
                </c:pt>
                <c:pt idx="12">
                  <c:v>2000</c:v>
                </c:pt>
                <c:pt idx="13">
                  <c:v>2001</c:v>
                </c:pt>
                <c:pt idx="14">
                  <c:v>2002</c:v>
                </c:pt>
                <c:pt idx="15">
                  <c:v>2003</c:v>
                </c:pt>
                <c:pt idx="16">
                  <c:v>2004</c:v>
                </c:pt>
                <c:pt idx="17">
                  <c:v>2005</c:v>
                </c:pt>
                <c:pt idx="18">
                  <c:v>2006</c:v>
                </c:pt>
                <c:pt idx="19">
                  <c:v>2007</c:v>
                </c:pt>
                <c:pt idx="20">
                  <c:v>2008</c:v>
                </c:pt>
                <c:pt idx="21">
                  <c:v>2009</c:v>
                </c:pt>
                <c:pt idx="22">
                  <c:v>2010</c:v>
                </c:pt>
                <c:pt idx="23">
                  <c:v>2011</c:v>
                </c:pt>
                <c:pt idx="24">
                  <c:v>2012</c:v>
                </c:pt>
                <c:pt idx="25">
                  <c:v>2013</c:v>
                </c:pt>
                <c:pt idx="26">
                  <c:v>2014</c:v>
                </c:pt>
                <c:pt idx="27">
                  <c:v>2015</c:v>
                </c:pt>
                <c:pt idx="28">
                  <c:v>2016</c:v>
                </c:pt>
                <c:pt idx="29">
                  <c:v>2017</c:v>
                </c:pt>
                <c:pt idx="30">
                  <c:v>2018</c:v>
                </c:pt>
                <c:pt idx="31">
                  <c:v>2019</c:v>
                </c:pt>
                <c:pt idx="32">
                  <c:v>2020</c:v>
                </c:pt>
                <c:pt idx="33">
                  <c:v>2021</c:v>
                </c:pt>
                <c:pt idx="34">
                  <c:v>2022</c:v>
                </c:pt>
                <c:pt idx="35">
                  <c:v>2023</c:v>
                </c:pt>
                <c:pt idx="36">
                  <c:v>2024</c:v>
                </c:pt>
                <c:pt idx="37">
                  <c:v>2025</c:v>
                </c:pt>
              </c:numCache>
            </c:numRef>
          </c:cat>
          <c:val>
            <c:numRef>
              <c:f>Transplants_Over_Time!$B$4:$B$41</c:f>
              <c:numCache>
                <c:formatCode>General</c:formatCode>
                <c:ptCount val="38"/>
                <c:pt idx="0">
                  <c:v>12623</c:v>
                </c:pt>
                <c:pt idx="1">
                  <c:v>13140</c:v>
                </c:pt>
                <c:pt idx="2">
                  <c:v>15001</c:v>
                </c:pt>
                <c:pt idx="3">
                  <c:v>15756</c:v>
                </c:pt>
                <c:pt idx="4">
                  <c:v>16134</c:v>
                </c:pt>
                <c:pt idx="5">
                  <c:v>17631</c:v>
                </c:pt>
                <c:pt idx="6">
                  <c:v>18299</c:v>
                </c:pt>
                <c:pt idx="7">
                  <c:v>19396</c:v>
                </c:pt>
                <c:pt idx="8">
                  <c:v>19765</c:v>
                </c:pt>
                <c:pt idx="9">
                  <c:v>20316</c:v>
                </c:pt>
                <c:pt idx="10">
                  <c:v>21526</c:v>
                </c:pt>
                <c:pt idx="11">
                  <c:v>22030</c:v>
                </c:pt>
                <c:pt idx="12">
                  <c:v>23274</c:v>
                </c:pt>
                <c:pt idx="13">
                  <c:v>24243</c:v>
                </c:pt>
                <c:pt idx="14">
                  <c:v>24916</c:v>
                </c:pt>
                <c:pt idx="15">
                  <c:v>25475</c:v>
                </c:pt>
                <c:pt idx="16">
                  <c:v>27042</c:v>
                </c:pt>
                <c:pt idx="17">
                  <c:v>28119</c:v>
                </c:pt>
                <c:pt idx="18">
                  <c:v>28941</c:v>
                </c:pt>
                <c:pt idx="19">
                  <c:v>28366</c:v>
                </c:pt>
                <c:pt idx="20">
                  <c:v>27967</c:v>
                </c:pt>
                <c:pt idx="21">
                  <c:v>28463</c:v>
                </c:pt>
                <c:pt idx="22">
                  <c:v>28668</c:v>
                </c:pt>
                <c:pt idx="23">
                  <c:v>28553</c:v>
                </c:pt>
                <c:pt idx="24">
                  <c:v>28059</c:v>
                </c:pt>
                <c:pt idx="25">
                  <c:v>28956</c:v>
                </c:pt>
                <c:pt idx="26">
                  <c:v>29540</c:v>
                </c:pt>
                <c:pt idx="27">
                  <c:v>30974</c:v>
                </c:pt>
                <c:pt idx="28">
                  <c:v>33610</c:v>
                </c:pt>
                <c:pt idx="29">
                  <c:v>34770</c:v>
                </c:pt>
                <c:pt idx="30">
                  <c:v>36530</c:v>
                </c:pt>
                <c:pt idx="31">
                  <c:v>39719</c:v>
                </c:pt>
                <c:pt idx="32">
                  <c:v>39036</c:v>
                </c:pt>
                <c:pt idx="33">
                  <c:v>41356</c:v>
                </c:pt>
                <c:pt idx="34">
                  <c:v>42889</c:v>
                </c:pt>
                <c:pt idx="35">
                  <c:v>46634</c:v>
                </c:pt>
                <c:pt idx="36">
                  <c:v>48150</c:v>
                </c:pt>
                <c:pt idx="37">
                  <c:v>49065</c:v>
                </c:pt>
              </c:numCache>
            </c:numRef>
          </c:val>
          <c:smooth val="1"/>
          <c:extLst>
            <c:ext xmlns:c16="http://schemas.microsoft.com/office/drawing/2014/chart" uri="{C3380CC4-5D6E-409C-BE32-E72D297353CC}">
              <c16:uniqueId val="{0000004C-998B-426A-864B-12F73B564E2D}"/>
            </c:ext>
          </c:extLst>
        </c:ser>
        <c:dLbls>
          <c:showLegendKey val="0"/>
          <c:showVal val="0"/>
          <c:showCatName val="0"/>
          <c:showSerName val="0"/>
          <c:showPercent val="0"/>
          <c:showBubbleSize val="0"/>
        </c:dLbls>
        <c:marker val="1"/>
        <c:smooth val="0"/>
        <c:axId val="10"/>
        <c:axId val="100"/>
      </c:lineChart>
      <c:catAx>
        <c:axId val="10"/>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US"/>
                  <a:t>Year</a:t>
                </a:r>
              </a:p>
            </c:rich>
          </c:tx>
          <c:overlay val="1"/>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00"/>
        <c:crosses val="autoZero"/>
        <c:auto val="1"/>
        <c:lblAlgn val="ctr"/>
        <c:lblOffset val="100"/>
        <c:noMultiLvlLbl val="1"/>
      </c:catAx>
      <c:valAx>
        <c:axId val="10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US"/>
                  <a:t>Transplants</a:t>
                </a:r>
              </a:p>
            </c:rich>
          </c:tx>
          <c:overlay val="1"/>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0"/>
        <c:crosses val="autoZero"/>
        <c:crossBetween val="between"/>
      </c:valAx>
      <c:spPr>
        <a:noFill/>
        <a:ln>
          <a:noFill/>
        </a:ln>
        <a:effectLst/>
      </c:spPr>
    </c:plotArea>
    <c:plotVisOnly val="1"/>
    <c:dispBlanksAs val="gap"/>
    <c:showDLblsOverMax val="1"/>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751638888888889"/>
          <c:y val="0.12437989742807573"/>
          <c:w val="0.79896574074074056"/>
          <c:h val="0.75979231409633119"/>
        </c:manualLayout>
      </c:layout>
      <c:barChart>
        <c:barDir val="col"/>
        <c:grouping val="clustered"/>
        <c:varyColors val="1"/>
        <c:ser>
          <c:idx val="0"/>
          <c:order val="0"/>
          <c:tx>
            <c:strRef>
              <c:f>All_Organs_Sex_Rate!$B$4</c:f>
              <c:strCache>
                <c:ptCount val="1"/>
                <c:pt idx="0">
                  <c:v>Rate_per_100k</c:v>
                </c:pt>
              </c:strCache>
            </c:strRef>
          </c:tx>
          <c:invertIfNegative val="1"/>
          <c:dPt>
            <c:idx val="0"/>
            <c:invertIfNegative val="1"/>
            <c:bubble3D val="0"/>
            <c:spPr>
              <a:solidFill>
                <a:schemeClr val="accent1"/>
              </a:solidFill>
              <a:ln>
                <a:noFill/>
              </a:ln>
              <a:effectLst/>
            </c:spPr>
            <c:extLst>
              <c:ext xmlns:c16="http://schemas.microsoft.com/office/drawing/2014/chart" uri="{C3380CC4-5D6E-409C-BE32-E72D297353CC}">
                <c16:uniqueId val="{00000001-CB9D-4CC1-B09F-A6C4BBE0B3A9}"/>
              </c:ext>
            </c:extLst>
          </c:dPt>
          <c:dPt>
            <c:idx val="1"/>
            <c:invertIfNegative val="1"/>
            <c:bubble3D val="0"/>
            <c:spPr>
              <a:solidFill>
                <a:schemeClr val="accent2"/>
              </a:solidFill>
              <a:ln>
                <a:noFill/>
              </a:ln>
              <a:effectLst/>
            </c:spPr>
            <c:extLst>
              <c:ext xmlns:c16="http://schemas.microsoft.com/office/drawing/2014/chart" uri="{C3380CC4-5D6E-409C-BE32-E72D297353CC}">
                <c16:uniqueId val="{00000003-CB9D-4CC1-B09F-A6C4BBE0B3A9}"/>
              </c:ext>
            </c:extLst>
          </c:dPt>
          <c:dLbls>
            <c:delete val="1"/>
          </c:dLbls>
          <c:cat>
            <c:strRef>
              <c:f>All_Organs_Sex_Rate!$A$5:$A$6</c:f>
              <c:strCache>
                <c:ptCount val="2"/>
                <c:pt idx="0">
                  <c:v>Male</c:v>
                </c:pt>
                <c:pt idx="1">
                  <c:v>Female</c:v>
                </c:pt>
              </c:strCache>
            </c:strRef>
          </c:cat>
          <c:val>
            <c:numRef>
              <c:f>All_Organs_Sex_Rate!$B$5:$B$6</c:f>
              <c:numCache>
                <c:formatCode>0.0</c:formatCode>
                <c:ptCount val="2"/>
                <c:pt idx="0">
                  <c:v>29857</c:v>
                </c:pt>
                <c:pt idx="1">
                  <c:v>19208</c:v>
                </c:pt>
              </c:numCache>
            </c:numRef>
          </c:val>
          <c:extLst>
            <c:ext xmlns:c16="http://schemas.microsoft.com/office/drawing/2014/chart" uri="{C3380CC4-5D6E-409C-BE32-E72D297353CC}">
              <c16:uniqueId val="{00000004-CB9D-4CC1-B09F-A6C4BBE0B3A9}"/>
            </c:ext>
          </c:extLst>
        </c:ser>
        <c:dLbls>
          <c:showLegendKey val="1"/>
          <c:showVal val="1"/>
          <c:showCatName val="1"/>
          <c:showSerName val="1"/>
          <c:showPercent val="1"/>
          <c:showBubbleSize val="1"/>
        </c:dLbls>
        <c:gapWidth val="219"/>
        <c:overlap val="-27"/>
        <c:axId val="10"/>
        <c:axId val="100"/>
      </c:barChart>
      <c:catAx>
        <c:axId val="10"/>
        <c:scaling>
          <c:orientation val="minMax"/>
        </c:scaling>
        <c:delete val="0"/>
        <c:axPos val="b"/>
        <c:title>
          <c:tx>
            <c:rich>
              <a:bodyPr rot="0" spcFirstLastPara="1" vertOverflow="ellipsis" vert="horz" wrap="square" anchor="ctr" anchorCtr="1"/>
              <a:lstStyle/>
              <a:p>
                <a:pPr>
                  <a:defRPr sz="1400" b="1" i="0" u="none" strike="noStrike" kern="1200" baseline="0">
                    <a:solidFill>
                      <a:schemeClr val="tx1">
                        <a:lumMod val="65000"/>
                        <a:lumOff val="35000"/>
                      </a:schemeClr>
                    </a:solidFill>
                    <a:latin typeface="+mn-lt"/>
                    <a:ea typeface="+mn-ea"/>
                    <a:cs typeface="+mn-cs"/>
                  </a:defRPr>
                </a:pPr>
                <a:r>
                  <a:rPr lang="en-US" sz="1400" b="1"/>
                  <a:t>Sex</a:t>
                </a:r>
              </a:p>
            </c:rich>
          </c:tx>
          <c:layout>
            <c:manualLayout>
              <c:xMode val="edge"/>
              <c:yMode val="edge"/>
              <c:x val="0.5018568518518518"/>
              <c:y val="0.93460436089556598"/>
            </c:manualLayout>
          </c:layout>
          <c:overlay val="1"/>
          <c:spPr>
            <a:noFill/>
            <a:ln>
              <a:noFill/>
            </a:ln>
            <a:effectLst/>
          </c:spPr>
          <c:txPr>
            <a:bodyPr rot="0" spcFirstLastPara="1" vertOverflow="ellipsis" vert="horz" wrap="square" anchor="ctr" anchorCtr="1"/>
            <a:lstStyle/>
            <a:p>
              <a:pPr>
                <a:defRPr sz="14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1" i="0" u="none" strike="noStrike" kern="1200" baseline="0">
                <a:solidFill>
                  <a:schemeClr val="tx1">
                    <a:lumMod val="65000"/>
                    <a:lumOff val="35000"/>
                  </a:schemeClr>
                </a:solidFill>
                <a:latin typeface="+mn-lt"/>
                <a:ea typeface="+mn-ea"/>
                <a:cs typeface="+mn-cs"/>
              </a:defRPr>
            </a:pPr>
            <a:endParaRPr lang="en-US"/>
          </a:p>
        </c:txPr>
        <c:crossAx val="100"/>
        <c:crosses val="autoZero"/>
        <c:auto val="1"/>
        <c:lblAlgn val="ctr"/>
        <c:lblOffset val="100"/>
        <c:noMultiLvlLbl val="1"/>
      </c:catAx>
      <c:valAx>
        <c:axId val="10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1" i="0" u="none" strike="noStrike" kern="1200" baseline="0">
                    <a:solidFill>
                      <a:schemeClr val="tx1">
                        <a:lumMod val="65000"/>
                        <a:lumOff val="35000"/>
                      </a:schemeClr>
                    </a:solidFill>
                    <a:latin typeface="+mn-lt"/>
                    <a:ea typeface="+mn-ea"/>
                    <a:cs typeface="+mn-cs"/>
                  </a:defRPr>
                </a:pPr>
                <a:r>
                  <a:rPr lang="en-US" sz="1400" b="1" dirty="0"/>
                  <a:t>Rate per 100k</a:t>
                </a:r>
              </a:p>
            </c:rich>
          </c:tx>
          <c:layout>
            <c:manualLayout>
              <c:xMode val="edge"/>
              <c:yMode val="edge"/>
              <c:x val="3.7125205350480833E-2"/>
              <c:y val="0.39332949327553512"/>
            </c:manualLayout>
          </c:layout>
          <c:overlay val="1"/>
          <c:spPr>
            <a:noFill/>
            <a:ln>
              <a:noFill/>
            </a:ln>
            <a:effectLst/>
          </c:spPr>
          <c:txPr>
            <a:bodyPr rot="-5400000" spcFirstLastPara="1" vertOverflow="ellipsis" vert="horz" wrap="square" anchor="ctr" anchorCtr="1"/>
            <a:lstStyle/>
            <a:p>
              <a:pPr>
                <a:defRPr sz="1400" b="1" i="0" u="none" strike="noStrike" kern="1200"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10"/>
        <c:crosses val="autoZero"/>
        <c:crossBetween val="between"/>
      </c:valAx>
      <c:spPr>
        <a:noFill/>
        <a:ln>
          <a:noFill/>
        </a:ln>
        <a:effectLst/>
      </c:spPr>
    </c:plotArea>
    <c:legend>
      <c:legendPos val="b"/>
      <c:layout>
        <c:manualLayout>
          <c:xMode val="edge"/>
          <c:yMode val="edge"/>
          <c:x val="0.78826417331954191"/>
          <c:y val="0.10492293891917551"/>
          <c:w val="0.18678621026821787"/>
          <c:h val="0.29126648673036154"/>
        </c:manualLayout>
      </c:layout>
      <c:overlay val="0"/>
      <c:spPr>
        <a:noFill/>
        <a:ln>
          <a:noFill/>
        </a:ln>
        <a:effectLst/>
      </c:spPr>
      <c:txPr>
        <a:bodyPr rot="0" spcFirstLastPara="1" vertOverflow="ellipsis" vert="horz" wrap="square" anchor="ctr" anchorCtr="1"/>
        <a:lstStyle/>
        <a:p>
          <a:pPr>
            <a:defRPr sz="1200" b="1"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1"/>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443203703703703"/>
          <c:y val="0.18891687657430731"/>
          <c:w val="0.70506796296296292"/>
          <c:h val="0.69532748897571683"/>
        </c:manualLayout>
      </c:layout>
      <c:barChart>
        <c:barDir val="col"/>
        <c:grouping val="clustered"/>
        <c:varyColors val="1"/>
        <c:ser>
          <c:idx val="0"/>
          <c:order val="0"/>
          <c:tx>
            <c:strRef>
              <c:f>All_Organs_Race!$C$4</c:f>
              <c:strCache>
                <c:ptCount val="1"/>
                <c:pt idx="0">
                  <c:v>Share</c:v>
                </c:pt>
              </c:strCache>
            </c:strRef>
          </c:tx>
          <c:invertIfNegative val="1"/>
          <c:dPt>
            <c:idx val="0"/>
            <c:invertIfNegative val="1"/>
            <c:bubble3D val="0"/>
            <c:spPr>
              <a:gradFill rotWithShape="1">
                <a:gsLst>
                  <a:gs pos="0">
                    <a:schemeClr val="accent1">
                      <a:shade val="51000"/>
                      <a:satMod val="130000"/>
                    </a:schemeClr>
                  </a:gs>
                  <a:gs pos="80000">
                    <a:schemeClr val="accent1">
                      <a:shade val="93000"/>
                      <a:satMod val="130000"/>
                    </a:schemeClr>
                  </a:gs>
                  <a:gs pos="100000">
                    <a:schemeClr val="accent1">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1-C8D9-4A69-9E81-55FD417E9EBB}"/>
              </c:ext>
            </c:extLst>
          </c:dPt>
          <c:dPt>
            <c:idx val="1"/>
            <c:invertIfNegative val="1"/>
            <c:bubble3D val="0"/>
            <c:spPr>
              <a:gradFill rotWithShape="1">
                <a:gsLst>
                  <a:gs pos="0">
                    <a:schemeClr val="accent2">
                      <a:shade val="51000"/>
                      <a:satMod val="130000"/>
                    </a:schemeClr>
                  </a:gs>
                  <a:gs pos="80000">
                    <a:schemeClr val="accent2">
                      <a:shade val="93000"/>
                      <a:satMod val="130000"/>
                    </a:schemeClr>
                  </a:gs>
                  <a:gs pos="100000">
                    <a:schemeClr val="accent2">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3-C8D9-4A69-9E81-55FD417E9EBB}"/>
              </c:ext>
            </c:extLst>
          </c:dPt>
          <c:dPt>
            <c:idx val="2"/>
            <c:invertIfNegative val="1"/>
            <c:bubble3D val="0"/>
            <c:spPr>
              <a:gradFill rotWithShape="1">
                <a:gsLst>
                  <a:gs pos="0">
                    <a:schemeClr val="accent3">
                      <a:shade val="51000"/>
                      <a:satMod val="130000"/>
                    </a:schemeClr>
                  </a:gs>
                  <a:gs pos="80000">
                    <a:schemeClr val="accent3">
                      <a:shade val="93000"/>
                      <a:satMod val="130000"/>
                    </a:schemeClr>
                  </a:gs>
                  <a:gs pos="100000">
                    <a:schemeClr val="accent3">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5-C8D9-4A69-9E81-55FD417E9EBB}"/>
              </c:ext>
            </c:extLst>
          </c:dPt>
          <c:dPt>
            <c:idx val="3"/>
            <c:invertIfNegative val="1"/>
            <c:bubble3D val="0"/>
            <c:spPr>
              <a:gradFill rotWithShape="1">
                <a:gsLst>
                  <a:gs pos="0">
                    <a:schemeClr val="accent4">
                      <a:shade val="51000"/>
                      <a:satMod val="130000"/>
                    </a:schemeClr>
                  </a:gs>
                  <a:gs pos="80000">
                    <a:schemeClr val="accent4">
                      <a:shade val="93000"/>
                      <a:satMod val="130000"/>
                    </a:schemeClr>
                  </a:gs>
                  <a:gs pos="100000">
                    <a:schemeClr val="accent4">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7-C8D9-4A69-9E81-55FD417E9EBB}"/>
              </c:ext>
            </c:extLst>
          </c:dPt>
          <c:dPt>
            <c:idx val="4"/>
            <c:invertIfNegative val="1"/>
            <c:bubble3D val="0"/>
            <c:spPr>
              <a:gradFill rotWithShape="1">
                <a:gsLst>
                  <a:gs pos="0">
                    <a:schemeClr val="accent5">
                      <a:shade val="51000"/>
                      <a:satMod val="130000"/>
                    </a:schemeClr>
                  </a:gs>
                  <a:gs pos="80000">
                    <a:schemeClr val="accent5">
                      <a:shade val="93000"/>
                      <a:satMod val="130000"/>
                    </a:schemeClr>
                  </a:gs>
                  <a:gs pos="100000">
                    <a:schemeClr val="accent5">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9-C8D9-4A69-9E81-55FD417E9EBB}"/>
              </c:ext>
            </c:extLst>
          </c:dPt>
          <c:dPt>
            <c:idx val="5"/>
            <c:invertIfNegative val="1"/>
            <c:bubble3D val="0"/>
            <c:spPr>
              <a:gradFill rotWithShape="1">
                <a:gsLst>
                  <a:gs pos="0">
                    <a:schemeClr val="accent6">
                      <a:shade val="51000"/>
                      <a:satMod val="130000"/>
                    </a:schemeClr>
                  </a:gs>
                  <a:gs pos="80000">
                    <a:schemeClr val="accent6">
                      <a:shade val="93000"/>
                      <a:satMod val="130000"/>
                    </a:schemeClr>
                  </a:gs>
                  <a:gs pos="100000">
                    <a:schemeClr val="accent6">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B-C8D9-4A69-9E81-55FD417E9EBB}"/>
              </c:ext>
            </c:extLst>
          </c:dPt>
          <c:dPt>
            <c:idx val="6"/>
            <c:invertIfNegative val="1"/>
            <c:bubble3D val="0"/>
            <c:spPr>
              <a:gradFill rotWithShape="1">
                <a:gsLst>
                  <a:gs pos="0">
                    <a:schemeClr val="accent1">
                      <a:lumMod val="60000"/>
                      <a:shade val="51000"/>
                      <a:satMod val="130000"/>
                    </a:schemeClr>
                  </a:gs>
                  <a:gs pos="80000">
                    <a:schemeClr val="accent1">
                      <a:lumMod val="60000"/>
                      <a:shade val="93000"/>
                      <a:satMod val="130000"/>
                    </a:schemeClr>
                  </a:gs>
                  <a:gs pos="100000">
                    <a:schemeClr val="accent1">
                      <a:lumMod val="60000"/>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D-C8D9-4A69-9E81-55FD417E9EBB}"/>
              </c:ext>
            </c:extLst>
          </c:dPt>
          <c:dPt>
            <c:idx val="7"/>
            <c:invertIfNegative val="1"/>
            <c:bubble3D val="0"/>
            <c:spPr>
              <a:gradFill rotWithShape="1">
                <a:gsLst>
                  <a:gs pos="0">
                    <a:schemeClr val="accent2">
                      <a:lumMod val="60000"/>
                      <a:shade val="51000"/>
                      <a:satMod val="130000"/>
                    </a:schemeClr>
                  </a:gs>
                  <a:gs pos="80000">
                    <a:schemeClr val="accent2">
                      <a:lumMod val="60000"/>
                      <a:shade val="93000"/>
                      <a:satMod val="130000"/>
                    </a:schemeClr>
                  </a:gs>
                  <a:gs pos="100000">
                    <a:schemeClr val="accent2">
                      <a:lumMod val="60000"/>
                      <a:shade val="94000"/>
                      <a:satMod val="135000"/>
                    </a:schemeClr>
                  </a:gs>
                </a:gsLst>
                <a:lin ang="16200000" scaled="0"/>
              </a:gradFill>
              <a:ln>
                <a:noFill/>
              </a:ln>
              <a:effectLst>
                <a:outerShdw blurRad="40000" dist="23000" dir="5400000" rotWithShape="0">
                  <a:srgbClr val="000000">
                    <a:alpha val="35000"/>
                  </a:srgbClr>
                </a:outerShdw>
              </a:effectLst>
            </c:spPr>
            <c:extLst>
              <c:ext xmlns:c16="http://schemas.microsoft.com/office/drawing/2014/chart" uri="{C3380CC4-5D6E-409C-BE32-E72D297353CC}">
                <c16:uniqueId val="{0000000F-C8D9-4A69-9E81-55FD417E9EBB}"/>
              </c:ext>
            </c:extLst>
          </c:dPt>
          <c:dLbls>
            <c:delete val="1"/>
          </c:dLbls>
          <c:cat>
            <c:strRef>
              <c:f>All_Organs_Race!$A$5:$A$12</c:f>
              <c:strCache>
                <c:ptCount val="8"/>
                <c:pt idx="0">
                  <c:v>White</c:v>
                </c:pt>
                <c:pt idx="1">
                  <c:v>Black</c:v>
                </c:pt>
                <c:pt idx="2">
                  <c:v>Hispanic/Latino</c:v>
                </c:pt>
                <c:pt idx="3">
                  <c:v>Asian</c:v>
                </c:pt>
                <c:pt idx="4">
                  <c:v>Unknown</c:v>
                </c:pt>
                <c:pt idx="5">
                  <c:v>Multiracial</c:v>
                </c:pt>
                <c:pt idx="6">
                  <c:v>American Indian/Alaska Native</c:v>
                </c:pt>
                <c:pt idx="7">
                  <c:v>Pacific Islander, Non-Hispanic</c:v>
                </c:pt>
              </c:strCache>
            </c:strRef>
          </c:cat>
          <c:val>
            <c:numRef>
              <c:f>All_Organs_Race!$C$5:$C$12</c:f>
              <c:numCache>
                <c:formatCode>0.0%</c:formatCode>
                <c:ptCount val="8"/>
                <c:pt idx="0">
                  <c:v>0.49191888311423621</c:v>
                </c:pt>
                <c:pt idx="1">
                  <c:v>0.22142056455722001</c:v>
                </c:pt>
                <c:pt idx="2">
                  <c:v>0.1901355344950576</c:v>
                </c:pt>
                <c:pt idx="3">
                  <c:v>5.8901457250585959E-2</c:v>
                </c:pt>
                <c:pt idx="4">
                  <c:v>1.777234281055742E-2</c:v>
                </c:pt>
                <c:pt idx="5">
                  <c:v>7.7448282890043817E-3</c:v>
                </c:pt>
                <c:pt idx="6">
                  <c:v>7.7244471619280549E-3</c:v>
                </c:pt>
                <c:pt idx="7">
                  <c:v>4.3819423214103738E-3</c:v>
                </c:pt>
              </c:numCache>
            </c:numRef>
          </c:val>
          <c:extLst>
            <c:ext xmlns:c16="http://schemas.microsoft.com/office/drawing/2014/chart" uri="{C3380CC4-5D6E-409C-BE32-E72D297353CC}">
              <c16:uniqueId val="{00000010-C8D9-4A69-9E81-55FD417E9EBB}"/>
            </c:ext>
          </c:extLst>
        </c:ser>
        <c:dLbls>
          <c:showLegendKey val="1"/>
          <c:showVal val="1"/>
          <c:showCatName val="1"/>
          <c:showSerName val="1"/>
          <c:showPercent val="1"/>
          <c:showBubbleSize val="1"/>
        </c:dLbls>
        <c:gapWidth val="100"/>
        <c:overlap val="-24"/>
        <c:axId val="10"/>
        <c:axId val="100"/>
      </c:barChart>
      <c:catAx>
        <c:axId val="10"/>
        <c:scaling>
          <c:orientation val="minMax"/>
        </c:scaling>
        <c:delete val="1"/>
        <c:axPos val="b"/>
        <c:title>
          <c:tx>
            <c:rich>
              <a:bodyPr rot="0" spcFirstLastPara="1" vertOverflow="ellipsis" vert="horz" wrap="square" anchor="ctr" anchorCtr="1"/>
              <a:lstStyle/>
              <a:p>
                <a:pPr>
                  <a:defRPr sz="1400" b="1" i="0" u="none" strike="noStrike" kern="1200" baseline="0">
                    <a:solidFill>
                      <a:schemeClr val="tx2"/>
                    </a:solidFill>
                    <a:latin typeface="+mn-lt"/>
                    <a:ea typeface="+mn-ea"/>
                    <a:cs typeface="+mn-cs"/>
                  </a:defRPr>
                </a:pPr>
                <a:r>
                  <a:rPr lang="en-US" sz="1400"/>
                  <a:t>Race/Ethnicity</a:t>
                </a:r>
              </a:p>
            </c:rich>
          </c:tx>
          <c:layout>
            <c:manualLayout>
              <c:xMode val="edge"/>
              <c:yMode val="edge"/>
              <c:x val="0.24778129629629631"/>
              <c:y val="0.93616692120034095"/>
            </c:manualLayout>
          </c:layout>
          <c:overlay val="1"/>
          <c:spPr>
            <a:noFill/>
            <a:ln>
              <a:noFill/>
            </a:ln>
            <a:effectLst/>
          </c:spPr>
          <c:txPr>
            <a:bodyPr rot="0" spcFirstLastPara="1" vertOverflow="ellipsis" vert="horz" wrap="square" anchor="ctr" anchorCtr="1"/>
            <a:lstStyle/>
            <a:p>
              <a:pPr>
                <a:defRPr sz="1400" b="1" i="0" u="none" strike="noStrike" kern="1200" baseline="0">
                  <a:solidFill>
                    <a:schemeClr val="tx2"/>
                  </a:solidFill>
                  <a:latin typeface="+mn-lt"/>
                  <a:ea typeface="+mn-ea"/>
                  <a:cs typeface="+mn-cs"/>
                </a:defRPr>
              </a:pPr>
              <a:endParaRPr lang="en-US"/>
            </a:p>
          </c:txPr>
        </c:title>
        <c:numFmt formatCode="General" sourceLinked="1"/>
        <c:majorTickMark val="none"/>
        <c:minorTickMark val="none"/>
        <c:tickLblPos val="nextTo"/>
        <c:crossAx val="100"/>
        <c:crosses val="autoZero"/>
        <c:auto val="1"/>
        <c:lblAlgn val="ctr"/>
        <c:lblOffset val="100"/>
        <c:noMultiLvlLbl val="1"/>
      </c:catAx>
      <c:valAx>
        <c:axId val="100"/>
        <c:scaling>
          <c:orientation val="minMax"/>
        </c:scaling>
        <c:delete val="0"/>
        <c:axPos val="l"/>
        <c:majorGridlines>
          <c:spPr>
            <a:ln w="9525" cap="flat" cmpd="sng" algn="ctr">
              <a:solidFill>
                <a:schemeClr val="tx2">
                  <a:lumMod val="15000"/>
                  <a:lumOff val="85000"/>
                </a:schemeClr>
              </a:solidFill>
              <a:round/>
            </a:ln>
            <a:effectLst/>
          </c:spPr>
        </c:majorGridlines>
        <c:title>
          <c:tx>
            <c:rich>
              <a:bodyPr rot="-5400000" spcFirstLastPara="1" vertOverflow="ellipsis" vert="horz" wrap="square" anchor="ctr" anchorCtr="1"/>
              <a:lstStyle/>
              <a:p>
                <a:pPr>
                  <a:defRPr sz="1800" b="1" i="0" u="none" strike="noStrike" kern="1200" baseline="0">
                    <a:solidFill>
                      <a:schemeClr val="tx2"/>
                    </a:solidFill>
                    <a:latin typeface="+mn-lt"/>
                    <a:ea typeface="+mn-ea"/>
                    <a:cs typeface="+mn-cs"/>
                  </a:defRPr>
                </a:pPr>
                <a:r>
                  <a:rPr lang="en-US" sz="1800"/>
                  <a:t>Share</a:t>
                </a:r>
              </a:p>
            </c:rich>
          </c:tx>
          <c:layout>
            <c:manualLayout>
              <c:xMode val="edge"/>
              <c:yMode val="edge"/>
              <c:x val="7.0555555555555554E-3"/>
              <c:y val="0.52179866055785851"/>
            </c:manualLayout>
          </c:layout>
          <c:overlay val="1"/>
          <c:spPr>
            <a:noFill/>
            <a:ln>
              <a:noFill/>
            </a:ln>
            <a:effectLst/>
          </c:spPr>
          <c:txPr>
            <a:bodyPr rot="-5400000" spcFirstLastPara="1" vertOverflow="ellipsis" vert="horz" wrap="square" anchor="ctr" anchorCtr="1"/>
            <a:lstStyle/>
            <a:p>
              <a:pPr>
                <a:defRPr sz="1800" b="1" i="0" u="none" strike="noStrike" kern="1200" baseline="0">
                  <a:solidFill>
                    <a:schemeClr val="tx2"/>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chemeClr val="tx2"/>
                </a:solidFill>
                <a:latin typeface="+mn-lt"/>
                <a:ea typeface="+mn-ea"/>
                <a:cs typeface="+mn-cs"/>
              </a:defRPr>
            </a:pPr>
            <a:endParaRPr lang="en-US"/>
          </a:p>
        </c:txPr>
        <c:crossAx val="10"/>
        <c:crosses val="autoZero"/>
        <c:crossBetween val="between"/>
      </c:valAx>
      <c:spPr>
        <a:noFill/>
        <a:ln>
          <a:noFill/>
        </a:ln>
        <a:effectLst/>
      </c:spPr>
    </c:plotArea>
    <c:legend>
      <c:legendPos val="b"/>
      <c:layout>
        <c:manualLayout>
          <c:xMode val="edge"/>
          <c:yMode val="edge"/>
          <c:x val="0.2074811428084857"/>
          <c:y val="0.15003530260471826"/>
          <c:w val="0.76029717898359728"/>
          <c:h val="0.33785763073475472"/>
        </c:manualLayout>
      </c:layout>
      <c:overlay val="0"/>
      <c:spPr>
        <a:noFill/>
        <a:ln>
          <a:noFill/>
        </a:ln>
        <a:effectLst/>
      </c:spPr>
      <c:txPr>
        <a:bodyPr rot="0" spcFirstLastPara="1" vertOverflow="ellipsis" vert="horz" wrap="square" anchor="ctr" anchorCtr="1"/>
        <a:lstStyle/>
        <a:p>
          <a:pPr>
            <a:defRPr sz="1400" b="1" i="0" u="none" strike="noStrike" kern="1200" baseline="0">
              <a:solidFill>
                <a:schemeClr val="tx2"/>
              </a:solidFill>
              <a:latin typeface="+mn-lt"/>
              <a:ea typeface="+mn-ea"/>
              <a:cs typeface="+mn-cs"/>
            </a:defRPr>
          </a:pPr>
          <a:endParaRPr lang="en-US"/>
        </a:p>
      </c:txPr>
    </c:legend>
    <c:plotVisOnly val="1"/>
    <c:dispBlanksAs val="gap"/>
    <c:showDLblsOverMax val="1"/>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465001786019365E-2"/>
          <c:y val="7.6754385964912283E-2"/>
          <c:w val="0.86390863863910516"/>
          <c:h val="0.66169596154204124"/>
        </c:manualLayout>
      </c:layout>
      <c:barChart>
        <c:barDir val="col"/>
        <c:grouping val="clustered"/>
        <c:varyColors val="1"/>
        <c:ser>
          <c:idx val="0"/>
          <c:order val="0"/>
          <c:tx>
            <c:strRef>
              <c:f>Heart_Waitlist_Top!$B$3</c:f>
              <c:strCache>
                <c:ptCount val="1"/>
                <c:pt idx="0">
                  <c:v>Waitlist_per_100k</c:v>
                </c:pt>
              </c:strCache>
            </c:strRef>
          </c:tx>
          <c:invertIfNegative val="1"/>
          <c:dPt>
            <c:idx val="0"/>
            <c:invertIfNegative val="1"/>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extLst>
              <c:ext xmlns:c16="http://schemas.microsoft.com/office/drawing/2014/chart" uri="{C3380CC4-5D6E-409C-BE32-E72D297353CC}">
                <c16:uniqueId val="{00000001-763D-4180-A54A-909BF8CC1B6C}"/>
              </c:ext>
            </c:extLst>
          </c:dPt>
          <c:dPt>
            <c:idx val="1"/>
            <c:invertIfNegative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3-763D-4180-A54A-909BF8CC1B6C}"/>
              </c:ext>
            </c:extLst>
          </c:dPt>
          <c:dPt>
            <c:idx val="2"/>
            <c:invertIfNegative val="1"/>
            <c:bubble3D val="0"/>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a:noFill/>
              </a:ln>
              <a:effectLst/>
            </c:spPr>
            <c:extLst>
              <c:ext xmlns:c16="http://schemas.microsoft.com/office/drawing/2014/chart" uri="{C3380CC4-5D6E-409C-BE32-E72D297353CC}">
                <c16:uniqueId val="{00000005-763D-4180-A54A-909BF8CC1B6C}"/>
              </c:ext>
            </c:extLst>
          </c:dPt>
          <c:dPt>
            <c:idx val="3"/>
            <c:invertIfNegative val="1"/>
            <c:bubble3D val="0"/>
            <c:spPr>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a:noFill/>
              </a:ln>
              <a:effectLst/>
            </c:spPr>
            <c:extLst>
              <c:ext xmlns:c16="http://schemas.microsoft.com/office/drawing/2014/chart" uri="{C3380CC4-5D6E-409C-BE32-E72D297353CC}">
                <c16:uniqueId val="{00000007-763D-4180-A54A-909BF8CC1B6C}"/>
              </c:ext>
            </c:extLst>
          </c:dPt>
          <c:dPt>
            <c:idx val="4"/>
            <c:invertIfNegative val="1"/>
            <c:bubble3D val="0"/>
            <c:spPr>
              <a:gradFill rotWithShape="1">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a:noFill/>
              </a:ln>
              <a:effectLst/>
            </c:spPr>
            <c:extLst>
              <c:ext xmlns:c16="http://schemas.microsoft.com/office/drawing/2014/chart" uri="{C3380CC4-5D6E-409C-BE32-E72D297353CC}">
                <c16:uniqueId val="{00000009-763D-4180-A54A-909BF8CC1B6C}"/>
              </c:ext>
            </c:extLst>
          </c:dPt>
          <c:dPt>
            <c:idx val="5"/>
            <c:invertIfNegative val="1"/>
            <c:bubble3D val="0"/>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c:spPr>
            <c:extLst>
              <c:ext xmlns:c16="http://schemas.microsoft.com/office/drawing/2014/chart" uri="{C3380CC4-5D6E-409C-BE32-E72D297353CC}">
                <c16:uniqueId val="{0000000B-763D-4180-A54A-909BF8CC1B6C}"/>
              </c:ext>
            </c:extLst>
          </c:dPt>
          <c:dPt>
            <c:idx val="6"/>
            <c:invertIfNegative val="1"/>
            <c:bubble3D val="0"/>
            <c:spPr>
              <a:gradFill rotWithShape="1">
                <a:gsLst>
                  <a:gs pos="0">
                    <a:schemeClr val="accent1">
                      <a:lumMod val="60000"/>
                      <a:satMod val="103000"/>
                      <a:lumMod val="102000"/>
                      <a:tint val="94000"/>
                    </a:schemeClr>
                  </a:gs>
                  <a:gs pos="50000">
                    <a:schemeClr val="accent1">
                      <a:lumMod val="60000"/>
                      <a:satMod val="110000"/>
                      <a:lumMod val="100000"/>
                      <a:shade val="100000"/>
                    </a:schemeClr>
                  </a:gs>
                  <a:gs pos="100000">
                    <a:schemeClr val="accent1">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0D-763D-4180-A54A-909BF8CC1B6C}"/>
              </c:ext>
            </c:extLst>
          </c:dPt>
          <c:dPt>
            <c:idx val="7"/>
            <c:invertIfNegative val="1"/>
            <c:bubble3D val="0"/>
            <c:spPr>
              <a:gradFill rotWithShape="1">
                <a:gsLst>
                  <a:gs pos="0">
                    <a:schemeClr val="accent2">
                      <a:lumMod val="60000"/>
                      <a:satMod val="103000"/>
                      <a:lumMod val="102000"/>
                      <a:tint val="94000"/>
                    </a:schemeClr>
                  </a:gs>
                  <a:gs pos="50000">
                    <a:schemeClr val="accent2">
                      <a:lumMod val="60000"/>
                      <a:satMod val="110000"/>
                      <a:lumMod val="100000"/>
                      <a:shade val="100000"/>
                    </a:schemeClr>
                  </a:gs>
                  <a:gs pos="100000">
                    <a:schemeClr val="accent2">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0F-763D-4180-A54A-909BF8CC1B6C}"/>
              </c:ext>
            </c:extLst>
          </c:dPt>
          <c:dPt>
            <c:idx val="8"/>
            <c:invertIfNegative val="1"/>
            <c:bubble3D val="0"/>
            <c:spPr>
              <a:gradFill rotWithShape="1">
                <a:gsLst>
                  <a:gs pos="0">
                    <a:schemeClr val="accent3">
                      <a:lumMod val="60000"/>
                      <a:satMod val="103000"/>
                      <a:lumMod val="102000"/>
                      <a:tint val="94000"/>
                    </a:schemeClr>
                  </a:gs>
                  <a:gs pos="50000">
                    <a:schemeClr val="accent3">
                      <a:lumMod val="60000"/>
                      <a:satMod val="110000"/>
                      <a:lumMod val="100000"/>
                      <a:shade val="100000"/>
                    </a:schemeClr>
                  </a:gs>
                  <a:gs pos="100000">
                    <a:schemeClr val="accent3">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1-763D-4180-A54A-909BF8CC1B6C}"/>
              </c:ext>
            </c:extLst>
          </c:dPt>
          <c:dPt>
            <c:idx val="9"/>
            <c:invertIfNegative val="1"/>
            <c:bubble3D val="0"/>
            <c:spPr>
              <a:gradFill rotWithShape="1">
                <a:gsLst>
                  <a:gs pos="0">
                    <a:schemeClr val="accent4">
                      <a:lumMod val="60000"/>
                      <a:satMod val="103000"/>
                      <a:lumMod val="102000"/>
                      <a:tint val="94000"/>
                    </a:schemeClr>
                  </a:gs>
                  <a:gs pos="50000">
                    <a:schemeClr val="accent4">
                      <a:lumMod val="60000"/>
                      <a:satMod val="110000"/>
                      <a:lumMod val="100000"/>
                      <a:shade val="100000"/>
                    </a:schemeClr>
                  </a:gs>
                  <a:gs pos="100000">
                    <a:schemeClr val="accent4">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3-763D-4180-A54A-909BF8CC1B6C}"/>
              </c:ext>
            </c:extLst>
          </c:dPt>
          <c:dPt>
            <c:idx val="10"/>
            <c:invertIfNegative val="1"/>
            <c:bubble3D val="0"/>
            <c:spPr>
              <a:gradFill rotWithShape="1">
                <a:gsLst>
                  <a:gs pos="0">
                    <a:schemeClr val="accent5">
                      <a:lumMod val="60000"/>
                      <a:satMod val="103000"/>
                      <a:lumMod val="102000"/>
                      <a:tint val="94000"/>
                    </a:schemeClr>
                  </a:gs>
                  <a:gs pos="50000">
                    <a:schemeClr val="accent5">
                      <a:lumMod val="60000"/>
                      <a:satMod val="110000"/>
                      <a:lumMod val="100000"/>
                      <a:shade val="100000"/>
                    </a:schemeClr>
                  </a:gs>
                  <a:gs pos="100000">
                    <a:schemeClr val="accent5">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5-763D-4180-A54A-909BF8CC1B6C}"/>
              </c:ext>
            </c:extLst>
          </c:dPt>
          <c:dPt>
            <c:idx val="11"/>
            <c:invertIfNegative val="1"/>
            <c:bubble3D val="0"/>
            <c:spPr>
              <a:gradFill rotWithShape="1">
                <a:gsLst>
                  <a:gs pos="0">
                    <a:schemeClr val="accent6">
                      <a:lumMod val="60000"/>
                      <a:satMod val="103000"/>
                      <a:lumMod val="102000"/>
                      <a:tint val="94000"/>
                    </a:schemeClr>
                  </a:gs>
                  <a:gs pos="50000">
                    <a:schemeClr val="accent6">
                      <a:lumMod val="60000"/>
                      <a:satMod val="110000"/>
                      <a:lumMod val="100000"/>
                      <a:shade val="100000"/>
                    </a:schemeClr>
                  </a:gs>
                  <a:gs pos="100000">
                    <a:schemeClr val="accent6">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7-763D-4180-A54A-909BF8CC1B6C}"/>
              </c:ext>
            </c:extLst>
          </c:dPt>
          <c:dLbls>
            <c:delete val="1"/>
          </c:dLbls>
          <c:cat>
            <c:strRef>
              <c:f>Heart_Waitlist_Top!$A$4:$A$15</c:f>
              <c:strCache>
                <c:ptCount val="12"/>
                <c:pt idx="0">
                  <c:v>District of Columbia</c:v>
                </c:pt>
                <c:pt idx="1">
                  <c:v>Ohio</c:v>
                </c:pt>
                <c:pt idx="2">
                  <c:v>Nebraska</c:v>
                </c:pt>
                <c:pt idx="3">
                  <c:v>Utah</c:v>
                </c:pt>
                <c:pt idx="4">
                  <c:v>Massachusetts</c:v>
                </c:pt>
                <c:pt idx="5">
                  <c:v>Minnesota</c:v>
                </c:pt>
                <c:pt idx="6">
                  <c:v>New York</c:v>
                </c:pt>
                <c:pt idx="7">
                  <c:v>Illinois</c:v>
                </c:pt>
                <c:pt idx="8">
                  <c:v>Tennessee</c:v>
                </c:pt>
                <c:pt idx="9">
                  <c:v>Georgia</c:v>
                </c:pt>
                <c:pt idx="10">
                  <c:v>South Carolina</c:v>
                </c:pt>
                <c:pt idx="11">
                  <c:v>Virginia</c:v>
                </c:pt>
              </c:strCache>
            </c:strRef>
          </c:cat>
          <c:val>
            <c:numRef>
              <c:f>Heart_Waitlist_Top!$B$4:$B$15</c:f>
              <c:numCache>
                <c:formatCode>0.00</c:formatCode>
                <c:ptCount val="12"/>
                <c:pt idx="0">
                  <c:v>7.4047703809999996</c:v>
                </c:pt>
                <c:pt idx="1">
                  <c:v>2.499304907</c:v>
                </c:pt>
                <c:pt idx="2">
                  <c:v>2.1441400650000002</c:v>
                </c:pt>
                <c:pt idx="3">
                  <c:v>2.083563453</c:v>
                </c:pt>
                <c:pt idx="4">
                  <c:v>1.905783928</c:v>
                </c:pt>
                <c:pt idx="5">
                  <c:v>1.8987939380000001</c:v>
                </c:pt>
                <c:pt idx="6">
                  <c:v>1.8371945629999999</c:v>
                </c:pt>
                <c:pt idx="7">
                  <c:v>1.65222179</c:v>
                </c:pt>
                <c:pt idx="8">
                  <c:v>1.6325965899999999</c:v>
                </c:pt>
                <c:pt idx="9">
                  <c:v>1.484677679</c:v>
                </c:pt>
                <c:pt idx="10">
                  <c:v>1.423661361</c:v>
                </c:pt>
                <c:pt idx="11">
                  <c:v>1.418649797</c:v>
                </c:pt>
              </c:numCache>
            </c:numRef>
          </c:val>
          <c:extLst>
            <c:ext xmlns:c16="http://schemas.microsoft.com/office/drawing/2014/chart" uri="{C3380CC4-5D6E-409C-BE32-E72D297353CC}">
              <c16:uniqueId val="{00000018-763D-4180-A54A-909BF8CC1B6C}"/>
            </c:ext>
          </c:extLst>
        </c:ser>
        <c:dLbls>
          <c:dLblPos val="inEnd"/>
          <c:showLegendKey val="1"/>
          <c:showVal val="1"/>
          <c:showCatName val="1"/>
          <c:showSerName val="1"/>
          <c:showPercent val="1"/>
          <c:showBubbleSize val="1"/>
        </c:dLbls>
        <c:gapWidth val="100"/>
        <c:overlap val="-24"/>
        <c:axId val="10"/>
        <c:axId val="100"/>
      </c:barChart>
      <c:catAx>
        <c:axId val="10"/>
        <c:scaling>
          <c:orientation val="minMax"/>
        </c:scaling>
        <c:delete val="0"/>
        <c:axPos val="b"/>
        <c:title>
          <c:tx>
            <c:rich>
              <a:bodyPr rot="0" spcFirstLastPara="1" vertOverflow="ellipsis" vert="horz" wrap="square" anchor="ctr" anchorCtr="1"/>
              <a:lstStyle/>
              <a:p>
                <a:pPr>
                  <a:defRPr sz="1197" b="1" i="0" u="none" strike="noStrike" kern="1200" baseline="0">
                    <a:solidFill>
                      <a:schemeClr val="tx2"/>
                    </a:solidFill>
                    <a:latin typeface="+mn-lt"/>
                    <a:ea typeface="+mn-ea"/>
                    <a:cs typeface="+mn-cs"/>
                  </a:defRPr>
                </a:pPr>
                <a:r>
                  <a:rPr lang="en-US"/>
                  <a:t>States</a:t>
                </a:r>
              </a:p>
            </c:rich>
          </c:tx>
          <c:overlay val="1"/>
          <c:spPr>
            <a:noFill/>
            <a:ln>
              <a:noFill/>
            </a:ln>
            <a:effectLst/>
          </c:spPr>
          <c:txPr>
            <a:bodyPr rot="0" spcFirstLastPara="1" vertOverflow="ellipsis" vert="horz" wrap="square" anchor="ctr" anchorCtr="1"/>
            <a:lstStyle/>
            <a:p>
              <a:pPr>
                <a:defRPr sz="1197" b="1" i="0" u="none" strike="noStrike" kern="1200" baseline="0">
                  <a:solidFill>
                    <a:schemeClr val="tx2"/>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100"/>
        <c:crosses val="autoZero"/>
        <c:auto val="1"/>
        <c:lblAlgn val="ctr"/>
        <c:lblOffset val="100"/>
        <c:noMultiLvlLbl val="1"/>
      </c:catAx>
      <c:valAx>
        <c:axId val="100"/>
        <c:scaling>
          <c:orientation val="minMax"/>
        </c:scaling>
        <c:delete val="0"/>
        <c:axPos val="l"/>
        <c:majorGridlines>
          <c:spPr>
            <a:ln w="9525" cap="flat" cmpd="sng" algn="ctr">
              <a:solidFill>
                <a:schemeClr val="tx2">
                  <a:lumMod val="15000"/>
                  <a:lumOff val="8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tx2"/>
                    </a:solidFill>
                    <a:latin typeface="+mn-lt"/>
                    <a:ea typeface="+mn-ea"/>
                    <a:cs typeface="+mn-cs"/>
                  </a:defRPr>
                </a:pPr>
                <a:r>
                  <a:rPr lang="en-US"/>
                  <a:t>Waitlist per 100k</a:t>
                </a:r>
              </a:p>
            </c:rich>
          </c:tx>
          <c:overlay val="1"/>
          <c:spPr>
            <a:noFill/>
            <a:ln>
              <a:noFill/>
            </a:ln>
            <a:effectLst/>
          </c:spPr>
          <c:txPr>
            <a:bodyPr rot="-5400000" spcFirstLastPara="1" vertOverflow="ellipsis" vert="horz" wrap="square" anchor="ctr" anchorCtr="1"/>
            <a:lstStyle/>
            <a:p>
              <a:pPr>
                <a:defRPr sz="1197" b="1" i="0" u="none" strike="noStrike" kern="1200" baseline="0">
                  <a:solidFill>
                    <a:schemeClr val="tx2"/>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10"/>
        <c:crosses val="autoZero"/>
        <c:crossBetween val="between"/>
      </c:valAx>
      <c:spPr>
        <a:noFill/>
        <a:ln>
          <a:noFill/>
        </a:ln>
        <a:effectLst/>
      </c:spPr>
    </c:plotArea>
    <c:plotVisOnly val="1"/>
    <c:dispBlanksAs val="gap"/>
    <c:showDLblsOverMax val="1"/>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30029808681047"/>
          <c:y val="0.11876484560570071"/>
          <c:w val="0.83511223429909298"/>
          <c:h val="0.60908524044143597"/>
        </c:manualLayout>
      </c:layout>
      <c:barChart>
        <c:barDir val="col"/>
        <c:grouping val="clustered"/>
        <c:varyColors val="1"/>
        <c:ser>
          <c:idx val="0"/>
          <c:order val="0"/>
          <c:tx>
            <c:strRef>
              <c:f>Kidney_Top_States!$B$3</c:f>
              <c:strCache>
                <c:ptCount val="1"/>
                <c:pt idx="0">
                  <c:v>Waitlist_per_100k</c:v>
                </c:pt>
              </c:strCache>
            </c:strRef>
          </c:tx>
          <c:invertIfNegative val="1"/>
          <c:dPt>
            <c:idx val="0"/>
            <c:invertIfNegative val="1"/>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extLst>
              <c:ext xmlns:c16="http://schemas.microsoft.com/office/drawing/2014/chart" uri="{C3380CC4-5D6E-409C-BE32-E72D297353CC}">
                <c16:uniqueId val="{00000001-5981-43B6-99E2-30FA37E58945}"/>
              </c:ext>
            </c:extLst>
          </c:dPt>
          <c:dPt>
            <c:idx val="1"/>
            <c:invertIfNegative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3-5981-43B6-99E2-30FA37E58945}"/>
              </c:ext>
            </c:extLst>
          </c:dPt>
          <c:dPt>
            <c:idx val="2"/>
            <c:invertIfNegative val="1"/>
            <c:bubble3D val="0"/>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a:noFill/>
              </a:ln>
              <a:effectLst/>
            </c:spPr>
            <c:extLst>
              <c:ext xmlns:c16="http://schemas.microsoft.com/office/drawing/2014/chart" uri="{C3380CC4-5D6E-409C-BE32-E72D297353CC}">
                <c16:uniqueId val="{00000005-5981-43B6-99E2-30FA37E58945}"/>
              </c:ext>
            </c:extLst>
          </c:dPt>
          <c:dPt>
            <c:idx val="3"/>
            <c:invertIfNegative val="1"/>
            <c:bubble3D val="0"/>
            <c:spPr>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a:noFill/>
              </a:ln>
              <a:effectLst/>
            </c:spPr>
            <c:extLst>
              <c:ext xmlns:c16="http://schemas.microsoft.com/office/drawing/2014/chart" uri="{C3380CC4-5D6E-409C-BE32-E72D297353CC}">
                <c16:uniqueId val="{00000007-5981-43B6-99E2-30FA37E58945}"/>
              </c:ext>
            </c:extLst>
          </c:dPt>
          <c:dPt>
            <c:idx val="4"/>
            <c:invertIfNegative val="1"/>
            <c:bubble3D val="0"/>
            <c:spPr>
              <a:gradFill rotWithShape="1">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a:noFill/>
              </a:ln>
              <a:effectLst/>
            </c:spPr>
            <c:extLst>
              <c:ext xmlns:c16="http://schemas.microsoft.com/office/drawing/2014/chart" uri="{C3380CC4-5D6E-409C-BE32-E72D297353CC}">
                <c16:uniqueId val="{00000009-5981-43B6-99E2-30FA37E58945}"/>
              </c:ext>
            </c:extLst>
          </c:dPt>
          <c:dPt>
            <c:idx val="5"/>
            <c:invertIfNegative val="1"/>
            <c:bubble3D val="0"/>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c:spPr>
            <c:extLst>
              <c:ext xmlns:c16="http://schemas.microsoft.com/office/drawing/2014/chart" uri="{C3380CC4-5D6E-409C-BE32-E72D297353CC}">
                <c16:uniqueId val="{0000000B-5981-43B6-99E2-30FA37E58945}"/>
              </c:ext>
            </c:extLst>
          </c:dPt>
          <c:dPt>
            <c:idx val="6"/>
            <c:invertIfNegative val="1"/>
            <c:bubble3D val="0"/>
            <c:spPr>
              <a:gradFill rotWithShape="1">
                <a:gsLst>
                  <a:gs pos="0">
                    <a:schemeClr val="accent1">
                      <a:lumMod val="60000"/>
                      <a:satMod val="103000"/>
                      <a:lumMod val="102000"/>
                      <a:tint val="94000"/>
                    </a:schemeClr>
                  </a:gs>
                  <a:gs pos="50000">
                    <a:schemeClr val="accent1">
                      <a:lumMod val="60000"/>
                      <a:satMod val="110000"/>
                      <a:lumMod val="100000"/>
                      <a:shade val="100000"/>
                    </a:schemeClr>
                  </a:gs>
                  <a:gs pos="100000">
                    <a:schemeClr val="accent1">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0D-5981-43B6-99E2-30FA37E58945}"/>
              </c:ext>
            </c:extLst>
          </c:dPt>
          <c:dPt>
            <c:idx val="7"/>
            <c:invertIfNegative val="1"/>
            <c:bubble3D val="0"/>
            <c:spPr>
              <a:gradFill rotWithShape="1">
                <a:gsLst>
                  <a:gs pos="0">
                    <a:schemeClr val="accent2">
                      <a:lumMod val="60000"/>
                      <a:satMod val="103000"/>
                      <a:lumMod val="102000"/>
                      <a:tint val="94000"/>
                    </a:schemeClr>
                  </a:gs>
                  <a:gs pos="50000">
                    <a:schemeClr val="accent2">
                      <a:lumMod val="60000"/>
                      <a:satMod val="110000"/>
                      <a:lumMod val="100000"/>
                      <a:shade val="100000"/>
                    </a:schemeClr>
                  </a:gs>
                  <a:gs pos="100000">
                    <a:schemeClr val="accent2">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0F-5981-43B6-99E2-30FA37E58945}"/>
              </c:ext>
            </c:extLst>
          </c:dPt>
          <c:dPt>
            <c:idx val="8"/>
            <c:invertIfNegative val="1"/>
            <c:bubble3D val="0"/>
            <c:spPr>
              <a:gradFill rotWithShape="1">
                <a:gsLst>
                  <a:gs pos="0">
                    <a:schemeClr val="accent3">
                      <a:lumMod val="60000"/>
                      <a:satMod val="103000"/>
                      <a:lumMod val="102000"/>
                      <a:tint val="94000"/>
                    </a:schemeClr>
                  </a:gs>
                  <a:gs pos="50000">
                    <a:schemeClr val="accent3">
                      <a:lumMod val="60000"/>
                      <a:satMod val="110000"/>
                      <a:lumMod val="100000"/>
                      <a:shade val="100000"/>
                    </a:schemeClr>
                  </a:gs>
                  <a:gs pos="100000">
                    <a:schemeClr val="accent3">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1-5981-43B6-99E2-30FA37E58945}"/>
              </c:ext>
            </c:extLst>
          </c:dPt>
          <c:dPt>
            <c:idx val="9"/>
            <c:invertIfNegative val="1"/>
            <c:bubble3D val="0"/>
            <c:spPr>
              <a:gradFill rotWithShape="1">
                <a:gsLst>
                  <a:gs pos="0">
                    <a:schemeClr val="accent4">
                      <a:lumMod val="60000"/>
                      <a:satMod val="103000"/>
                      <a:lumMod val="102000"/>
                      <a:tint val="94000"/>
                    </a:schemeClr>
                  </a:gs>
                  <a:gs pos="50000">
                    <a:schemeClr val="accent4">
                      <a:lumMod val="60000"/>
                      <a:satMod val="110000"/>
                      <a:lumMod val="100000"/>
                      <a:shade val="100000"/>
                    </a:schemeClr>
                  </a:gs>
                  <a:gs pos="100000">
                    <a:schemeClr val="accent4">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3-5981-43B6-99E2-30FA37E58945}"/>
              </c:ext>
            </c:extLst>
          </c:dPt>
          <c:dPt>
            <c:idx val="10"/>
            <c:invertIfNegative val="1"/>
            <c:bubble3D val="0"/>
            <c:spPr>
              <a:gradFill rotWithShape="1">
                <a:gsLst>
                  <a:gs pos="0">
                    <a:schemeClr val="accent5">
                      <a:lumMod val="60000"/>
                      <a:satMod val="103000"/>
                      <a:lumMod val="102000"/>
                      <a:tint val="94000"/>
                    </a:schemeClr>
                  </a:gs>
                  <a:gs pos="50000">
                    <a:schemeClr val="accent5">
                      <a:lumMod val="60000"/>
                      <a:satMod val="110000"/>
                      <a:lumMod val="100000"/>
                      <a:shade val="100000"/>
                    </a:schemeClr>
                  </a:gs>
                  <a:gs pos="100000">
                    <a:schemeClr val="accent5">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5-5981-43B6-99E2-30FA37E58945}"/>
              </c:ext>
            </c:extLst>
          </c:dPt>
          <c:dPt>
            <c:idx val="11"/>
            <c:invertIfNegative val="1"/>
            <c:bubble3D val="0"/>
            <c:spPr>
              <a:gradFill rotWithShape="1">
                <a:gsLst>
                  <a:gs pos="0">
                    <a:schemeClr val="accent6">
                      <a:lumMod val="60000"/>
                      <a:satMod val="103000"/>
                      <a:lumMod val="102000"/>
                      <a:tint val="94000"/>
                    </a:schemeClr>
                  </a:gs>
                  <a:gs pos="50000">
                    <a:schemeClr val="accent6">
                      <a:lumMod val="60000"/>
                      <a:satMod val="110000"/>
                      <a:lumMod val="100000"/>
                      <a:shade val="100000"/>
                    </a:schemeClr>
                  </a:gs>
                  <a:gs pos="100000">
                    <a:schemeClr val="accent6">
                      <a:lumMod val="60000"/>
                      <a:lumMod val="99000"/>
                      <a:satMod val="120000"/>
                      <a:shade val="78000"/>
                    </a:schemeClr>
                  </a:gs>
                </a:gsLst>
                <a:lin ang="5400000" scaled="0"/>
              </a:gradFill>
              <a:ln>
                <a:noFill/>
              </a:ln>
              <a:effectLst/>
            </c:spPr>
            <c:extLst>
              <c:ext xmlns:c16="http://schemas.microsoft.com/office/drawing/2014/chart" uri="{C3380CC4-5D6E-409C-BE32-E72D297353CC}">
                <c16:uniqueId val="{00000017-5981-43B6-99E2-30FA37E58945}"/>
              </c:ext>
            </c:extLst>
          </c:dPt>
          <c:dLbls>
            <c:delete val="1"/>
          </c:dLbls>
          <c:cat>
            <c:strRef>
              <c:f>Kidney_Top_States!$A$4:$A$15</c:f>
              <c:strCache>
                <c:ptCount val="12"/>
                <c:pt idx="0">
                  <c:v>District of Columbia</c:v>
                </c:pt>
                <c:pt idx="1">
                  <c:v>Massachusetts</c:v>
                </c:pt>
                <c:pt idx="2">
                  <c:v>California</c:v>
                </c:pt>
                <c:pt idx="3">
                  <c:v>South Dakota</c:v>
                </c:pt>
                <c:pt idx="4">
                  <c:v>Pennsylvania</c:v>
                </c:pt>
                <c:pt idx="5">
                  <c:v>Louisiana</c:v>
                </c:pt>
                <c:pt idx="6">
                  <c:v>Tennessee</c:v>
                </c:pt>
                <c:pt idx="7">
                  <c:v>New York</c:v>
                </c:pt>
                <c:pt idx="8">
                  <c:v>Rhode Island</c:v>
                </c:pt>
                <c:pt idx="9">
                  <c:v>Minnesota</c:v>
                </c:pt>
                <c:pt idx="10">
                  <c:v>North Carolina</c:v>
                </c:pt>
                <c:pt idx="11">
                  <c:v>Virginia</c:v>
                </c:pt>
              </c:strCache>
            </c:strRef>
          </c:cat>
          <c:val>
            <c:numRef>
              <c:f>Kidney_Top_States!$B$4:$B$15</c:f>
              <c:numCache>
                <c:formatCode>0.00</c:formatCode>
                <c:ptCount val="12"/>
                <c:pt idx="0">
                  <c:v>159.20256319999999</c:v>
                </c:pt>
                <c:pt idx="1">
                  <c:v>49.073936150000002</c:v>
                </c:pt>
                <c:pt idx="2">
                  <c:v>45.304153710000001</c:v>
                </c:pt>
                <c:pt idx="3">
                  <c:v>42.285401589999999</c:v>
                </c:pt>
                <c:pt idx="4">
                  <c:v>38.184074299999999</c:v>
                </c:pt>
                <c:pt idx="5">
                  <c:v>37.496683150000003</c:v>
                </c:pt>
                <c:pt idx="6">
                  <c:v>36.456711980000001</c:v>
                </c:pt>
                <c:pt idx="7">
                  <c:v>35.173467410000001</c:v>
                </c:pt>
                <c:pt idx="8">
                  <c:v>34.792521499999999</c:v>
                </c:pt>
                <c:pt idx="9">
                  <c:v>33.418773309999999</c:v>
                </c:pt>
                <c:pt idx="10">
                  <c:v>33.215571500000003</c:v>
                </c:pt>
                <c:pt idx="11">
                  <c:v>32.697040530000002</c:v>
                </c:pt>
              </c:numCache>
            </c:numRef>
          </c:val>
          <c:extLst>
            <c:ext xmlns:c16="http://schemas.microsoft.com/office/drawing/2014/chart" uri="{C3380CC4-5D6E-409C-BE32-E72D297353CC}">
              <c16:uniqueId val="{00000018-5981-43B6-99E2-30FA37E58945}"/>
            </c:ext>
          </c:extLst>
        </c:ser>
        <c:dLbls>
          <c:showLegendKey val="1"/>
          <c:showVal val="1"/>
          <c:showCatName val="1"/>
          <c:showSerName val="1"/>
          <c:showPercent val="1"/>
          <c:showBubbleSize val="1"/>
        </c:dLbls>
        <c:gapWidth val="100"/>
        <c:overlap val="-24"/>
        <c:axId val="10"/>
        <c:axId val="100"/>
      </c:barChart>
      <c:catAx>
        <c:axId val="10"/>
        <c:scaling>
          <c:orientation val="minMax"/>
        </c:scaling>
        <c:delete val="0"/>
        <c:axPos val="b"/>
        <c:title>
          <c:tx>
            <c:rich>
              <a:bodyPr rot="0" spcFirstLastPara="1" vertOverflow="ellipsis" vert="horz" wrap="square" anchor="ctr" anchorCtr="1"/>
              <a:lstStyle/>
              <a:p>
                <a:pPr>
                  <a:defRPr sz="2400" b="1" i="0" u="none" strike="noStrike" kern="1200" baseline="0">
                    <a:solidFill>
                      <a:schemeClr val="tx2"/>
                    </a:solidFill>
                    <a:latin typeface="+mn-lt"/>
                    <a:ea typeface="+mn-ea"/>
                    <a:cs typeface="+mn-cs"/>
                  </a:defRPr>
                </a:pPr>
                <a:r>
                  <a:rPr lang="en-US" sz="2400"/>
                  <a:t>State</a:t>
                </a:r>
              </a:p>
            </c:rich>
          </c:tx>
          <c:overlay val="1"/>
          <c:spPr>
            <a:noFill/>
            <a:ln>
              <a:noFill/>
            </a:ln>
            <a:effectLst/>
          </c:spPr>
          <c:txPr>
            <a:bodyPr rot="0" spcFirstLastPara="1" vertOverflow="ellipsis" vert="horz" wrap="square" anchor="ctr" anchorCtr="1"/>
            <a:lstStyle/>
            <a:p>
              <a:pPr>
                <a:defRPr sz="2400" b="1" i="0" u="none" strike="noStrike" kern="1200" baseline="0">
                  <a:solidFill>
                    <a:schemeClr val="tx2"/>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100"/>
        <c:crosses val="autoZero"/>
        <c:auto val="1"/>
        <c:lblAlgn val="ctr"/>
        <c:lblOffset val="100"/>
        <c:noMultiLvlLbl val="1"/>
      </c:catAx>
      <c:valAx>
        <c:axId val="100"/>
        <c:scaling>
          <c:orientation val="minMax"/>
        </c:scaling>
        <c:delete val="0"/>
        <c:axPos val="l"/>
        <c:majorGridlines>
          <c:spPr>
            <a:ln w="9525" cap="flat" cmpd="sng" algn="ctr">
              <a:solidFill>
                <a:schemeClr val="tx2">
                  <a:lumMod val="15000"/>
                  <a:lumOff val="8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tx2"/>
                    </a:solidFill>
                    <a:latin typeface="+mn-lt"/>
                    <a:ea typeface="+mn-ea"/>
                    <a:cs typeface="+mn-cs"/>
                  </a:defRPr>
                </a:pPr>
                <a:r>
                  <a:rPr lang="en-US"/>
                  <a:t>Waitlist per 100k</a:t>
                </a:r>
              </a:p>
            </c:rich>
          </c:tx>
          <c:overlay val="1"/>
          <c:spPr>
            <a:noFill/>
            <a:ln>
              <a:noFill/>
            </a:ln>
            <a:effectLst/>
          </c:spPr>
          <c:txPr>
            <a:bodyPr rot="-5400000" spcFirstLastPara="1" vertOverflow="ellipsis" vert="horz" wrap="square" anchor="ctr" anchorCtr="1"/>
            <a:lstStyle/>
            <a:p>
              <a:pPr>
                <a:defRPr sz="1197" b="1" i="0" u="none" strike="noStrike" kern="1200" baseline="0">
                  <a:solidFill>
                    <a:schemeClr val="tx2"/>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10"/>
        <c:crosses val="autoZero"/>
        <c:crossBetween val="between"/>
      </c:valAx>
      <c:spPr>
        <a:noFill/>
        <a:ln>
          <a:noFill/>
        </a:ln>
        <a:effectLst/>
      </c:spPr>
    </c:plotArea>
    <c:plotVisOnly val="1"/>
    <c:dispBlanksAs val="gap"/>
    <c:showDLblsOverMax val="1"/>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76833333333333"/>
          <c:y val="4.5719035743973402E-2"/>
          <c:w val="0.82556407407407406"/>
          <c:h val="0.88130542892664732"/>
        </c:manualLayout>
      </c:layout>
      <c:barChart>
        <c:barDir val="col"/>
        <c:grouping val="clustered"/>
        <c:varyColors val="1"/>
        <c:ser>
          <c:idx val="0"/>
          <c:order val="0"/>
          <c:tx>
            <c:strRef>
              <c:f>Lung_Top_States!$A$4</c:f>
              <c:strCache>
                <c:ptCount val="1"/>
                <c:pt idx="0">
                  <c:v>Pennsylvania</c:v>
                </c:pt>
              </c:strCache>
            </c:strRef>
          </c:tx>
          <c:spPr>
            <a:solidFill>
              <a:srgbClr val="4F81BD"/>
            </a:solidFill>
            <a:ln>
              <a:noFill/>
            </a:ln>
            <a:effectLst/>
          </c:spPr>
          <c:invertIfNegative val="1"/>
          <c:dLbls>
            <c:delete val="1"/>
          </c:dLbls>
          <c:cat>
            <c:strRef>
              <c:f>Lung_Top_States!$B$3</c:f>
              <c:strCache>
                <c:ptCount val="1"/>
                <c:pt idx="0">
                  <c:v>Waitlist_per_100k</c:v>
                </c:pt>
              </c:strCache>
            </c:strRef>
          </c:cat>
          <c:val>
            <c:numRef>
              <c:f>Lung_Top_States!$B$4</c:f>
              <c:numCache>
                <c:formatCode>0.00</c:formatCode>
                <c:ptCount val="1"/>
                <c:pt idx="0">
                  <c:v>0.90987281600000003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a:effectLst/>
                </c14:spPr>
              </c14:invertSolidFillFmt>
            </c:ext>
            <c:ext xmlns:c16="http://schemas.microsoft.com/office/drawing/2014/chart" uri="{C3380CC4-5D6E-409C-BE32-E72D297353CC}">
              <c16:uniqueId val="{00000000-CBAB-4161-923A-5502F710977F}"/>
            </c:ext>
          </c:extLst>
        </c:ser>
        <c:ser>
          <c:idx val="1"/>
          <c:order val="1"/>
          <c:tx>
            <c:strRef>
              <c:f>Lung_Top_States!$A$5</c:f>
              <c:strCache>
                <c:ptCount val="1"/>
                <c:pt idx="0">
                  <c:v>Michigan</c:v>
                </c:pt>
              </c:strCache>
            </c:strRef>
          </c:tx>
          <c:spPr>
            <a:solidFill>
              <a:schemeClr val="accent2"/>
            </a:solidFill>
            <a:ln>
              <a:noFill/>
            </a:ln>
            <a:effectLst/>
          </c:spPr>
          <c:invertIfNegative val="0"/>
          <c:dLbls>
            <c:delete val="1"/>
          </c:dLbls>
          <c:cat>
            <c:strRef>
              <c:f>Lung_Top_States!$B$3</c:f>
              <c:strCache>
                <c:ptCount val="1"/>
                <c:pt idx="0">
                  <c:v>Waitlist_per_100k</c:v>
                </c:pt>
              </c:strCache>
            </c:strRef>
          </c:cat>
          <c:val>
            <c:numRef>
              <c:f>Lung_Top_States!$B$5</c:f>
              <c:numCache>
                <c:formatCode>0.00</c:formatCode>
                <c:ptCount val="1"/>
                <c:pt idx="0">
                  <c:v>0.71002703099999998</c:v>
                </c:pt>
              </c:numCache>
            </c:numRef>
          </c:val>
          <c:extLst>
            <c:ext xmlns:c16="http://schemas.microsoft.com/office/drawing/2014/chart" uri="{C3380CC4-5D6E-409C-BE32-E72D297353CC}">
              <c16:uniqueId val="{00000001-CBAB-4161-923A-5502F710977F}"/>
            </c:ext>
          </c:extLst>
        </c:ser>
        <c:ser>
          <c:idx val="2"/>
          <c:order val="2"/>
          <c:tx>
            <c:strRef>
              <c:f>Lung_Top_States!$A$6</c:f>
              <c:strCache>
                <c:ptCount val="1"/>
                <c:pt idx="0">
                  <c:v>Washington</c:v>
                </c:pt>
              </c:strCache>
            </c:strRef>
          </c:tx>
          <c:spPr>
            <a:solidFill>
              <a:schemeClr val="accent3"/>
            </a:solidFill>
            <a:ln>
              <a:noFill/>
            </a:ln>
            <a:effectLst/>
          </c:spPr>
          <c:invertIfNegative val="0"/>
          <c:dLbls>
            <c:delete val="1"/>
          </c:dLbls>
          <c:cat>
            <c:strRef>
              <c:f>Lung_Top_States!$B$3</c:f>
              <c:strCache>
                <c:ptCount val="1"/>
                <c:pt idx="0">
                  <c:v>Waitlist_per_100k</c:v>
                </c:pt>
              </c:strCache>
            </c:strRef>
          </c:cat>
          <c:val>
            <c:numRef>
              <c:f>Lung_Top_States!$B$6</c:f>
              <c:numCache>
                <c:formatCode>0.00</c:formatCode>
                <c:ptCount val="1"/>
                <c:pt idx="0">
                  <c:v>0.66598141799999999</c:v>
                </c:pt>
              </c:numCache>
            </c:numRef>
          </c:val>
          <c:extLst>
            <c:ext xmlns:c16="http://schemas.microsoft.com/office/drawing/2014/chart" uri="{C3380CC4-5D6E-409C-BE32-E72D297353CC}">
              <c16:uniqueId val="{00000002-CBAB-4161-923A-5502F710977F}"/>
            </c:ext>
          </c:extLst>
        </c:ser>
        <c:ser>
          <c:idx val="3"/>
          <c:order val="3"/>
          <c:tx>
            <c:strRef>
              <c:f>Lung_Top_States!$A$7</c:f>
              <c:strCache>
                <c:ptCount val="1"/>
                <c:pt idx="0">
                  <c:v>Ohio</c:v>
                </c:pt>
              </c:strCache>
            </c:strRef>
          </c:tx>
          <c:spPr>
            <a:solidFill>
              <a:schemeClr val="accent4"/>
            </a:solidFill>
            <a:ln>
              <a:noFill/>
            </a:ln>
            <a:effectLst/>
          </c:spPr>
          <c:invertIfNegative val="0"/>
          <c:dLbls>
            <c:delete val="1"/>
          </c:dLbls>
          <c:cat>
            <c:strRef>
              <c:f>Lung_Top_States!$B$3</c:f>
              <c:strCache>
                <c:ptCount val="1"/>
                <c:pt idx="0">
                  <c:v>Waitlist_per_100k</c:v>
                </c:pt>
              </c:strCache>
            </c:strRef>
          </c:cat>
          <c:val>
            <c:numRef>
              <c:f>Lung_Top_States!$B$7</c:f>
              <c:numCache>
                <c:formatCode>0.00</c:formatCode>
                <c:ptCount val="1"/>
                <c:pt idx="0">
                  <c:v>0.62272243500000002</c:v>
                </c:pt>
              </c:numCache>
            </c:numRef>
          </c:val>
          <c:extLst>
            <c:ext xmlns:c16="http://schemas.microsoft.com/office/drawing/2014/chart" uri="{C3380CC4-5D6E-409C-BE32-E72D297353CC}">
              <c16:uniqueId val="{00000003-CBAB-4161-923A-5502F710977F}"/>
            </c:ext>
          </c:extLst>
        </c:ser>
        <c:ser>
          <c:idx val="4"/>
          <c:order val="4"/>
          <c:tx>
            <c:strRef>
              <c:f>Lung_Top_States!$A$8</c:f>
              <c:strCache>
                <c:ptCount val="1"/>
                <c:pt idx="0">
                  <c:v>Minnesota</c:v>
                </c:pt>
              </c:strCache>
            </c:strRef>
          </c:tx>
          <c:spPr>
            <a:solidFill>
              <a:schemeClr val="accent5"/>
            </a:solidFill>
            <a:ln>
              <a:noFill/>
            </a:ln>
            <a:effectLst/>
          </c:spPr>
          <c:invertIfNegative val="0"/>
          <c:dLbls>
            <c:delete val="1"/>
          </c:dLbls>
          <c:cat>
            <c:strRef>
              <c:f>Lung_Top_States!$B$3</c:f>
              <c:strCache>
                <c:ptCount val="1"/>
                <c:pt idx="0">
                  <c:v>Waitlist_per_100k</c:v>
                </c:pt>
              </c:strCache>
            </c:strRef>
          </c:cat>
          <c:val>
            <c:numRef>
              <c:f>Lung_Top_States!$B$8</c:f>
              <c:numCache>
                <c:formatCode>0.00</c:formatCode>
                <c:ptCount val="1"/>
                <c:pt idx="0">
                  <c:v>0.50059112900000002</c:v>
                </c:pt>
              </c:numCache>
            </c:numRef>
          </c:val>
          <c:extLst>
            <c:ext xmlns:c16="http://schemas.microsoft.com/office/drawing/2014/chart" uri="{C3380CC4-5D6E-409C-BE32-E72D297353CC}">
              <c16:uniqueId val="{00000004-CBAB-4161-923A-5502F710977F}"/>
            </c:ext>
          </c:extLst>
        </c:ser>
        <c:ser>
          <c:idx val="5"/>
          <c:order val="5"/>
          <c:tx>
            <c:strRef>
              <c:f>Lung_Top_States!$A$9</c:f>
              <c:strCache>
                <c:ptCount val="1"/>
                <c:pt idx="0">
                  <c:v>New York</c:v>
                </c:pt>
              </c:strCache>
            </c:strRef>
          </c:tx>
          <c:spPr>
            <a:solidFill>
              <a:schemeClr val="accent6"/>
            </a:solidFill>
            <a:ln>
              <a:noFill/>
            </a:ln>
            <a:effectLst/>
          </c:spPr>
          <c:invertIfNegative val="0"/>
          <c:dLbls>
            <c:delete val="1"/>
          </c:dLbls>
          <c:cat>
            <c:strRef>
              <c:f>Lung_Top_States!$B$3</c:f>
              <c:strCache>
                <c:ptCount val="1"/>
                <c:pt idx="0">
                  <c:v>Waitlist_per_100k</c:v>
                </c:pt>
              </c:strCache>
            </c:strRef>
          </c:cat>
          <c:val>
            <c:numRef>
              <c:f>Lung_Top_States!$B$9</c:f>
              <c:numCache>
                <c:formatCode>0.00</c:formatCode>
                <c:ptCount val="1"/>
                <c:pt idx="0">
                  <c:v>0.48824074699999997</c:v>
                </c:pt>
              </c:numCache>
            </c:numRef>
          </c:val>
          <c:extLst>
            <c:ext xmlns:c16="http://schemas.microsoft.com/office/drawing/2014/chart" uri="{C3380CC4-5D6E-409C-BE32-E72D297353CC}">
              <c16:uniqueId val="{00000005-CBAB-4161-923A-5502F710977F}"/>
            </c:ext>
          </c:extLst>
        </c:ser>
        <c:ser>
          <c:idx val="6"/>
          <c:order val="6"/>
          <c:tx>
            <c:strRef>
              <c:f>Lung_Top_States!$A$10</c:f>
              <c:strCache>
                <c:ptCount val="1"/>
                <c:pt idx="0">
                  <c:v>Missouri</c:v>
                </c:pt>
              </c:strCache>
            </c:strRef>
          </c:tx>
          <c:spPr>
            <a:solidFill>
              <a:schemeClr val="accent1">
                <a:lumMod val="60000"/>
              </a:schemeClr>
            </a:solidFill>
            <a:ln>
              <a:noFill/>
            </a:ln>
            <a:effectLst/>
          </c:spPr>
          <c:invertIfNegative val="0"/>
          <c:dLbls>
            <c:delete val="1"/>
          </c:dLbls>
          <c:cat>
            <c:strRef>
              <c:f>Lung_Top_States!$B$3</c:f>
              <c:strCache>
                <c:ptCount val="1"/>
                <c:pt idx="0">
                  <c:v>Waitlist_per_100k</c:v>
                </c:pt>
              </c:strCache>
            </c:strRef>
          </c:cat>
          <c:val>
            <c:numRef>
              <c:f>Lung_Top_States!$B$10</c:f>
              <c:numCache>
                <c:formatCode>0.00</c:formatCode>
                <c:ptCount val="1"/>
                <c:pt idx="0">
                  <c:v>0.44832523299999999</c:v>
                </c:pt>
              </c:numCache>
            </c:numRef>
          </c:val>
          <c:extLst>
            <c:ext xmlns:c16="http://schemas.microsoft.com/office/drawing/2014/chart" uri="{C3380CC4-5D6E-409C-BE32-E72D297353CC}">
              <c16:uniqueId val="{00000006-CBAB-4161-923A-5502F710977F}"/>
            </c:ext>
          </c:extLst>
        </c:ser>
        <c:ser>
          <c:idx val="7"/>
          <c:order val="7"/>
          <c:tx>
            <c:strRef>
              <c:f>Lung_Top_States!$A$11</c:f>
              <c:strCache>
                <c:ptCount val="1"/>
                <c:pt idx="0">
                  <c:v>Massachusetts</c:v>
                </c:pt>
              </c:strCache>
            </c:strRef>
          </c:tx>
          <c:spPr>
            <a:solidFill>
              <a:schemeClr val="accent2">
                <a:lumMod val="60000"/>
              </a:schemeClr>
            </a:solidFill>
            <a:ln>
              <a:noFill/>
            </a:ln>
            <a:effectLst/>
          </c:spPr>
          <c:invertIfNegative val="0"/>
          <c:dLbls>
            <c:delete val="1"/>
          </c:dLbls>
          <c:cat>
            <c:strRef>
              <c:f>Lung_Top_States!$B$3</c:f>
              <c:strCache>
                <c:ptCount val="1"/>
                <c:pt idx="0">
                  <c:v>Waitlist_per_100k</c:v>
                </c:pt>
              </c:strCache>
            </c:strRef>
          </c:cat>
          <c:val>
            <c:numRef>
              <c:f>Lung_Top_States!$B$11</c:f>
              <c:numCache>
                <c:formatCode>0.00</c:formatCode>
                <c:ptCount val="1"/>
                <c:pt idx="0">
                  <c:v>0.40638039599999998</c:v>
                </c:pt>
              </c:numCache>
            </c:numRef>
          </c:val>
          <c:extLst>
            <c:ext xmlns:c16="http://schemas.microsoft.com/office/drawing/2014/chart" uri="{C3380CC4-5D6E-409C-BE32-E72D297353CC}">
              <c16:uniqueId val="{00000007-CBAB-4161-923A-5502F710977F}"/>
            </c:ext>
          </c:extLst>
        </c:ser>
        <c:ser>
          <c:idx val="8"/>
          <c:order val="8"/>
          <c:tx>
            <c:strRef>
              <c:f>Lung_Top_States!$A$12</c:f>
              <c:strCache>
                <c:ptCount val="1"/>
                <c:pt idx="0">
                  <c:v>Oklahoma</c:v>
                </c:pt>
              </c:strCache>
            </c:strRef>
          </c:tx>
          <c:spPr>
            <a:solidFill>
              <a:schemeClr val="accent3">
                <a:lumMod val="60000"/>
              </a:schemeClr>
            </a:solidFill>
            <a:ln>
              <a:noFill/>
            </a:ln>
            <a:effectLst/>
          </c:spPr>
          <c:invertIfNegative val="0"/>
          <c:dLbls>
            <c:delete val="1"/>
          </c:dLbls>
          <c:cat>
            <c:strRef>
              <c:f>Lung_Top_States!$B$3</c:f>
              <c:strCache>
                <c:ptCount val="1"/>
                <c:pt idx="0">
                  <c:v>Waitlist_per_100k</c:v>
                </c:pt>
              </c:strCache>
            </c:strRef>
          </c:cat>
          <c:val>
            <c:numRef>
              <c:f>Lung_Top_States!$B$12</c:f>
              <c:numCache>
                <c:formatCode>0.00</c:formatCode>
                <c:ptCount val="1"/>
                <c:pt idx="0">
                  <c:v>0.39068289699999997</c:v>
                </c:pt>
              </c:numCache>
            </c:numRef>
          </c:val>
          <c:extLst>
            <c:ext xmlns:c16="http://schemas.microsoft.com/office/drawing/2014/chart" uri="{C3380CC4-5D6E-409C-BE32-E72D297353CC}">
              <c16:uniqueId val="{00000008-CBAB-4161-923A-5502F710977F}"/>
            </c:ext>
          </c:extLst>
        </c:ser>
        <c:ser>
          <c:idx val="9"/>
          <c:order val="9"/>
          <c:tx>
            <c:strRef>
              <c:f>Lung_Top_States!$A$13</c:f>
              <c:strCache>
                <c:ptCount val="1"/>
                <c:pt idx="0">
                  <c:v>Maryland</c:v>
                </c:pt>
              </c:strCache>
            </c:strRef>
          </c:tx>
          <c:spPr>
            <a:solidFill>
              <a:schemeClr val="accent4">
                <a:lumMod val="60000"/>
              </a:schemeClr>
            </a:solidFill>
            <a:ln>
              <a:noFill/>
            </a:ln>
            <a:effectLst/>
          </c:spPr>
          <c:invertIfNegative val="0"/>
          <c:dLbls>
            <c:delete val="1"/>
          </c:dLbls>
          <c:cat>
            <c:strRef>
              <c:f>Lung_Top_States!$B$3</c:f>
              <c:strCache>
                <c:ptCount val="1"/>
                <c:pt idx="0">
                  <c:v>Waitlist_per_100k</c:v>
                </c:pt>
              </c:strCache>
            </c:strRef>
          </c:cat>
          <c:val>
            <c:numRef>
              <c:f>Lung_Top_States!$B$13</c:f>
              <c:numCache>
                <c:formatCode>0.00</c:formatCode>
                <c:ptCount val="1"/>
                <c:pt idx="0">
                  <c:v>0.38318947799999997</c:v>
                </c:pt>
              </c:numCache>
            </c:numRef>
          </c:val>
          <c:extLst>
            <c:ext xmlns:c16="http://schemas.microsoft.com/office/drawing/2014/chart" uri="{C3380CC4-5D6E-409C-BE32-E72D297353CC}">
              <c16:uniqueId val="{00000009-CBAB-4161-923A-5502F710977F}"/>
            </c:ext>
          </c:extLst>
        </c:ser>
        <c:ser>
          <c:idx val="10"/>
          <c:order val="10"/>
          <c:tx>
            <c:strRef>
              <c:f>Lung_Top_States!$A$14</c:f>
              <c:strCache>
                <c:ptCount val="1"/>
                <c:pt idx="0">
                  <c:v>Illinois</c:v>
                </c:pt>
              </c:strCache>
            </c:strRef>
          </c:tx>
          <c:spPr>
            <a:solidFill>
              <a:schemeClr val="accent5">
                <a:lumMod val="60000"/>
              </a:schemeClr>
            </a:solidFill>
            <a:ln>
              <a:noFill/>
            </a:ln>
            <a:effectLst/>
          </c:spPr>
          <c:invertIfNegative val="0"/>
          <c:dLbls>
            <c:delete val="1"/>
          </c:dLbls>
          <c:cat>
            <c:strRef>
              <c:f>Lung_Top_States!$B$3</c:f>
              <c:strCache>
                <c:ptCount val="1"/>
                <c:pt idx="0">
                  <c:v>Waitlist_per_100k</c:v>
                </c:pt>
              </c:strCache>
            </c:strRef>
          </c:cat>
          <c:val>
            <c:numRef>
              <c:f>Lung_Top_States!$B$14</c:f>
              <c:numCache>
                <c:formatCode>0.00</c:formatCode>
                <c:ptCount val="1"/>
                <c:pt idx="0">
                  <c:v>0.36978297199999999</c:v>
                </c:pt>
              </c:numCache>
            </c:numRef>
          </c:val>
          <c:extLst>
            <c:ext xmlns:c16="http://schemas.microsoft.com/office/drawing/2014/chart" uri="{C3380CC4-5D6E-409C-BE32-E72D297353CC}">
              <c16:uniqueId val="{0000000A-CBAB-4161-923A-5502F710977F}"/>
            </c:ext>
          </c:extLst>
        </c:ser>
        <c:ser>
          <c:idx val="11"/>
          <c:order val="11"/>
          <c:tx>
            <c:strRef>
              <c:f>Lung_Top_States!$A$15</c:f>
              <c:strCache>
                <c:ptCount val="1"/>
                <c:pt idx="0">
                  <c:v>Wisconsin</c:v>
                </c:pt>
              </c:strCache>
            </c:strRef>
          </c:tx>
          <c:spPr>
            <a:solidFill>
              <a:schemeClr val="accent6">
                <a:lumMod val="60000"/>
              </a:schemeClr>
            </a:solidFill>
            <a:ln>
              <a:noFill/>
            </a:ln>
            <a:effectLst/>
          </c:spPr>
          <c:invertIfNegative val="0"/>
          <c:dLbls>
            <c:delete val="1"/>
          </c:dLbls>
          <c:cat>
            <c:strRef>
              <c:f>Lung_Top_States!$B$3</c:f>
              <c:strCache>
                <c:ptCount val="1"/>
                <c:pt idx="0">
                  <c:v>Waitlist_per_100k</c:v>
                </c:pt>
              </c:strCache>
            </c:strRef>
          </c:cat>
          <c:val>
            <c:numRef>
              <c:f>Lung_Top_States!$B$15</c:f>
              <c:numCache>
                <c:formatCode>0.00</c:formatCode>
                <c:ptCount val="1"/>
                <c:pt idx="0">
                  <c:v>0.36906714099999999</c:v>
                </c:pt>
              </c:numCache>
            </c:numRef>
          </c:val>
          <c:extLst>
            <c:ext xmlns:c16="http://schemas.microsoft.com/office/drawing/2014/chart" uri="{C3380CC4-5D6E-409C-BE32-E72D297353CC}">
              <c16:uniqueId val="{0000000B-CBAB-4161-923A-5502F710977F}"/>
            </c:ext>
          </c:extLst>
        </c:ser>
        <c:dLbls>
          <c:showLegendKey val="1"/>
          <c:showVal val="1"/>
          <c:showCatName val="1"/>
          <c:showSerName val="1"/>
          <c:showPercent val="1"/>
          <c:showBubbleSize val="1"/>
        </c:dLbls>
        <c:gapWidth val="219"/>
        <c:overlap val="-27"/>
        <c:axId val="10"/>
        <c:axId val="100"/>
      </c:barChart>
      <c:catAx>
        <c:axId val="10"/>
        <c:scaling>
          <c:orientation val="minMax"/>
        </c:scaling>
        <c:delete val="1"/>
        <c:axPos val="b"/>
        <c:title>
          <c:tx>
            <c:rich>
              <a:bodyPr rot="0" spcFirstLastPara="1" vertOverflow="ellipsis" vert="horz" wrap="square" anchor="ctr" anchorCtr="1"/>
              <a:lstStyle/>
              <a:p>
                <a:pPr>
                  <a:defRPr sz="2400" b="1" i="0" u="none" strike="noStrike" kern="1200" baseline="0">
                    <a:solidFill>
                      <a:schemeClr val="tx1">
                        <a:lumMod val="65000"/>
                        <a:lumOff val="35000"/>
                      </a:schemeClr>
                    </a:solidFill>
                    <a:latin typeface="+mn-lt"/>
                    <a:ea typeface="+mn-ea"/>
                    <a:cs typeface="+mn-cs"/>
                  </a:defRPr>
                </a:pPr>
                <a:r>
                  <a:rPr lang="en-US" sz="2400" b="1"/>
                  <a:t>State</a:t>
                </a:r>
              </a:p>
            </c:rich>
          </c:tx>
          <c:overlay val="1"/>
          <c:spPr>
            <a:noFill/>
            <a:ln>
              <a:noFill/>
            </a:ln>
            <a:effectLst/>
          </c:spPr>
          <c:txPr>
            <a:bodyPr rot="0" spcFirstLastPara="1" vertOverflow="ellipsis" vert="horz" wrap="square" anchor="ctr" anchorCtr="1"/>
            <a:lstStyle/>
            <a:p>
              <a:pPr>
                <a:defRPr sz="24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crossAx val="100"/>
        <c:crosses val="autoZero"/>
        <c:auto val="1"/>
        <c:lblAlgn val="ctr"/>
        <c:lblOffset val="100"/>
        <c:noMultiLvlLbl val="1"/>
      </c:catAx>
      <c:valAx>
        <c:axId val="10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600" b="1" i="0" u="none" strike="noStrike" kern="1200" baseline="0">
                    <a:solidFill>
                      <a:schemeClr val="tx1"/>
                    </a:solidFill>
                    <a:latin typeface="+mn-lt"/>
                    <a:ea typeface="+mn-ea"/>
                    <a:cs typeface="+mn-cs"/>
                  </a:defRPr>
                </a:pPr>
                <a:r>
                  <a:rPr lang="en-US" sz="1600" b="1">
                    <a:solidFill>
                      <a:schemeClr val="tx1"/>
                    </a:solidFill>
                  </a:rPr>
                  <a:t>Waitlist Per 100k</a:t>
                </a:r>
              </a:p>
            </c:rich>
          </c:tx>
          <c:overlay val="1"/>
          <c:spPr>
            <a:noFill/>
            <a:ln>
              <a:noFill/>
            </a:ln>
            <a:effectLst/>
          </c:spPr>
          <c:txPr>
            <a:bodyPr rot="-540000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solidFill>
                <a:latin typeface="+mn-lt"/>
                <a:ea typeface="+mn-ea"/>
                <a:cs typeface="+mn-cs"/>
              </a:defRPr>
            </a:pPr>
            <a:endParaRPr lang="en-US"/>
          </a:p>
        </c:txPr>
        <c:crossAx val="10"/>
        <c:crosses val="autoZero"/>
        <c:crossBetween val="between"/>
      </c:valAx>
      <c:spPr>
        <a:noFill/>
        <a:ln>
          <a:noFill/>
        </a:ln>
        <a:effectLst/>
      </c:spPr>
    </c:plotArea>
    <c:legend>
      <c:legendPos val="b"/>
      <c:layout>
        <c:manualLayout>
          <c:xMode val="edge"/>
          <c:yMode val="edge"/>
          <c:x val="0.29982592592592594"/>
          <c:y val="5.8785403628750989E-2"/>
          <c:w val="0.66730881494454175"/>
          <c:h val="0.24296889347883915"/>
        </c:manualLayout>
      </c:layout>
      <c:overlay val="0"/>
      <c:spPr>
        <a:noFill/>
        <a:ln>
          <a:noFill/>
        </a:ln>
        <a:effectLst/>
      </c:spPr>
      <c:txPr>
        <a:bodyPr rot="0" spcFirstLastPara="1" vertOverflow="ellipsis" vert="horz" wrap="square" anchor="ctr" anchorCtr="1"/>
        <a:lstStyle/>
        <a:p>
          <a:pPr>
            <a:defRPr sz="1400" b="1"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1"/>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Heart</c:v>
                </c:pt>
              </c:strCache>
            </c:strRef>
          </c:tx>
          <c:spPr>
            <a:solidFill>
              <a:srgbClr val="345995"/>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0.80559727275000004</c:v>
                </c:pt>
                <c:pt idx="1">
                  <c:v>1.1960606663333333</c:v>
                </c:pt>
                <c:pt idx="2">
                  <c:v>1.3584843945882352</c:v>
                </c:pt>
                <c:pt idx="3">
                  <c:v>0.6397716911111111</c:v>
                </c:pt>
              </c:numCache>
            </c:numRef>
          </c:val>
          <c:extLst>
            <c:ext xmlns:c16="http://schemas.microsoft.com/office/drawing/2014/chart" uri="{C3380CC4-5D6E-409C-BE32-E72D297353CC}">
              <c16:uniqueId val="{00000000-8D39-4A39-A4F0-0182F94BC77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0" i="0" u="none" strike="noStrike">
                    <a:solidFill>
                      <a:srgbClr val="5E6C79"/>
                    </a:solidFill>
                    <a:latin typeface="Arial"/>
                  </a:defRPr>
                </a:pPr>
                <a:r>
                  <a:rPr lang="en-US" b="0" i="0" u="none" strike="noStrike">
                    <a:solidFill>
                      <a:srgbClr val="5E6C79"/>
                    </a:solidFill>
                    <a:latin typeface="Arial"/>
                  </a:rPr>
                  <a:t>Waitlist per 100k</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Kidney</c:v>
                </c:pt>
              </c:strCache>
            </c:strRef>
          </c:tx>
          <c:spPr>
            <a:solidFill>
              <a:srgbClr val="3A7D44"/>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30.332225810000001</c:v>
                </c:pt>
                <c:pt idx="1">
                  <c:v>23.157624389166667</c:v>
                </c:pt>
                <c:pt idx="2">
                  <c:v>31.770209799882355</c:v>
                </c:pt>
                <c:pt idx="3">
                  <c:v>23.916339267777779</c:v>
                </c:pt>
              </c:numCache>
            </c:numRef>
          </c:val>
          <c:extLst>
            <c:ext xmlns:c16="http://schemas.microsoft.com/office/drawing/2014/chart" uri="{C3380CC4-5D6E-409C-BE32-E72D297353CC}">
              <c16:uniqueId val="{00000000-CCC4-45B1-84A6-129516D05128}"/>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0" i="0" u="none" strike="noStrike">
                    <a:solidFill>
                      <a:srgbClr val="5E6C79"/>
                    </a:solidFill>
                    <a:latin typeface="Arial"/>
                  </a:defRPr>
                </a:pPr>
                <a:r>
                  <a:rPr lang="en-US" b="0" i="0" u="none" strike="noStrike">
                    <a:solidFill>
                      <a:srgbClr val="5E6C79"/>
                    </a:solidFill>
                    <a:latin typeface="Arial"/>
                  </a:rPr>
                  <a:t>Waitlist per 100k</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Lung</c:v>
                </c:pt>
              </c:strCache>
            </c:strRef>
          </c:tx>
          <c:spPr>
            <a:solidFill>
              <a:srgbClr val="C17C29"/>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0.228193088125</c:v>
                </c:pt>
                <c:pt idx="1">
                  <c:v>0.28616290808333333</c:v>
                </c:pt>
                <c:pt idx="2">
                  <c:v>0.15913748811764705</c:v>
                </c:pt>
                <c:pt idx="3">
                  <c:v>0.16020555655555554</c:v>
                </c:pt>
              </c:numCache>
            </c:numRef>
          </c:val>
          <c:extLst>
            <c:ext xmlns:c16="http://schemas.microsoft.com/office/drawing/2014/chart" uri="{C3380CC4-5D6E-409C-BE32-E72D297353CC}">
              <c16:uniqueId val="{00000000-BDB8-49D4-8A36-828D618464A1}"/>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0" i="0" u="none" strike="noStrike">
                    <a:solidFill>
                      <a:srgbClr val="5E6C79"/>
                    </a:solidFill>
                    <a:latin typeface="Arial"/>
                  </a:defRPr>
                </a:pPr>
                <a:r>
                  <a:rPr lang="en-US" b="0" i="0" u="none" strike="noStrike">
                    <a:solidFill>
                      <a:srgbClr val="5E6C79"/>
                    </a:solidFill>
                    <a:latin typeface="Arial"/>
                  </a:rPr>
                  <a:t>Waitlist per 100k</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Heart</c:v>
                </c:pt>
              </c:strCache>
            </c:strRef>
          </c:tx>
          <c:spPr>
            <a:solidFill>
              <a:srgbClr val="345995"/>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45.3</c:v>
                </c:pt>
                <c:pt idx="1">
                  <c:v>47.8</c:v>
                </c:pt>
                <c:pt idx="2">
                  <c:v>43.8</c:v>
                </c:pt>
                <c:pt idx="3">
                  <c:v>43.2</c:v>
                </c:pt>
              </c:numCache>
            </c:numRef>
          </c:val>
          <c:extLst>
            <c:ext xmlns:c16="http://schemas.microsoft.com/office/drawing/2014/chart" uri="{C3380CC4-5D6E-409C-BE32-E72D297353CC}">
              <c16:uniqueId val="{00000000-ECC1-4E5C-8D60-28F641028AA1}"/>
            </c:ext>
          </c:extLst>
        </c:ser>
        <c:ser>
          <c:idx val="1"/>
          <c:order val="1"/>
          <c:tx>
            <c:strRef>
              <c:f>Sheet1!$C$1</c:f>
              <c:strCache>
                <c:ptCount val="1"/>
                <c:pt idx="0">
                  <c:v>Kidney</c:v>
                </c:pt>
              </c:strCache>
            </c:strRef>
          </c:tx>
          <c:spPr>
            <a:solidFill>
              <a:srgbClr val="3A7D44"/>
            </a:solidFill>
            <a:effectLst/>
          </c:spPr>
          <c:invertIfNegative val="0"/>
          <c:cat>
            <c:strRef>
              <c:f>Sheet1!$A$2:$A$5</c:f>
              <c:strCache>
                <c:ptCount val="4"/>
                <c:pt idx="0">
                  <c:v>Northeast</c:v>
                </c:pt>
                <c:pt idx="1">
                  <c:v>Midwest</c:v>
                </c:pt>
                <c:pt idx="2">
                  <c:v>South</c:v>
                </c:pt>
                <c:pt idx="3">
                  <c:v>West</c:v>
                </c:pt>
              </c:strCache>
            </c:strRef>
          </c:cat>
          <c:val>
            <c:numRef>
              <c:f>Sheet1!$C$2:$C$5</c:f>
              <c:numCache>
                <c:formatCode>General</c:formatCode>
                <c:ptCount val="4"/>
                <c:pt idx="0">
                  <c:v>68.599999999999994</c:v>
                </c:pt>
                <c:pt idx="1">
                  <c:v>56.8</c:v>
                </c:pt>
                <c:pt idx="2">
                  <c:v>57</c:v>
                </c:pt>
                <c:pt idx="3">
                  <c:v>56.5</c:v>
                </c:pt>
              </c:numCache>
            </c:numRef>
          </c:val>
          <c:extLst>
            <c:ext xmlns:c16="http://schemas.microsoft.com/office/drawing/2014/chart" uri="{C3380CC4-5D6E-409C-BE32-E72D297353CC}">
              <c16:uniqueId val="{00000001-ECC1-4E5C-8D60-28F641028AA1}"/>
            </c:ext>
          </c:extLst>
        </c:ser>
        <c:ser>
          <c:idx val="2"/>
          <c:order val="2"/>
          <c:tx>
            <c:strRef>
              <c:f>Sheet1!$D$1</c:f>
              <c:strCache>
                <c:ptCount val="1"/>
                <c:pt idx="0">
                  <c:v>Lung</c:v>
                </c:pt>
              </c:strCache>
            </c:strRef>
          </c:tx>
          <c:spPr>
            <a:solidFill>
              <a:srgbClr val="C17C29"/>
            </a:solidFill>
            <a:effectLst/>
          </c:spPr>
          <c:invertIfNegative val="0"/>
          <c:cat>
            <c:strRef>
              <c:f>Sheet1!$A$2:$A$5</c:f>
              <c:strCache>
                <c:ptCount val="4"/>
                <c:pt idx="0">
                  <c:v>Northeast</c:v>
                </c:pt>
                <c:pt idx="1">
                  <c:v>Midwest</c:v>
                </c:pt>
                <c:pt idx="2">
                  <c:v>South</c:v>
                </c:pt>
                <c:pt idx="3">
                  <c:v>West</c:v>
                </c:pt>
              </c:strCache>
            </c:strRef>
          </c:cat>
          <c:val>
            <c:numRef>
              <c:f>Sheet1!$D$2:$D$5</c:f>
              <c:numCache>
                <c:formatCode>General</c:formatCode>
                <c:ptCount val="4"/>
                <c:pt idx="0">
                  <c:v>12.4</c:v>
                </c:pt>
                <c:pt idx="1">
                  <c:v>17.600000000000001</c:v>
                </c:pt>
                <c:pt idx="2">
                  <c:v>12.1</c:v>
                </c:pt>
                <c:pt idx="3">
                  <c:v>9.5</c:v>
                </c:pt>
              </c:numCache>
            </c:numRef>
          </c:val>
          <c:extLst>
            <c:ext xmlns:c16="http://schemas.microsoft.com/office/drawing/2014/chart" uri="{C3380CC4-5D6E-409C-BE32-E72D297353CC}">
              <c16:uniqueId val="{00000002-ECC1-4E5C-8D60-28F641028AA1}"/>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title>
          <c:tx>
            <c:rich>
              <a:bodyPr/>
              <a:lstStyle/>
              <a:p>
                <a:pPr>
                  <a:defRPr b="0" i="0" u="none" strike="noStrike">
                    <a:solidFill>
                      <a:srgbClr val="5E6C79"/>
                    </a:solidFill>
                    <a:latin typeface="Arial"/>
                  </a:defRPr>
                </a:pPr>
                <a:r>
                  <a:rPr lang="en-US" b="0" i="0" u="none" strike="noStrike">
                    <a:solidFill>
                      <a:srgbClr val="5E6C79"/>
                    </a:solidFill>
                    <a:latin typeface="Arial"/>
                  </a:rPr>
                  <a:t>Region</a:t>
                </a:r>
              </a:p>
            </c:rich>
          </c:tx>
          <c:overlay val="0"/>
        </c:title>
        <c:numFmt formatCode="General" sourceLinked="1"/>
        <c:majorTickMark val="out"/>
        <c:minorTickMark val="none"/>
        <c:tickLblPos val="low"/>
        <c:spPr>
          <a:ln w="12700" cap="flat">
            <a:solidFill>
              <a:srgbClr val="D9E0E6"/>
            </a:solidFill>
            <a:prstDash val="solid"/>
            <a:round/>
          </a:ln>
        </c:spPr>
        <c:txPr>
          <a:bodyPr/>
          <a:lstStyle/>
          <a:p>
            <a:pPr>
              <a:defRPr sz="10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1" i="0" u="none" strike="noStrike">
                    <a:solidFill>
                      <a:schemeClr val="tx1"/>
                    </a:solidFill>
                    <a:latin typeface="Arial"/>
                  </a:defRPr>
                </a:pPr>
                <a:r>
                  <a:rPr lang="en-US" b="1" i="0" u="none" strike="noStrike">
                    <a:solidFill>
                      <a:schemeClr val="tx1"/>
                    </a:solidFill>
                    <a:latin typeface="Arial"/>
                  </a:rPr>
                  <a:t>Share waiting ≥1 year (%)</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10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legend>
      <c:legendPos val="r"/>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Heart</c:v>
                </c:pt>
              </c:strCache>
            </c:strRef>
          </c:tx>
          <c:spPr>
            <a:solidFill>
              <a:srgbClr val="345995"/>
            </a:solidFill>
            <a:effectLst/>
          </c:spPr>
          <c:invertIfNegative val="0"/>
          <c:cat>
            <c:strRef>
              <c:f>Sheet1!$A$2:$A$10</c:f>
              <c:strCache>
                <c:ptCount val="9"/>
                <c:pt idx="0">
                  <c:v>AI/AN</c:v>
                </c:pt>
                <c:pt idx="1">
                  <c:v>Asian</c:v>
                </c:pt>
                <c:pt idx="2">
                  <c:v>Black</c:v>
                </c:pt>
                <c:pt idx="3">
                  <c:v>Hispanic</c:v>
                </c:pt>
                <c:pt idx="4">
                  <c:v>All Races</c:v>
                </c:pt>
                <c:pt idx="5">
                  <c:v>White</c:v>
                </c:pt>
                <c:pt idx="6">
                  <c:v>PI</c:v>
                </c:pt>
                <c:pt idx="7">
                  <c:v>Multiracial</c:v>
                </c:pt>
                <c:pt idx="8">
                  <c:v>Unknown</c:v>
                </c:pt>
              </c:strCache>
            </c:strRef>
          </c:cat>
          <c:val>
            <c:numRef>
              <c:f>Sheet1!$B$2:$B$10</c:f>
              <c:numCache>
                <c:formatCode>General</c:formatCode>
                <c:ptCount val="9"/>
                <c:pt idx="0">
                  <c:v>47.8</c:v>
                </c:pt>
                <c:pt idx="1">
                  <c:v>38</c:v>
                </c:pt>
                <c:pt idx="2">
                  <c:v>46.9</c:v>
                </c:pt>
                <c:pt idx="3">
                  <c:v>47.2</c:v>
                </c:pt>
                <c:pt idx="4">
                  <c:v>46.7</c:v>
                </c:pt>
                <c:pt idx="5">
                  <c:v>48</c:v>
                </c:pt>
                <c:pt idx="6">
                  <c:v>50</c:v>
                </c:pt>
                <c:pt idx="7">
                  <c:v>29.4</c:v>
                </c:pt>
                <c:pt idx="8">
                  <c:v>24.6</c:v>
                </c:pt>
              </c:numCache>
            </c:numRef>
          </c:val>
          <c:extLst>
            <c:ext xmlns:c16="http://schemas.microsoft.com/office/drawing/2014/chart" uri="{C3380CC4-5D6E-409C-BE32-E72D297353CC}">
              <c16:uniqueId val="{00000000-8810-4D89-9C2A-6F3FBF0977C0}"/>
            </c:ext>
          </c:extLst>
        </c:ser>
        <c:ser>
          <c:idx val="1"/>
          <c:order val="1"/>
          <c:tx>
            <c:strRef>
              <c:f>Sheet1!$C$1</c:f>
              <c:strCache>
                <c:ptCount val="1"/>
                <c:pt idx="0">
                  <c:v>Kidney</c:v>
                </c:pt>
              </c:strCache>
            </c:strRef>
          </c:tx>
          <c:spPr>
            <a:solidFill>
              <a:srgbClr val="3A7D44"/>
            </a:solidFill>
            <a:effectLst/>
          </c:spPr>
          <c:invertIfNegative val="0"/>
          <c:cat>
            <c:strRef>
              <c:f>Sheet1!$A$2:$A$10</c:f>
              <c:strCache>
                <c:ptCount val="9"/>
                <c:pt idx="0">
                  <c:v>AI/AN</c:v>
                </c:pt>
                <c:pt idx="1">
                  <c:v>Asian</c:v>
                </c:pt>
                <c:pt idx="2">
                  <c:v>Black</c:v>
                </c:pt>
                <c:pt idx="3">
                  <c:v>Hispanic</c:v>
                </c:pt>
                <c:pt idx="4">
                  <c:v>All Races</c:v>
                </c:pt>
                <c:pt idx="5">
                  <c:v>White</c:v>
                </c:pt>
                <c:pt idx="6">
                  <c:v>PI</c:v>
                </c:pt>
                <c:pt idx="7">
                  <c:v>Multiracial</c:v>
                </c:pt>
                <c:pt idx="8">
                  <c:v>Unknown</c:v>
                </c:pt>
              </c:strCache>
            </c:strRef>
          </c:cat>
          <c:val>
            <c:numRef>
              <c:f>Sheet1!$C$2:$C$10</c:f>
              <c:numCache>
                <c:formatCode>General</c:formatCode>
                <c:ptCount val="9"/>
                <c:pt idx="0">
                  <c:v>64.8</c:v>
                </c:pt>
                <c:pt idx="1">
                  <c:v>64.900000000000006</c:v>
                </c:pt>
                <c:pt idx="2">
                  <c:v>60.8</c:v>
                </c:pt>
                <c:pt idx="3">
                  <c:v>64.099999999999994</c:v>
                </c:pt>
                <c:pt idx="4">
                  <c:v>61.3</c:v>
                </c:pt>
                <c:pt idx="5">
                  <c:v>59.6</c:v>
                </c:pt>
                <c:pt idx="6">
                  <c:v>63.9</c:v>
                </c:pt>
                <c:pt idx="7">
                  <c:v>62.5</c:v>
                </c:pt>
                <c:pt idx="8">
                  <c:v>31.5</c:v>
                </c:pt>
              </c:numCache>
            </c:numRef>
          </c:val>
          <c:extLst>
            <c:ext xmlns:c16="http://schemas.microsoft.com/office/drawing/2014/chart" uri="{C3380CC4-5D6E-409C-BE32-E72D297353CC}">
              <c16:uniqueId val="{00000001-8810-4D89-9C2A-6F3FBF0977C0}"/>
            </c:ext>
          </c:extLst>
        </c:ser>
        <c:ser>
          <c:idx val="2"/>
          <c:order val="2"/>
          <c:tx>
            <c:strRef>
              <c:f>Sheet1!$D$1</c:f>
              <c:strCache>
                <c:ptCount val="1"/>
                <c:pt idx="0">
                  <c:v>Lung</c:v>
                </c:pt>
              </c:strCache>
            </c:strRef>
          </c:tx>
          <c:spPr>
            <a:solidFill>
              <a:srgbClr val="C17C29"/>
            </a:solidFill>
            <a:effectLst/>
          </c:spPr>
          <c:invertIfNegative val="0"/>
          <c:cat>
            <c:strRef>
              <c:f>Sheet1!$A$2:$A$10</c:f>
              <c:strCache>
                <c:ptCount val="9"/>
                <c:pt idx="0">
                  <c:v>AI/AN</c:v>
                </c:pt>
                <c:pt idx="1">
                  <c:v>Asian</c:v>
                </c:pt>
                <c:pt idx="2">
                  <c:v>Black</c:v>
                </c:pt>
                <c:pt idx="3">
                  <c:v>Hispanic</c:v>
                </c:pt>
                <c:pt idx="4">
                  <c:v>All Races</c:v>
                </c:pt>
                <c:pt idx="5">
                  <c:v>White</c:v>
                </c:pt>
                <c:pt idx="6">
                  <c:v>PI</c:v>
                </c:pt>
                <c:pt idx="7">
                  <c:v>Multiracial</c:v>
                </c:pt>
                <c:pt idx="8">
                  <c:v>Unknown</c:v>
                </c:pt>
              </c:strCache>
            </c:strRef>
          </c:cat>
          <c:val>
            <c:numRef>
              <c:f>Sheet1!$D$2:$D$10</c:f>
              <c:numCache>
                <c:formatCode>General</c:formatCode>
                <c:ptCount val="9"/>
                <c:pt idx="0">
                  <c:v>60</c:v>
                </c:pt>
                <c:pt idx="1">
                  <c:v>29</c:v>
                </c:pt>
                <c:pt idx="2">
                  <c:v>23.4</c:v>
                </c:pt>
                <c:pt idx="3">
                  <c:v>17.600000000000001</c:v>
                </c:pt>
                <c:pt idx="4">
                  <c:v>18.399999999999999</c:v>
                </c:pt>
                <c:pt idx="5">
                  <c:v>16.899999999999999</c:v>
                </c:pt>
                <c:pt idx="6">
                  <c:v>0</c:v>
                </c:pt>
                <c:pt idx="7">
                  <c:v>0</c:v>
                </c:pt>
                <c:pt idx="8">
                  <c:v>12.5</c:v>
                </c:pt>
              </c:numCache>
            </c:numRef>
          </c:val>
          <c:extLst>
            <c:ext xmlns:c16="http://schemas.microsoft.com/office/drawing/2014/chart" uri="{C3380CC4-5D6E-409C-BE32-E72D297353CC}">
              <c16:uniqueId val="{00000002-8810-4D89-9C2A-6F3FBF0977C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title>
          <c:tx>
            <c:rich>
              <a:bodyPr/>
              <a:lstStyle/>
              <a:p>
                <a:pPr>
                  <a:defRPr b="1" i="0" u="none" strike="noStrike">
                    <a:solidFill>
                      <a:schemeClr val="tx1"/>
                    </a:solidFill>
                    <a:latin typeface="Arial"/>
                  </a:defRPr>
                </a:pPr>
                <a:r>
                  <a:rPr lang="en-US" b="1" i="0" u="none" strike="noStrike">
                    <a:solidFill>
                      <a:schemeClr val="tx1"/>
                    </a:solidFill>
                    <a:latin typeface="Arial"/>
                  </a:rPr>
                  <a:t>Race / ethnicity group</a:t>
                </a:r>
              </a:p>
            </c:rich>
          </c:tx>
          <c:overlay val="0"/>
        </c:title>
        <c:numFmt formatCode="General" sourceLinked="1"/>
        <c:majorTickMark val="out"/>
        <c:minorTickMark val="none"/>
        <c:tickLblPos val="nextTo"/>
        <c:spPr>
          <a:ln w="12700" cap="flat">
            <a:solidFill>
              <a:srgbClr val="D9E0E6"/>
            </a:solidFill>
            <a:prstDash val="solid"/>
            <a:round/>
          </a:ln>
        </c:spPr>
        <c:txPr>
          <a:bodyPr/>
          <a:lstStyle/>
          <a:p>
            <a:pPr>
              <a:defRPr sz="950" b="1"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12700" cap="flat">
              <a:solidFill>
                <a:srgbClr val="D9E0E6"/>
              </a:solidFill>
              <a:prstDash val="solid"/>
              <a:round/>
            </a:ln>
          </c:spPr>
        </c:majorGridlines>
        <c:title>
          <c:tx>
            <c:rich>
              <a:bodyPr/>
              <a:lstStyle/>
              <a:p>
                <a:pPr>
                  <a:defRPr sz="1200" b="1" i="0" u="none" strike="noStrike">
                    <a:solidFill>
                      <a:schemeClr val="tx1"/>
                    </a:solidFill>
                    <a:latin typeface="Arial"/>
                  </a:defRPr>
                </a:pPr>
                <a:r>
                  <a:rPr lang="en-US" sz="1200" b="1" i="0" u="none" strike="noStrike">
                    <a:solidFill>
                      <a:schemeClr val="tx1"/>
                    </a:solidFill>
                    <a:latin typeface="Arial"/>
                  </a:rPr>
                  <a:t>Share waiting ≥1 year (%)</a:t>
                </a:r>
              </a:p>
            </c:rich>
          </c:tx>
          <c:overlay val="0"/>
        </c:title>
        <c:numFmt formatCode="General" sourceLinked="0"/>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legend>
      <c:legendPos val="r"/>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Uninsured (%)</c:v>
                </c:pt>
              </c:strCache>
            </c:strRef>
          </c:tx>
          <c:spPr>
            <a:solidFill>
              <a:srgbClr val="345995"/>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8.9834708125000002</c:v>
                </c:pt>
                <c:pt idx="1">
                  <c:v>10.099526691666666</c:v>
                </c:pt>
                <c:pt idx="2">
                  <c:v>13.192474052941177</c:v>
                </c:pt>
                <c:pt idx="3">
                  <c:v>13.088348411111111</c:v>
                </c:pt>
              </c:numCache>
            </c:numRef>
          </c:val>
          <c:extLst>
            <c:ext xmlns:c16="http://schemas.microsoft.com/office/drawing/2014/chart" uri="{C3380CC4-5D6E-409C-BE32-E72D297353CC}">
              <c16:uniqueId val="{00000000-719B-4107-B0F9-DA8B1BEDE77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0" i="0" u="none" strike="noStrike">
                    <a:solidFill>
                      <a:srgbClr val="5E6C79"/>
                    </a:solidFill>
                    <a:latin typeface="Arial"/>
                  </a:defRPr>
                </a:pPr>
                <a:r>
                  <a:rPr lang="en-US" b="0" i="0" u="none" strike="noStrike">
                    <a:solidFill>
                      <a:srgbClr val="5E6C79"/>
                    </a:solidFill>
                    <a:latin typeface="Arial"/>
                  </a:rPr>
                  <a:t>Uninsured (%)</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income ($)</c:v>
                </c:pt>
              </c:strCache>
            </c:strRef>
          </c:tx>
          <c:spPr>
            <a:solidFill>
              <a:srgbClr val="3A7D44"/>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91100.25</c:v>
                </c:pt>
                <c:pt idx="1">
                  <c:v>76200.583333333328</c:v>
                </c:pt>
                <c:pt idx="2">
                  <c:v>74336.705882352937</c:v>
                </c:pt>
                <c:pt idx="3">
                  <c:v>88175.777777777781</c:v>
                </c:pt>
              </c:numCache>
            </c:numRef>
          </c:val>
          <c:extLst>
            <c:ext xmlns:c16="http://schemas.microsoft.com/office/drawing/2014/chart" uri="{C3380CC4-5D6E-409C-BE32-E72D297353CC}">
              <c16:uniqueId val="{00000000-E9D4-46E0-9419-B5B8F9D7D5EA}"/>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0" i="0" u="none" strike="noStrike">
                    <a:solidFill>
                      <a:srgbClr val="5E6C79"/>
                    </a:solidFill>
                    <a:latin typeface="Arial"/>
                  </a:defRPr>
                </a:pPr>
                <a:r>
                  <a:rPr lang="en-US" b="0" i="0" u="none" strike="noStrike">
                    <a:solidFill>
                      <a:srgbClr val="5E6C79"/>
                    </a:solidFill>
                    <a:latin typeface="Arial"/>
                  </a:rPr>
                  <a:t>Median income ($)</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Mortality crude rate</c:v>
                </c:pt>
              </c:strCache>
            </c:strRef>
          </c:tx>
          <c:spPr>
            <a:solidFill>
              <a:srgbClr val="C17C29"/>
            </a:solidFill>
            <a:effectLst/>
          </c:spPr>
          <c:invertIfNegative val="0"/>
          <c:cat>
            <c:strRef>
              <c:f>Sheet1!$A$2:$A$5</c:f>
              <c:strCache>
                <c:ptCount val="4"/>
                <c:pt idx="0">
                  <c:v>Northeast</c:v>
                </c:pt>
                <c:pt idx="1">
                  <c:v>Midwest</c:v>
                </c:pt>
                <c:pt idx="2">
                  <c:v>South</c:v>
                </c:pt>
                <c:pt idx="3">
                  <c:v>West</c:v>
                </c:pt>
              </c:strCache>
            </c:strRef>
          </c:cat>
          <c:val>
            <c:numRef>
              <c:f>Sheet1!$B$2:$B$5</c:f>
              <c:numCache>
                <c:formatCode>General</c:formatCode>
                <c:ptCount val="4"/>
                <c:pt idx="0">
                  <c:v>980.02499999999998</c:v>
                </c:pt>
                <c:pt idx="1">
                  <c:v>1001.6416666666668</c:v>
                </c:pt>
                <c:pt idx="2">
                  <c:v>1062.7058823529412</c:v>
                </c:pt>
                <c:pt idx="3">
                  <c:v>859.59999999999991</c:v>
                </c:pt>
              </c:numCache>
            </c:numRef>
          </c:val>
          <c:extLst>
            <c:ext xmlns:c16="http://schemas.microsoft.com/office/drawing/2014/chart" uri="{C3380CC4-5D6E-409C-BE32-E72D297353CC}">
              <c16:uniqueId val="{00000000-7858-4C36-B81C-4ACFE7AC890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9E0E6"/>
              </a:solidFill>
              <a:prstDash val="solid"/>
              <a:round/>
            </a:ln>
          </c:spPr>
        </c:majorGridlines>
        <c:title>
          <c:tx>
            <c:rich>
              <a:bodyPr/>
              <a:lstStyle/>
              <a:p>
                <a:pPr>
                  <a:defRPr b="0" i="0" u="none" strike="noStrike">
                    <a:solidFill>
                      <a:srgbClr val="5E6C79"/>
                    </a:solidFill>
                    <a:latin typeface="Arial"/>
                  </a:defRPr>
                </a:pPr>
                <a:r>
                  <a:rPr lang="en-US" b="0" i="0" u="none" strike="noStrike">
                    <a:solidFill>
                      <a:srgbClr val="5E6C79"/>
                    </a:solidFill>
                    <a:latin typeface="Arial"/>
                  </a:rPr>
                  <a:t>Crude rate</a:t>
                </a:r>
              </a:p>
            </c:rich>
          </c:tx>
          <c:overlay val="0"/>
        </c:title>
        <c:numFmt formatCode="General" sourceLinked="0"/>
        <c:majorTickMark val="out"/>
        <c:minorTickMark val="none"/>
        <c:tickLblPos val="nextTo"/>
        <c:spPr>
          <a:ln w="12700" cap="flat">
            <a:solidFill>
              <a:srgbClr val="D9E0E6"/>
            </a:solidFill>
            <a:prstDash val="solid"/>
            <a:round/>
          </a:ln>
        </c:spPr>
        <c:txPr>
          <a:bodyPr/>
          <a:lstStyle/>
          <a:p>
            <a:pPr>
              <a:defRPr sz="950" b="0" i="0" u="none" strike="noStrike">
                <a:solidFill>
                  <a:srgbClr val="24324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7">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charts/style4.xml><?xml version="1.0" encoding="utf-8"?>
<cs:chartStyle xmlns:cs="http://schemas.microsoft.com/office/drawing/2012/chartStyle" xmlns:a="http://schemas.openxmlformats.org/drawingml/2006/main" id="207">
  <cs:axisTitle>
    <cs:lnRef idx="0"/>
    <cs:fillRef idx="0"/>
    <cs:effectRef idx="0"/>
    <cs:fontRef idx="minor">
      <a:schemeClr val="tx2"/>
    </cs:fontRef>
    <cs:defRPr sz="1197"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1197" kern="1200"/>
  </cs:chartArea>
  <cs:dataLabel>
    <cs:lnRef idx="0"/>
    <cs:fillRef idx="0"/>
    <cs:effectRef idx="0"/>
    <cs:fontRef idx="minor">
      <a:schemeClr val="tx2"/>
    </cs:fontRef>
    <cs:defRPr sz="1197"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1197"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1197"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2128"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1197"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1197" kern="1200"/>
  </cs:valueAxis>
  <cs:wall>
    <cs:lnRef idx="0"/>
    <cs:fillRef idx="0"/>
    <cs:effectRef idx="0"/>
    <cs:fontRef idx="minor">
      <a:schemeClr val="tx2"/>
    </cs:fontRef>
  </cs:wall>
</cs:chartStyle>
</file>

<file path=ppt/charts/style5.xml><?xml version="1.0" encoding="utf-8"?>
<cs:chartStyle xmlns:cs="http://schemas.microsoft.com/office/drawing/2012/chartStyle" xmlns:a="http://schemas.openxmlformats.org/drawingml/2006/main" id="207">
  <cs:axisTitle>
    <cs:lnRef idx="0"/>
    <cs:fillRef idx="0"/>
    <cs:effectRef idx="0"/>
    <cs:fontRef idx="minor">
      <a:schemeClr val="tx2"/>
    </cs:fontRef>
    <cs:defRPr sz="1197"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1197" kern="1200"/>
  </cs:chartArea>
  <cs:dataLabel>
    <cs:lnRef idx="0"/>
    <cs:fillRef idx="0"/>
    <cs:effectRef idx="0"/>
    <cs:fontRef idx="minor">
      <a:schemeClr val="tx2"/>
    </cs:fontRef>
    <cs:defRPr sz="1197"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1197"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1197"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2128"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1197"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1197" kern="1200"/>
  </cs:valueAxis>
  <cs:wall>
    <cs:lnRef idx="0"/>
    <cs:fillRef idx="0"/>
    <cs:effectRef idx="0"/>
    <cs:fontRef idx="minor">
      <a:schemeClr val="tx2"/>
    </cs:fontRef>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8806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89BF9-E03F-7FE0-D10A-1905E072B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1FA28-8017-8C18-A54C-86B9A9B0D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10DFC-D906-6E5B-F458-3A3B6BA5D8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378261-F6DA-3C30-C741-4E0B04D07825}"/>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14450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B8D76-DE47-8FD3-80B3-6E75A52C4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319420-C33F-1E95-11D4-0DDDDDF41D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E5DAA-7DF2-D530-7A22-530AA3FB13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27C1ED-EB53-4068-F1CA-17663233DC23}"/>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8857806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C03C-F8F1-7A99-9331-0D7819AD8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A1820-3CC5-56B9-829F-75CBB0F3CA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07C6D2-A7B8-77A2-B6A1-B772B5EC6B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B140CA-276D-1918-536D-9F4A8AFD15E8}"/>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8748312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6BFC6-F809-8E1E-CF55-8FBD8C6DB1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BA27D-CCBD-50BD-2ED6-CAC3256C15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155E1-2D86-F753-A00F-14A173CFA6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94C28E-B10C-69BA-A765-F78EAE051F4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8052751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2F00-A33C-8819-135B-510FBB1DE9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90E95-5E61-4021-3032-A612694CA8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7BB8D-89E9-CF1D-6C88-495158B7C2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589CE2-34EF-C449-7D5E-9A986E033EA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0566158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D0DDA-E44B-9AF4-6D60-401FA037E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CA3E37-861F-0F36-1855-387F3EDBA5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6465AC-63E6-64AE-A050-55B53AD6CC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0B6035-1E2A-5043-3943-B21C48F5DCB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2539963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AA6FA-936B-FEE9-CF7B-FA3AD614D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A9E94-DF5B-8FCB-5406-D64FE5F55D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FF32A-F1D3-B592-D84C-4611CF06D1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58715-D74D-B853-B282-67F2B0BBA20D}"/>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5702726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chart" Target="../charts/chart9.xml"/><Relationship Id="rId4" Type="http://schemas.openxmlformats.org/officeDocument/2006/relationships/chart" Target="../charts/chart8.xml"/></Relationships>
</file>

<file path=ppt/slides/_rels/slide1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chart" Target="../charts/chart14.xml"/><Relationship Id="rId4" Type="http://schemas.openxmlformats.org/officeDocument/2006/relationships/chart" Target="../charts/char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4343400" cy="6858000"/>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4343400" y="0"/>
            <a:ext cx="7848295" cy="6858000"/>
          </a:xfrm>
          <a:prstGeom prst="rect">
            <a:avLst/>
          </a:prstGeom>
          <a:solidFill>
            <a:srgbClr val="F5F7FA"/>
          </a:solidFill>
          <a:ln w="12700">
            <a:solidFill>
              <a:srgbClr val="F5F7FA">
                <a:alpha val="0"/>
              </a:srgbClr>
            </a:solidFill>
            <a:prstDash val="solid"/>
          </a:ln>
        </p:spPr>
        <p:txBody>
          <a:bodyPr/>
          <a:lstStyle/>
          <a:p>
            <a:endParaRPr lang="en-US"/>
          </a:p>
        </p:txBody>
      </p:sp>
      <p:sp>
        <p:nvSpPr>
          <p:cNvPr id="4" name="Text 2"/>
          <p:cNvSpPr/>
          <p:nvPr/>
        </p:nvSpPr>
        <p:spPr>
          <a:xfrm>
            <a:off x="640080" y="868680"/>
            <a:ext cx="3154680" cy="2468880"/>
          </a:xfrm>
          <a:prstGeom prst="rect">
            <a:avLst/>
          </a:prstGeom>
          <a:noFill/>
          <a:ln/>
        </p:spPr>
        <p:txBody>
          <a:bodyPr wrap="square" lIns="0" tIns="0" rIns="0" bIns="0" rtlCol="0" anchor="ctr"/>
          <a:lstStyle/>
          <a:p>
            <a:pPr marL="0" indent="0">
              <a:buNone/>
            </a:pPr>
            <a:r>
              <a:rPr lang="en-US" sz="2600" b="1" dirty="0">
                <a:solidFill>
                  <a:srgbClr val="FFFFFF"/>
                </a:solidFill>
                <a:latin typeface="Aptos Display" pitchFamily="34" charset="0"/>
                <a:ea typeface="Aptos Display" pitchFamily="34" charset="-122"/>
                <a:cs typeface="Aptos Display" pitchFamily="34" charset="-120"/>
              </a:rPr>
              <a:t>TRANSPLANT</a:t>
            </a:r>
            <a:endParaRPr lang="en-US" sz="2600" dirty="0"/>
          </a:p>
          <a:p>
            <a:pPr marL="0" indent="0">
              <a:buNone/>
            </a:pPr>
            <a:r>
              <a:rPr lang="en-US" sz="2600" b="1" dirty="0">
                <a:solidFill>
                  <a:srgbClr val="FFFFFF"/>
                </a:solidFill>
                <a:latin typeface="Aptos Display" pitchFamily="34" charset="0"/>
                <a:ea typeface="Aptos Display" pitchFamily="34" charset="-122"/>
                <a:cs typeface="Aptos Display" pitchFamily="34" charset="-120"/>
              </a:rPr>
              <a:t>EQUITY IN</a:t>
            </a:r>
            <a:endParaRPr lang="en-US" sz="2600" dirty="0"/>
          </a:p>
          <a:p>
            <a:pPr marL="0" indent="0">
              <a:buNone/>
            </a:pPr>
            <a:r>
              <a:rPr lang="en-US" sz="2600" b="1" dirty="0">
                <a:solidFill>
                  <a:srgbClr val="FFFFFF"/>
                </a:solidFill>
                <a:latin typeface="Aptos Display" pitchFamily="34" charset="0"/>
                <a:ea typeface="Aptos Display" pitchFamily="34" charset="-122"/>
                <a:cs typeface="Aptos Display" pitchFamily="34" charset="-120"/>
              </a:rPr>
              <a:t>THE U.S.</a:t>
            </a:r>
            <a:endParaRPr lang="en-US" sz="2600" dirty="0"/>
          </a:p>
        </p:txBody>
      </p:sp>
      <p:sp>
        <p:nvSpPr>
          <p:cNvPr id="5" name="Text 3"/>
          <p:cNvSpPr/>
          <p:nvPr/>
        </p:nvSpPr>
        <p:spPr>
          <a:xfrm>
            <a:off x="4892040" y="1325880"/>
            <a:ext cx="6217920" cy="731520"/>
          </a:xfrm>
          <a:prstGeom prst="rect">
            <a:avLst/>
          </a:prstGeom>
          <a:noFill/>
          <a:ln/>
        </p:spPr>
        <p:txBody>
          <a:bodyPr wrap="square" lIns="0" tIns="0" rIns="0" bIns="0" rtlCol="0" anchor="ctr"/>
          <a:lstStyle/>
          <a:p>
            <a:pPr marL="0" indent="0">
              <a:buNone/>
            </a:pPr>
            <a:r>
              <a:rPr lang="en-US" sz="2600" b="1" dirty="0">
                <a:solidFill>
                  <a:srgbClr val="16324F"/>
                </a:solidFill>
                <a:latin typeface="Aptos Display" pitchFamily="34" charset="0"/>
                <a:ea typeface="Aptos Display" pitchFamily="34" charset="-122"/>
                <a:cs typeface="Aptos Display" pitchFamily="34" charset="-120"/>
              </a:rPr>
              <a:t>Disparities in access to heart, kidney, and lung transplants</a:t>
            </a:r>
            <a:endParaRPr lang="en-US" sz="2600" dirty="0"/>
          </a:p>
        </p:txBody>
      </p:sp>
      <p:sp>
        <p:nvSpPr>
          <p:cNvPr id="6" name="Text 4"/>
          <p:cNvSpPr/>
          <p:nvPr/>
        </p:nvSpPr>
        <p:spPr>
          <a:xfrm>
            <a:off x="4919472" y="2240280"/>
            <a:ext cx="5669280" cy="502920"/>
          </a:xfrm>
          <a:prstGeom prst="rect">
            <a:avLst/>
          </a:prstGeom>
          <a:noFill/>
          <a:ln/>
        </p:spPr>
        <p:txBody>
          <a:bodyPr wrap="square" lIns="0" tIns="0" rIns="0" bIns="0" rtlCol="0" anchor="ctr"/>
          <a:lstStyle/>
          <a:p>
            <a:pPr marL="0" indent="0">
              <a:buNone/>
            </a:pPr>
            <a:r>
              <a:rPr lang="en-US" sz="1500" dirty="0">
                <a:solidFill>
                  <a:srgbClr val="243240"/>
                </a:solidFill>
                <a:latin typeface="Aptos" pitchFamily="34" charset="0"/>
                <a:ea typeface="Aptos" pitchFamily="34" charset="-122"/>
                <a:cs typeface="Aptos" pitchFamily="34" charset="-120"/>
              </a:rPr>
              <a:t>Capstone presentation built from the waitlist, candidate waiting-time, CDC mortality, and Census datasets.</a:t>
            </a:r>
            <a:endParaRPr lang="en-US" sz="1500" dirty="0"/>
          </a:p>
        </p:txBody>
      </p:sp>
      <p:sp>
        <p:nvSpPr>
          <p:cNvPr id="7" name="Text 5"/>
          <p:cNvSpPr/>
          <p:nvPr/>
        </p:nvSpPr>
        <p:spPr>
          <a:xfrm>
            <a:off x="4919472" y="2926080"/>
            <a:ext cx="5303520" cy="237744"/>
          </a:xfrm>
          <a:prstGeom prst="rect">
            <a:avLst/>
          </a:prstGeom>
          <a:noFill/>
          <a:ln/>
        </p:spPr>
        <p:txBody>
          <a:bodyPr wrap="square" lIns="0" tIns="0" rIns="0" bIns="0" rtlCol="0" anchor="ctr"/>
          <a:lstStyle/>
          <a:p>
            <a:pPr marL="0" indent="0">
              <a:buNone/>
            </a:pPr>
            <a:r>
              <a:rPr lang="en-US" sz="1300" b="1" dirty="0">
                <a:solidFill>
                  <a:srgbClr val="345995"/>
                </a:solidFill>
                <a:latin typeface="Aptos" pitchFamily="34" charset="0"/>
                <a:ea typeface="Aptos" pitchFamily="34" charset="-122"/>
                <a:cs typeface="Aptos" pitchFamily="34" charset="-120"/>
              </a:rPr>
              <a:t>Focus: access burden, long waits, regional context, and measurement limits</a:t>
            </a:r>
            <a:endParaRPr lang="en-US" sz="1300" dirty="0"/>
          </a:p>
        </p:txBody>
      </p:sp>
      <p:sp>
        <p:nvSpPr>
          <p:cNvPr id="8" name="Shape 6"/>
          <p:cNvSpPr/>
          <p:nvPr/>
        </p:nvSpPr>
        <p:spPr>
          <a:xfrm>
            <a:off x="4919472" y="3310128"/>
            <a:ext cx="1417320" cy="0"/>
          </a:xfrm>
          <a:prstGeom prst="line">
            <a:avLst/>
          </a:prstGeom>
          <a:noFill/>
          <a:ln w="12700">
            <a:solidFill>
              <a:srgbClr val="345995"/>
            </a:solidFill>
            <a:prstDash val="solid"/>
          </a:ln>
        </p:spPr>
        <p:txBody>
          <a:bodyPr/>
          <a:lstStyle/>
          <a:p>
            <a:endParaRPr lang="en-US"/>
          </a:p>
        </p:txBody>
      </p:sp>
      <p:sp>
        <p:nvSpPr>
          <p:cNvPr id="9" name="Text 7"/>
          <p:cNvSpPr/>
          <p:nvPr/>
        </p:nvSpPr>
        <p:spPr>
          <a:xfrm>
            <a:off x="4919472" y="3657600"/>
            <a:ext cx="2834640" cy="219456"/>
          </a:xfrm>
          <a:prstGeom prst="rect">
            <a:avLst/>
          </a:prstGeom>
          <a:noFill/>
          <a:ln/>
        </p:spPr>
        <p:txBody>
          <a:bodyPr wrap="square" lIns="0" tIns="0" rIns="0" bIns="0" rtlCol="0" anchor="ctr"/>
          <a:lstStyle/>
          <a:p>
            <a:pPr marL="0" indent="0">
              <a:buNone/>
            </a:pPr>
            <a:r>
              <a:rPr lang="en-US" sz="1700" b="1" dirty="0">
                <a:solidFill>
                  <a:srgbClr val="29435C"/>
                </a:solidFill>
              </a:rPr>
              <a:t>Heart • Kidney • Lung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PROJECT FRAME</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Research questions and scope</a:t>
            </a:r>
            <a:endParaRPr lang="en-US" sz="2500" dirty="0"/>
          </a:p>
        </p:txBody>
      </p:sp>
      <p:sp>
        <p:nvSpPr>
          <p:cNvPr id="6" name="Shape 4"/>
          <p:cNvSpPr/>
          <p:nvPr/>
        </p:nvSpPr>
        <p:spPr>
          <a:xfrm>
            <a:off x="594360" y="1234440"/>
            <a:ext cx="5440680" cy="1051560"/>
          </a:xfrm>
          <a:prstGeom prst="roundRect">
            <a:avLst>
              <a:gd name="adj" fmla="val 6957"/>
            </a:avLst>
          </a:prstGeom>
          <a:solidFill>
            <a:srgbClr val="FFFFFF"/>
          </a:solidFill>
          <a:ln w="12700">
            <a:solidFill>
              <a:srgbClr val="345995"/>
            </a:solidFill>
            <a:prstDash val="solid"/>
          </a:ln>
        </p:spPr>
        <p:txBody>
          <a:bodyPr/>
          <a:lstStyle/>
          <a:p>
            <a:endParaRPr lang="en-US"/>
          </a:p>
        </p:txBody>
      </p:sp>
      <p:sp>
        <p:nvSpPr>
          <p:cNvPr id="7" name="Shape 5"/>
          <p:cNvSpPr/>
          <p:nvPr/>
        </p:nvSpPr>
        <p:spPr>
          <a:xfrm>
            <a:off x="594360" y="1234440"/>
            <a:ext cx="109728" cy="1051560"/>
          </a:xfrm>
          <a:prstGeom prst="rect">
            <a:avLst/>
          </a:prstGeom>
          <a:solidFill>
            <a:srgbClr val="345995"/>
          </a:solidFill>
          <a:ln w="12700">
            <a:solidFill>
              <a:srgbClr val="345995">
                <a:alpha val="0"/>
              </a:srgbClr>
            </a:solidFill>
            <a:prstDash val="solid"/>
          </a:ln>
        </p:spPr>
        <p:txBody>
          <a:bodyPr/>
          <a:lstStyle/>
          <a:p>
            <a:endParaRPr lang="en-US"/>
          </a:p>
        </p:txBody>
      </p:sp>
      <p:sp>
        <p:nvSpPr>
          <p:cNvPr id="8" name="Text 6"/>
          <p:cNvSpPr/>
          <p:nvPr/>
        </p:nvSpPr>
        <p:spPr>
          <a:xfrm>
            <a:off x="795528" y="1362456"/>
            <a:ext cx="5129784" cy="201168"/>
          </a:xfrm>
          <a:prstGeom prst="rect">
            <a:avLst/>
          </a:prstGeom>
          <a:noFill/>
          <a:ln/>
        </p:spPr>
        <p:txBody>
          <a:bodyPr wrap="square" lIns="0" tIns="0" rIns="0" bIns="0" rtlCol="0" anchor="ctr"/>
          <a:lstStyle/>
          <a:p>
            <a:pPr marL="0" indent="0">
              <a:buNone/>
            </a:pPr>
            <a:r>
              <a:rPr lang="en-US" sz="1400" b="1" dirty="0">
                <a:solidFill>
                  <a:srgbClr val="16324F"/>
                </a:solidFill>
              </a:rPr>
              <a:t>Primary question</a:t>
            </a:r>
            <a:endParaRPr lang="en-US" sz="1400" dirty="0"/>
          </a:p>
        </p:txBody>
      </p:sp>
      <p:sp>
        <p:nvSpPr>
          <p:cNvPr id="9" name="Text 7"/>
          <p:cNvSpPr/>
          <p:nvPr/>
        </p:nvSpPr>
        <p:spPr>
          <a:xfrm>
            <a:off x="795528" y="1618488"/>
            <a:ext cx="5129784" cy="557784"/>
          </a:xfrm>
          <a:prstGeom prst="rect">
            <a:avLst/>
          </a:prstGeom>
          <a:noFill/>
          <a:ln/>
        </p:spPr>
        <p:txBody>
          <a:bodyPr wrap="square" lIns="0" tIns="0" rIns="0" bIns="0" rtlCol="0" anchor="t"/>
          <a:lstStyle/>
          <a:p>
            <a:pPr marL="0" indent="0">
              <a:buNone/>
            </a:pPr>
            <a:r>
              <a:rPr lang="en-US" sz="1150" dirty="0">
                <a:solidFill>
                  <a:srgbClr val="243240"/>
                </a:solidFill>
              </a:rPr>
              <a:t>Are there measurable disparities in access to heart, kidney, and lung transplants in the United States based on demographic, socioeconomic, and geographic factors?</a:t>
            </a:r>
            <a:endParaRPr lang="en-US" sz="1150" dirty="0"/>
          </a:p>
        </p:txBody>
      </p:sp>
      <p:sp>
        <p:nvSpPr>
          <p:cNvPr id="10" name="Text 8"/>
          <p:cNvSpPr/>
          <p:nvPr/>
        </p:nvSpPr>
        <p:spPr>
          <a:xfrm>
            <a:off x="822960" y="2578608"/>
            <a:ext cx="5120640" cy="2286000"/>
          </a:xfrm>
          <a:prstGeom prst="rect">
            <a:avLst/>
          </a:prstGeom>
          <a:noFill/>
          <a:ln/>
        </p:spPr>
        <p:txBody>
          <a:bodyPr wrap="square" lIns="508" tIns="508" rIns="508" bIns="508" rtlCol="0" anchor="t"/>
          <a:lstStyle/>
          <a:p>
            <a:pPr marL="228600" indent="-228600">
              <a:buSzPct val="100000"/>
              <a:buChar char="•"/>
            </a:pPr>
            <a:r>
              <a:rPr lang="en-US" sz="1800" dirty="0">
                <a:solidFill>
                  <a:srgbClr val="243240"/>
                </a:solidFill>
                <a:latin typeface="Aptos" pitchFamily="34" charset="0"/>
                <a:ea typeface="Aptos" pitchFamily="34" charset="-122"/>
                <a:cs typeface="Aptos" pitchFamily="34" charset="-120"/>
              </a:rPr>
              <a:t>Do transplant access patterns differ by race, ethnicity, sex, or age?</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Are long waits uneven across demographic or geographic groups?</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How do insurance status or region relate to the likelihood of reaching transplant?</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Are outcome-related measures distributed unevenly across groups?</a:t>
            </a:r>
            <a:endParaRPr lang="en-US" sz="1800" dirty="0"/>
          </a:p>
        </p:txBody>
      </p:sp>
      <p:sp>
        <p:nvSpPr>
          <p:cNvPr id="11" name="Shape 9"/>
          <p:cNvSpPr/>
          <p:nvPr/>
        </p:nvSpPr>
        <p:spPr>
          <a:xfrm>
            <a:off x="6217920" y="2011680"/>
            <a:ext cx="960120" cy="566928"/>
          </a:xfrm>
          <a:prstGeom prst="chevron">
            <a:avLst/>
          </a:prstGeom>
          <a:solidFill>
            <a:srgbClr val="345995"/>
          </a:solidFill>
          <a:ln w="12700">
            <a:solidFill>
              <a:srgbClr val="345995">
                <a:alpha val="0"/>
              </a:srgbClr>
            </a:solidFill>
            <a:prstDash val="solid"/>
          </a:ln>
        </p:spPr>
        <p:txBody>
          <a:bodyPr/>
          <a:lstStyle/>
          <a:p>
            <a:endParaRPr lang="en-US"/>
          </a:p>
        </p:txBody>
      </p:sp>
      <p:sp>
        <p:nvSpPr>
          <p:cNvPr id="12" name="Shape 10"/>
          <p:cNvSpPr/>
          <p:nvPr/>
        </p:nvSpPr>
        <p:spPr>
          <a:xfrm>
            <a:off x="7333488" y="1463040"/>
            <a:ext cx="4160520" cy="1234440"/>
          </a:xfrm>
          <a:prstGeom prst="roundRect">
            <a:avLst>
              <a:gd name="adj" fmla="val 5926"/>
            </a:avLst>
          </a:prstGeom>
          <a:solidFill>
            <a:srgbClr val="FFFFFF"/>
          </a:solidFill>
          <a:ln w="12700">
            <a:solidFill>
              <a:srgbClr val="3A7D44"/>
            </a:solidFill>
            <a:prstDash val="solid"/>
          </a:ln>
        </p:spPr>
        <p:txBody>
          <a:bodyPr/>
          <a:lstStyle/>
          <a:p>
            <a:endParaRPr lang="en-US"/>
          </a:p>
        </p:txBody>
      </p:sp>
      <p:sp>
        <p:nvSpPr>
          <p:cNvPr id="13" name="Shape 11"/>
          <p:cNvSpPr/>
          <p:nvPr/>
        </p:nvSpPr>
        <p:spPr>
          <a:xfrm>
            <a:off x="7333488" y="1463040"/>
            <a:ext cx="109728" cy="1234440"/>
          </a:xfrm>
          <a:prstGeom prst="rect">
            <a:avLst/>
          </a:prstGeom>
          <a:solidFill>
            <a:srgbClr val="3A7D44"/>
          </a:solidFill>
          <a:ln w="12700">
            <a:solidFill>
              <a:srgbClr val="3A7D44">
                <a:alpha val="0"/>
              </a:srgbClr>
            </a:solidFill>
            <a:prstDash val="solid"/>
          </a:ln>
        </p:spPr>
        <p:txBody>
          <a:bodyPr/>
          <a:lstStyle/>
          <a:p>
            <a:endParaRPr lang="en-US"/>
          </a:p>
        </p:txBody>
      </p:sp>
      <p:sp>
        <p:nvSpPr>
          <p:cNvPr id="14" name="Text 12"/>
          <p:cNvSpPr/>
          <p:nvPr/>
        </p:nvSpPr>
        <p:spPr>
          <a:xfrm>
            <a:off x="7534656" y="1591056"/>
            <a:ext cx="3849624" cy="201168"/>
          </a:xfrm>
          <a:prstGeom prst="rect">
            <a:avLst/>
          </a:prstGeom>
          <a:noFill/>
          <a:ln/>
        </p:spPr>
        <p:txBody>
          <a:bodyPr wrap="square" lIns="0" tIns="0" rIns="0" bIns="0" rtlCol="0" anchor="ctr"/>
          <a:lstStyle/>
          <a:p>
            <a:pPr marL="0" indent="0">
              <a:buNone/>
            </a:pPr>
            <a:r>
              <a:rPr lang="en-US" sz="1400" b="1" dirty="0">
                <a:solidFill>
                  <a:srgbClr val="16324F"/>
                </a:solidFill>
              </a:rPr>
              <a:t>What this deck can measure now</a:t>
            </a:r>
            <a:endParaRPr lang="en-US" sz="1400" dirty="0"/>
          </a:p>
        </p:txBody>
      </p:sp>
      <p:sp>
        <p:nvSpPr>
          <p:cNvPr id="15" name="Text 13"/>
          <p:cNvSpPr/>
          <p:nvPr/>
        </p:nvSpPr>
        <p:spPr>
          <a:xfrm>
            <a:off x="7534656" y="1847088"/>
            <a:ext cx="3849624" cy="740664"/>
          </a:xfrm>
          <a:prstGeom prst="rect">
            <a:avLst/>
          </a:prstGeom>
          <a:noFill/>
          <a:ln/>
        </p:spPr>
        <p:txBody>
          <a:bodyPr wrap="square" lIns="0" tIns="0" rIns="0" bIns="0" rtlCol="0" anchor="t"/>
          <a:lstStyle/>
          <a:p>
            <a:pPr marL="0" indent="0">
              <a:buNone/>
            </a:pPr>
            <a:r>
              <a:rPr lang="en-US" sz="1150" dirty="0">
                <a:solidFill>
                  <a:srgbClr val="243240"/>
                </a:solidFill>
              </a:rPr>
              <a:t>Aggregated differences in waitlist burden, long-wait shares, race/ethnicity wait-time distributions, and ecological regional context.</a:t>
            </a:r>
            <a:endParaRPr lang="en-US" sz="1150" dirty="0"/>
          </a:p>
        </p:txBody>
      </p:sp>
      <p:sp>
        <p:nvSpPr>
          <p:cNvPr id="16" name="Shape 14"/>
          <p:cNvSpPr/>
          <p:nvPr/>
        </p:nvSpPr>
        <p:spPr>
          <a:xfrm>
            <a:off x="7333488" y="2880360"/>
            <a:ext cx="4160520" cy="1234440"/>
          </a:xfrm>
          <a:prstGeom prst="roundRect">
            <a:avLst>
              <a:gd name="adj" fmla="val 5926"/>
            </a:avLst>
          </a:prstGeom>
          <a:solidFill>
            <a:srgbClr val="FFFFFF"/>
          </a:solidFill>
          <a:ln w="12700">
            <a:solidFill>
              <a:srgbClr val="C17C29"/>
            </a:solidFill>
            <a:prstDash val="solid"/>
          </a:ln>
        </p:spPr>
        <p:txBody>
          <a:bodyPr/>
          <a:lstStyle/>
          <a:p>
            <a:endParaRPr lang="en-US"/>
          </a:p>
        </p:txBody>
      </p:sp>
      <p:sp>
        <p:nvSpPr>
          <p:cNvPr id="17" name="Shape 15"/>
          <p:cNvSpPr/>
          <p:nvPr/>
        </p:nvSpPr>
        <p:spPr>
          <a:xfrm>
            <a:off x="7333488" y="2880360"/>
            <a:ext cx="109728" cy="1234440"/>
          </a:xfrm>
          <a:prstGeom prst="rect">
            <a:avLst/>
          </a:prstGeom>
          <a:solidFill>
            <a:srgbClr val="C17C29"/>
          </a:solidFill>
          <a:ln w="12700">
            <a:solidFill>
              <a:srgbClr val="C17C29">
                <a:alpha val="0"/>
              </a:srgbClr>
            </a:solidFill>
            <a:prstDash val="solid"/>
          </a:ln>
        </p:spPr>
        <p:txBody>
          <a:bodyPr/>
          <a:lstStyle/>
          <a:p>
            <a:endParaRPr lang="en-US"/>
          </a:p>
        </p:txBody>
      </p:sp>
      <p:sp>
        <p:nvSpPr>
          <p:cNvPr id="18" name="Text 16"/>
          <p:cNvSpPr/>
          <p:nvPr/>
        </p:nvSpPr>
        <p:spPr>
          <a:xfrm>
            <a:off x="7534656" y="3008376"/>
            <a:ext cx="3849624" cy="201168"/>
          </a:xfrm>
          <a:prstGeom prst="rect">
            <a:avLst/>
          </a:prstGeom>
          <a:noFill/>
          <a:ln/>
        </p:spPr>
        <p:txBody>
          <a:bodyPr wrap="square" lIns="0" tIns="0" rIns="0" bIns="0" rtlCol="0" anchor="ctr"/>
          <a:lstStyle/>
          <a:p>
            <a:pPr marL="0" indent="0">
              <a:buNone/>
            </a:pPr>
            <a:r>
              <a:rPr lang="en-US" sz="1400" b="1" dirty="0">
                <a:solidFill>
                  <a:srgbClr val="16324F"/>
                </a:solidFill>
              </a:rPr>
              <a:t>What it cannot measure yet</a:t>
            </a:r>
            <a:endParaRPr lang="en-US" sz="1400" dirty="0"/>
          </a:p>
        </p:txBody>
      </p:sp>
      <p:sp>
        <p:nvSpPr>
          <p:cNvPr id="19" name="Text 17"/>
          <p:cNvSpPr/>
          <p:nvPr/>
        </p:nvSpPr>
        <p:spPr>
          <a:xfrm>
            <a:off x="7534656" y="3264408"/>
            <a:ext cx="3849624" cy="740664"/>
          </a:xfrm>
          <a:prstGeom prst="rect">
            <a:avLst/>
          </a:prstGeom>
          <a:noFill/>
          <a:ln/>
        </p:spPr>
        <p:txBody>
          <a:bodyPr wrap="square" lIns="0" tIns="0" rIns="0" bIns="0" rtlCol="0" anchor="t"/>
          <a:lstStyle/>
          <a:p>
            <a:pPr marL="0" indent="0">
              <a:buNone/>
            </a:pPr>
            <a:r>
              <a:rPr lang="en-US" sz="1150" dirty="0">
                <a:solidFill>
                  <a:srgbClr val="243240"/>
                </a:solidFill>
              </a:rPr>
              <a:t>Patient-level receipt of transplant, time-to-transplant, or mortality while waiting. Those require candidate-level IDs plus listing and event dates.</a:t>
            </a:r>
            <a:endParaRPr lang="en-US" sz="1150" dirty="0"/>
          </a:p>
        </p:txBody>
      </p:sp>
      <p:sp>
        <p:nvSpPr>
          <p:cNvPr id="20" name="Shape 18"/>
          <p:cNvSpPr/>
          <p:nvPr/>
        </p:nvSpPr>
        <p:spPr>
          <a:xfrm>
            <a:off x="7333488" y="4297680"/>
            <a:ext cx="4160520" cy="1051560"/>
          </a:xfrm>
          <a:prstGeom prst="roundRect">
            <a:avLst>
              <a:gd name="adj" fmla="val 6957"/>
            </a:avLst>
          </a:prstGeom>
          <a:solidFill>
            <a:srgbClr val="FFFFFF"/>
          </a:solidFill>
          <a:ln w="12700">
            <a:solidFill>
              <a:srgbClr val="B84A62"/>
            </a:solidFill>
            <a:prstDash val="solid"/>
          </a:ln>
        </p:spPr>
        <p:txBody>
          <a:bodyPr/>
          <a:lstStyle/>
          <a:p>
            <a:endParaRPr lang="en-US"/>
          </a:p>
        </p:txBody>
      </p:sp>
      <p:sp>
        <p:nvSpPr>
          <p:cNvPr id="21" name="Shape 19"/>
          <p:cNvSpPr/>
          <p:nvPr/>
        </p:nvSpPr>
        <p:spPr>
          <a:xfrm>
            <a:off x="7333488" y="4297680"/>
            <a:ext cx="109728" cy="1051560"/>
          </a:xfrm>
          <a:prstGeom prst="rect">
            <a:avLst/>
          </a:prstGeom>
          <a:solidFill>
            <a:srgbClr val="B84A62"/>
          </a:solidFill>
          <a:ln w="12700">
            <a:solidFill>
              <a:srgbClr val="B84A62">
                <a:alpha val="0"/>
              </a:srgbClr>
            </a:solidFill>
            <a:prstDash val="solid"/>
          </a:ln>
        </p:spPr>
        <p:txBody>
          <a:bodyPr/>
          <a:lstStyle/>
          <a:p>
            <a:endParaRPr lang="en-US"/>
          </a:p>
        </p:txBody>
      </p:sp>
      <p:sp>
        <p:nvSpPr>
          <p:cNvPr id="22" name="Text 20"/>
          <p:cNvSpPr/>
          <p:nvPr/>
        </p:nvSpPr>
        <p:spPr>
          <a:xfrm>
            <a:off x="7534656" y="4425696"/>
            <a:ext cx="3849624" cy="201168"/>
          </a:xfrm>
          <a:prstGeom prst="rect">
            <a:avLst/>
          </a:prstGeom>
          <a:noFill/>
          <a:ln/>
        </p:spPr>
        <p:txBody>
          <a:bodyPr wrap="square" lIns="0" tIns="0" rIns="0" bIns="0" rtlCol="0" anchor="ctr"/>
          <a:lstStyle/>
          <a:p>
            <a:pPr marL="0" indent="0">
              <a:buNone/>
            </a:pPr>
            <a:r>
              <a:rPr lang="en-US" sz="1400" b="1" dirty="0">
                <a:solidFill>
                  <a:srgbClr val="16324F"/>
                </a:solidFill>
              </a:rPr>
              <a:t>Practical implication</a:t>
            </a:r>
            <a:endParaRPr lang="en-US" sz="1400" dirty="0"/>
          </a:p>
        </p:txBody>
      </p:sp>
      <p:sp>
        <p:nvSpPr>
          <p:cNvPr id="23" name="Text 21"/>
          <p:cNvSpPr/>
          <p:nvPr/>
        </p:nvSpPr>
        <p:spPr>
          <a:xfrm>
            <a:off x="7534656" y="4681728"/>
            <a:ext cx="3849624" cy="557784"/>
          </a:xfrm>
          <a:prstGeom prst="rect">
            <a:avLst/>
          </a:prstGeom>
          <a:noFill/>
          <a:ln/>
        </p:spPr>
        <p:txBody>
          <a:bodyPr wrap="square" lIns="0" tIns="0" rIns="0" bIns="0" rtlCol="0" anchor="t"/>
          <a:lstStyle/>
          <a:p>
            <a:pPr marL="0" indent="0">
              <a:buNone/>
            </a:pPr>
            <a:r>
              <a:rPr lang="en-US" sz="1150" dirty="0">
                <a:solidFill>
                  <a:srgbClr val="243240"/>
                </a:solidFill>
              </a:rPr>
              <a:t>This is an equity-screening presentation: it identifies where disparities appear largest and where deeper causal analysis should go next.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826D4DB1-27FB-65DC-7C70-2421883A529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C56724F-8215-ECC1-8DBF-1491AA5BB5B2}"/>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85F31727-0A9E-3BF8-9158-71E0D15BB7A0}"/>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5" name="Text 3">
            <a:extLst>
              <a:ext uri="{FF2B5EF4-FFF2-40B4-BE49-F238E27FC236}">
                <a16:creationId xmlns:a16="http://schemas.microsoft.com/office/drawing/2014/main" id="{681BFDD3-A2D5-C928-1B48-03B5A156744E}"/>
              </a:ext>
            </a:extLst>
          </p:cNvPr>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rPr>
              <a:t>REGISTRATION AND CANDIDATES </a:t>
            </a:r>
            <a:endParaRPr lang="en-US" sz="2500" dirty="0"/>
          </a:p>
        </p:txBody>
      </p:sp>
      <p:sp>
        <p:nvSpPr>
          <p:cNvPr id="10" name="Shape 8">
            <a:extLst>
              <a:ext uri="{FF2B5EF4-FFF2-40B4-BE49-F238E27FC236}">
                <a16:creationId xmlns:a16="http://schemas.microsoft.com/office/drawing/2014/main" id="{1709F33E-A0D2-B540-4D06-85D502BA8494}"/>
              </a:ext>
            </a:extLst>
          </p:cNvPr>
          <p:cNvSpPr/>
          <p:nvPr/>
        </p:nvSpPr>
        <p:spPr>
          <a:xfrm>
            <a:off x="502920" y="1152144"/>
            <a:ext cx="11475720" cy="5385816"/>
          </a:xfrm>
          <a:prstGeom prst="roundRect">
            <a:avLst>
              <a:gd name="adj" fmla="val 3902"/>
            </a:avLst>
          </a:prstGeom>
          <a:solidFill>
            <a:srgbClr val="FFFFFF"/>
          </a:solidFill>
          <a:ln w="12700">
            <a:solidFill>
              <a:srgbClr val="3A7D44"/>
            </a:solidFill>
            <a:prstDash val="solid"/>
          </a:ln>
        </p:spPr>
        <p:txBody>
          <a:bodyPr/>
          <a:lstStyle/>
          <a:p>
            <a:r>
              <a:rPr lang="en-US" b="1" dirty="0"/>
              <a:t>Registrations</a:t>
            </a:r>
            <a:endParaRPr lang="en-US" dirty="0"/>
          </a:p>
          <a:p>
            <a:pPr lvl="0"/>
            <a:r>
              <a:rPr lang="en-US" dirty="0"/>
              <a:t>A </a:t>
            </a:r>
            <a:r>
              <a:rPr lang="en-US" b="1" dirty="0"/>
              <a:t>registration = one listing on a waiting list</a:t>
            </a:r>
            <a:r>
              <a:rPr lang="en-US" dirty="0"/>
              <a:t>.</a:t>
            </a:r>
          </a:p>
          <a:p>
            <a:pPr lvl="0"/>
            <a:r>
              <a:rPr lang="en-US" dirty="0"/>
              <a:t>If the same patient is:</a:t>
            </a:r>
          </a:p>
          <a:p>
            <a:pPr lvl="1"/>
            <a:r>
              <a:rPr lang="en-US" dirty="0"/>
              <a:t>listed at </a:t>
            </a:r>
            <a:r>
              <a:rPr lang="en-US" b="1" dirty="0"/>
              <a:t>more than one transplant center</a:t>
            </a:r>
            <a:r>
              <a:rPr lang="en-US" dirty="0"/>
              <a:t>, and/or</a:t>
            </a:r>
          </a:p>
          <a:p>
            <a:pPr lvl="1"/>
            <a:r>
              <a:rPr lang="en-US" dirty="0"/>
              <a:t>listed for </a:t>
            </a:r>
            <a:r>
              <a:rPr lang="en-US" b="1" dirty="0"/>
              <a:t>more than one organ</a:t>
            </a:r>
            <a:r>
              <a:rPr lang="en-US" dirty="0"/>
              <a:t> (e.g., kidney and pancreas),</a:t>
            </a:r>
            <a:br>
              <a:rPr lang="en-US" dirty="0"/>
            </a:br>
            <a:r>
              <a:rPr lang="en-US" dirty="0"/>
              <a:t>then that patient will have </a:t>
            </a:r>
            <a:r>
              <a:rPr lang="en-US" b="1" dirty="0"/>
              <a:t>multiple registrations</a:t>
            </a:r>
            <a:r>
              <a:rPr lang="en-US" dirty="0"/>
              <a:t>.</a:t>
            </a:r>
            <a:br>
              <a:rPr lang="en-US" dirty="0"/>
            </a:br>
            <a:r>
              <a:rPr lang="en-US" dirty="0"/>
              <a:t>✅ So </a:t>
            </a:r>
            <a:r>
              <a:rPr lang="en-US" b="1" dirty="0"/>
              <a:t>registrations can count the same person more than once</a:t>
            </a:r>
            <a:r>
              <a:rPr lang="en-US" dirty="0"/>
              <a:t>.</a:t>
            </a:r>
          </a:p>
          <a:p>
            <a:r>
              <a:rPr lang="en-US" b="1" dirty="0"/>
              <a:t>Example:</a:t>
            </a:r>
            <a:br>
              <a:rPr lang="en-US" dirty="0"/>
            </a:br>
            <a:r>
              <a:rPr lang="en-US" dirty="0"/>
              <a:t>One patient listed for Kidney at Center A and Kidney at Center B → </a:t>
            </a:r>
            <a:r>
              <a:rPr lang="en-US" b="1" dirty="0"/>
              <a:t>2 registrations</a:t>
            </a:r>
            <a:r>
              <a:rPr lang="en-US" dirty="0"/>
              <a:t>.</a:t>
            </a:r>
            <a:br>
              <a:rPr lang="en-US" dirty="0"/>
            </a:br>
            <a:r>
              <a:rPr lang="en-US" dirty="0"/>
              <a:t>If also listed for Lungs → could be </a:t>
            </a:r>
            <a:r>
              <a:rPr lang="en-US" b="1" dirty="0"/>
              <a:t>3 registrations</a:t>
            </a:r>
            <a:r>
              <a:rPr lang="en-US" dirty="0"/>
              <a:t> (depending on how listed).</a:t>
            </a:r>
          </a:p>
          <a:p>
            <a:endParaRPr lang="en-US" dirty="0"/>
          </a:p>
          <a:p>
            <a:r>
              <a:rPr lang="en-US" b="1" dirty="0"/>
              <a:t>Candidates</a:t>
            </a:r>
            <a:endParaRPr lang="en-US" dirty="0"/>
          </a:p>
          <a:p>
            <a:pPr lvl="0"/>
            <a:r>
              <a:rPr lang="en-US" dirty="0"/>
              <a:t>A </a:t>
            </a:r>
            <a:r>
              <a:rPr lang="en-US" b="1" dirty="0"/>
              <a:t>candidate = one unique patient</a:t>
            </a:r>
            <a:r>
              <a:rPr lang="en-US" dirty="0"/>
              <a:t>.</a:t>
            </a:r>
          </a:p>
          <a:p>
            <a:pPr lvl="0"/>
            <a:r>
              <a:rPr lang="en-US" dirty="0"/>
              <a:t>Even if the patient is listed at multiple centers or for multiple organs, they are counted as </a:t>
            </a:r>
            <a:r>
              <a:rPr lang="en-US" b="1" dirty="0"/>
              <a:t>one candidate</a:t>
            </a:r>
            <a:r>
              <a:rPr lang="en-US" dirty="0"/>
              <a:t>.</a:t>
            </a:r>
            <a:br>
              <a:rPr lang="en-US" dirty="0"/>
            </a:br>
            <a:r>
              <a:rPr lang="en-US" dirty="0"/>
              <a:t>✅ So </a:t>
            </a:r>
            <a:r>
              <a:rPr lang="en-US" b="1" dirty="0"/>
              <a:t>candidates count people, not listings</a:t>
            </a:r>
            <a:r>
              <a:rPr lang="en-US" dirty="0"/>
              <a:t>.</a:t>
            </a:r>
          </a:p>
          <a:p>
            <a:r>
              <a:rPr lang="en-US" b="1" dirty="0"/>
              <a:t>Example:</a:t>
            </a:r>
            <a:br>
              <a:rPr lang="en-US" dirty="0"/>
            </a:br>
            <a:r>
              <a:rPr lang="en-US" dirty="0"/>
              <a:t>Same patient listed at two centers and for two organs → </a:t>
            </a:r>
            <a:r>
              <a:rPr lang="en-US" b="1" dirty="0"/>
              <a:t>1 candidate</a:t>
            </a:r>
            <a:r>
              <a:rPr lang="en-US" dirty="0"/>
              <a:t>.</a:t>
            </a:r>
          </a:p>
        </p:txBody>
      </p:sp>
      <p:sp>
        <p:nvSpPr>
          <p:cNvPr id="11" name="Shape 9">
            <a:extLst>
              <a:ext uri="{FF2B5EF4-FFF2-40B4-BE49-F238E27FC236}">
                <a16:creationId xmlns:a16="http://schemas.microsoft.com/office/drawing/2014/main" id="{FC95738C-B95B-19A5-045F-FDA45B9AAFA2}"/>
              </a:ext>
            </a:extLst>
          </p:cNvPr>
          <p:cNvSpPr/>
          <p:nvPr/>
        </p:nvSpPr>
        <p:spPr>
          <a:xfrm>
            <a:off x="493776" y="1289304"/>
            <a:ext cx="118872" cy="5248656"/>
          </a:xfrm>
          <a:prstGeom prst="rect">
            <a:avLst/>
          </a:prstGeom>
          <a:solidFill>
            <a:srgbClr val="3A7D44"/>
          </a:solidFill>
          <a:ln w="12700">
            <a:solidFill>
              <a:srgbClr val="3A7D44">
                <a:alpha val="0"/>
              </a:srgbClr>
            </a:solidFill>
            <a:prstDash val="solid"/>
          </a:ln>
        </p:spPr>
        <p:txBody>
          <a:bodyPr/>
          <a:lstStyle/>
          <a:p>
            <a:endParaRPr lang="en-US"/>
          </a:p>
        </p:txBody>
      </p:sp>
    </p:spTree>
    <p:extLst>
      <p:ext uri="{BB962C8B-B14F-4D97-AF65-F5344CB8AC3E}">
        <p14:creationId xmlns:p14="http://schemas.microsoft.com/office/powerpoint/2010/main" val="7340029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DATA + METHOD</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Data inputs and analytic workflow</a:t>
            </a:r>
            <a:endParaRPr lang="en-US" sz="2500" dirty="0"/>
          </a:p>
        </p:txBody>
      </p:sp>
      <p:sp>
        <p:nvSpPr>
          <p:cNvPr id="6" name="Shape 4"/>
          <p:cNvSpPr/>
          <p:nvPr/>
        </p:nvSpPr>
        <p:spPr>
          <a:xfrm>
            <a:off x="594360" y="1965960"/>
            <a:ext cx="2331720" cy="1874520"/>
          </a:xfrm>
          <a:prstGeom prst="roundRect">
            <a:avLst>
              <a:gd name="adj" fmla="val 3902"/>
            </a:avLst>
          </a:prstGeom>
          <a:solidFill>
            <a:srgbClr val="FFFFFF"/>
          </a:solidFill>
          <a:ln w="12700">
            <a:solidFill>
              <a:srgbClr val="345995"/>
            </a:solidFill>
            <a:prstDash val="solid"/>
          </a:ln>
        </p:spPr>
        <p:txBody>
          <a:bodyPr/>
          <a:lstStyle/>
          <a:p>
            <a:endParaRPr lang="en-US"/>
          </a:p>
        </p:txBody>
      </p:sp>
      <p:sp>
        <p:nvSpPr>
          <p:cNvPr id="7" name="Shape 5"/>
          <p:cNvSpPr/>
          <p:nvPr/>
        </p:nvSpPr>
        <p:spPr>
          <a:xfrm>
            <a:off x="594360" y="1965960"/>
            <a:ext cx="109728" cy="1874520"/>
          </a:xfrm>
          <a:prstGeom prst="rect">
            <a:avLst/>
          </a:prstGeom>
          <a:solidFill>
            <a:srgbClr val="345995"/>
          </a:solidFill>
          <a:ln w="12700">
            <a:solidFill>
              <a:srgbClr val="345995">
                <a:alpha val="0"/>
              </a:srgbClr>
            </a:solidFill>
            <a:prstDash val="solid"/>
          </a:ln>
        </p:spPr>
        <p:txBody>
          <a:bodyPr/>
          <a:lstStyle/>
          <a:p>
            <a:endParaRPr lang="en-US"/>
          </a:p>
        </p:txBody>
      </p:sp>
      <p:sp>
        <p:nvSpPr>
          <p:cNvPr id="8" name="Text 6"/>
          <p:cNvSpPr/>
          <p:nvPr/>
        </p:nvSpPr>
        <p:spPr>
          <a:xfrm>
            <a:off x="795528" y="2093976"/>
            <a:ext cx="2020824" cy="201168"/>
          </a:xfrm>
          <a:prstGeom prst="rect">
            <a:avLst/>
          </a:prstGeom>
          <a:noFill/>
          <a:ln/>
        </p:spPr>
        <p:txBody>
          <a:bodyPr wrap="square" lIns="0" tIns="0" rIns="0" bIns="0" rtlCol="0" anchor="ctr"/>
          <a:lstStyle/>
          <a:p>
            <a:pPr marL="0" indent="0">
              <a:buNone/>
            </a:pPr>
            <a:r>
              <a:rPr lang="en-US" sz="1400" b="1" dirty="0">
                <a:solidFill>
                  <a:srgbClr val="16324F"/>
                </a:solidFill>
              </a:rPr>
              <a:t>1. Source files</a:t>
            </a:r>
            <a:endParaRPr lang="en-US" sz="1400" dirty="0"/>
          </a:p>
        </p:txBody>
      </p:sp>
      <p:sp>
        <p:nvSpPr>
          <p:cNvPr id="9" name="Text 7"/>
          <p:cNvSpPr/>
          <p:nvPr/>
        </p:nvSpPr>
        <p:spPr>
          <a:xfrm>
            <a:off x="795528" y="2350008"/>
            <a:ext cx="2020824" cy="1380744"/>
          </a:xfrm>
          <a:prstGeom prst="rect">
            <a:avLst/>
          </a:prstGeom>
          <a:noFill/>
          <a:ln/>
        </p:spPr>
        <p:txBody>
          <a:bodyPr wrap="square" lIns="0" tIns="0" rIns="0" bIns="0" rtlCol="0" anchor="t"/>
          <a:lstStyle/>
          <a:p>
            <a:pPr marL="0" indent="0">
              <a:buNone/>
            </a:pPr>
            <a:r>
              <a:rPr lang="en-US" sz="1150" dirty="0">
                <a:solidFill>
                  <a:srgbClr val="243240"/>
                </a:solidFill>
              </a:rPr>
              <a:t>uno_waitlist.csv</a:t>
            </a:r>
            <a:endParaRPr lang="en-US" sz="1150" dirty="0"/>
          </a:p>
          <a:p>
            <a:pPr marL="0" indent="0">
              <a:buNone/>
            </a:pPr>
            <a:r>
              <a:rPr lang="en-US" sz="1150" dirty="0">
                <a:solidFill>
                  <a:srgbClr val="243240"/>
                </a:solidFill>
              </a:rPr>
              <a:t>Cand+reg_Organ_by_Waiting._Time.csv</a:t>
            </a:r>
            <a:endParaRPr lang="en-US" sz="1150" dirty="0"/>
          </a:p>
          <a:p>
            <a:pPr marL="0" indent="0">
              <a:buNone/>
            </a:pPr>
            <a:r>
              <a:rPr lang="en-US" sz="1150" dirty="0">
                <a:solidFill>
                  <a:srgbClr val="243240"/>
                </a:solidFill>
              </a:rPr>
              <a:t>uno_transplant.csv</a:t>
            </a:r>
            <a:endParaRPr lang="en-US" sz="1150" dirty="0"/>
          </a:p>
          <a:p>
            <a:pPr marL="0" indent="0">
              <a:buNone/>
            </a:pPr>
            <a:r>
              <a:rPr lang="en-US" sz="1150" dirty="0">
                <a:solidFill>
                  <a:srgbClr val="243240"/>
                </a:solidFill>
              </a:rPr>
              <a:t>CDC_MORTALITY_cleaned_joined_long.csv</a:t>
            </a:r>
            <a:endParaRPr lang="en-US" sz="1150" dirty="0"/>
          </a:p>
          <a:p>
            <a:pPr marL="0" indent="0">
              <a:buNone/>
            </a:pPr>
            <a:r>
              <a:rPr lang="en-US" sz="1150" dirty="0">
                <a:solidFill>
                  <a:srgbClr val="243240"/>
                </a:solidFill>
              </a:rPr>
              <a:t>census_cleaned.csv</a:t>
            </a:r>
            <a:endParaRPr lang="en-US" sz="1150" dirty="0"/>
          </a:p>
        </p:txBody>
      </p:sp>
      <p:sp>
        <p:nvSpPr>
          <p:cNvPr id="10" name="Shape 8"/>
          <p:cNvSpPr/>
          <p:nvPr/>
        </p:nvSpPr>
        <p:spPr>
          <a:xfrm>
            <a:off x="3547872" y="1965960"/>
            <a:ext cx="2331720" cy="1874520"/>
          </a:xfrm>
          <a:prstGeom prst="roundRect">
            <a:avLst>
              <a:gd name="adj" fmla="val 3902"/>
            </a:avLst>
          </a:prstGeom>
          <a:solidFill>
            <a:srgbClr val="FFFFFF"/>
          </a:solidFill>
          <a:ln w="12700">
            <a:solidFill>
              <a:srgbClr val="3A7D44"/>
            </a:solidFill>
            <a:prstDash val="solid"/>
          </a:ln>
        </p:spPr>
        <p:txBody>
          <a:bodyPr/>
          <a:lstStyle/>
          <a:p>
            <a:endParaRPr lang="en-US"/>
          </a:p>
        </p:txBody>
      </p:sp>
      <p:sp>
        <p:nvSpPr>
          <p:cNvPr id="11" name="Shape 9"/>
          <p:cNvSpPr/>
          <p:nvPr/>
        </p:nvSpPr>
        <p:spPr>
          <a:xfrm>
            <a:off x="3547872" y="1965960"/>
            <a:ext cx="109728" cy="1874520"/>
          </a:xfrm>
          <a:prstGeom prst="rect">
            <a:avLst/>
          </a:prstGeom>
          <a:solidFill>
            <a:srgbClr val="3A7D44"/>
          </a:solidFill>
          <a:ln w="12700">
            <a:solidFill>
              <a:srgbClr val="3A7D44">
                <a:alpha val="0"/>
              </a:srgbClr>
            </a:solidFill>
            <a:prstDash val="solid"/>
          </a:ln>
        </p:spPr>
        <p:txBody>
          <a:bodyPr/>
          <a:lstStyle/>
          <a:p>
            <a:endParaRPr lang="en-US"/>
          </a:p>
        </p:txBody>
      </p:sp>
      <p:sp>
        <p:nvSpPr>
          <p:cNvPr id="12" name="Text 10"/>
          <p:cNvSpPr/>
          <p:nvPr/>
        </p:nvSpPr>
        <p:spPr>
          <a:xfrm>
            <a:off x="3749040" y="2093976"/>
            <a:ext cx="2020824" cy="201168"/>
          </a:xfrm>
          <a:prstGeom prst="rect">
            <a:avLst/>
          </a:prstGeom>
          <a:noFill/>
          <a:ln/>
        </p:spPr>
        <p:txBody>
          <a:bodyPr wrap="square" lIns="0" tIns="0" rIns="0" bIns="0" rtlCol="0" anchor="ctr"/>
          <a:lstStyle/>
          <a:p>
            <a:pPr marL="0" indent="0">
              <a:buNone/>
            </a:pPr>
            <a:r>
              <a:rPr lang="en-US" sz="1400" b="1" dirty="0">
                <a:solidFill>
                  <a:srgbClr val="16324F"/>
                </a:solidFill>
              </a:rPr>
              <a:t>2. Standardize</a:t>
            </a:r>
            <a:endParaRPr lang="en-US" sz="1400" dirty="0"/>
          </a:p>
        </p:txBody>
      </p:sp>
      <p:sp>
        <p:nvSpPr>
          <p:cNvPr id="13" name="Text 11"/>
          <p:cNvSpPr/>
          <p:nvPr/>
        </p:nvSpPr>
        <p:spPr>
          <a:xfrm>
            <a:off x="3749040" y="2350008"/>
            <a:ext cx="2020824" cy="1380744"/>
          </a:xfrm>
          <a:prstGeom prst="rect">
            <a:avLst/>
          </a:prstGeom>
          <a:noFill/>
          <a:ln/>
        </p:spPr>
        <p:txBody>
          <a:bodyPr wrap="square" lIns="0" tIns="0" rIns="0" bIns="0" rtlCol="0" anchor="t"/>
          <a:lstStyle/>
          <a:p>
            <a:pPr marL="0" indent="0">
              <a:buNone/>
            </a:pPr>
            <a:r>
              <a:rPr lang="en-US" sz="1150" dirty="0">
                <a:solidFill>
                  <a:srgbClr val="243240"/>
                </a:solidFill>
              </a:rPr>
              <a:t>Clean numeric fields, harmonize geography, forward-fill organ labels, and reshape wait-time buckets into comparable long-wait shares.</a:t>
            </a:r>
            <a:endParaRPr lang="en-US" sz="1150" dirty="0"/>
          </a:p>
        </p:txBody>
      </p:sp>
      <p:sp>
        <p:nvSpPr>
          <p:cNvPr id="14" name="Shape 12"/>
          <p:cNvSpPr/>
          <p:nvPr/>
        </p:nvSpPr>
        <p:spPr>
          <a:xfrm>
            <a:off x="6473952" y="1965960"/>
            <a:ext cx="2331720" cy="1874520"/>
          </a:xfrm>
          <a:prstGeom prst="roundRect">
            <a:avLst>
              <a:gd name="adj" fmla="val 3902"/>
            </a:avLst>
          </a:prstGeom>
          <a:solidFill>
            <a:srgbClr val="FFFFFF"/>
          </a:solidFill>
          <a:ln w="12700">
            <a:solidFill>
              <a:srgbClr val="C17C29"/>
            </a:solidFill>
            <a:prstDash val="solid"/>
          </a:ln>
        </p:spPr>
        <p:txBody>
          <a:bodyPr/>
          <a:lstStyle/>
          <a:p>
            <a:endParaRPr lang="en-US"/>
          </a:p>
        </p:txBody>
      </p:sp>
      <p:sp>
        <p:nvSpPr>
          <p:cNvPr id="15" name="Shape 13"/>
          <p:cNvSpPr/>
          <p:nvPr/>
        </p:nvSpPr>
        <p:spPr>
          <a:xfrm>
            <a:off x="6473952" y="1965960"/>
            <a:ext cx="109728" cy="1874520"/>
          </a:xfrm>
          <a:prstGeom prst="rect">
            <a:avLst/>
          </a:prstGeom>
          <a:solidFill>
            <a:srgbClr val="C17C29"/>
          </a:solidFill>
          <a:ln w="12700">
            <a:solidFill>
              <a:srgbClr val="C17C29">
                <a:alpha val="0"/>
              </a:srgbClr>
            </a:solidFill>
            <a:prstDash val="solid"/>
          </a:ln>
        </p:spPr>
        <p:txBody>
          <a:bodyPr/>
          <a:lstStyle/>
          <a:p>
            <a:endParaRPr lang="en-US"/>
          </a:p>
        </p:txBody>
      </p:sp>
      <p:sp>
        <p:nvSpPr>
          <p:cNvPr id="16" name="Text 14"/>
          <p:cNvSpPr/>
          <p:nvPr/>
        </p:nvSpPr>
        <p:spPr>
          <a:xfrm>
            <a:off x="6675120" y="2093976"/>
            <a:ext cx="2020824" cy="201168"/>
          </a:xfrm>
          <a:prstGeom prst="rect">
            <a:avLst/>
          </a:prstGeom>
          <a:noFill/>
          <a:ln/>
        </p:spPr>
        <p:txBody>
          <a:bodyPr wrap="square" lIns="0" tIns="0" rIns="0" bIns="0" rtlCol="0" anchor="ctr"/>
          <a:lstStyle/>
          <a:p>
            <a:pPr marL="0" indent="0">
              <a:buNone/>
            </a:pPr>
            <a:r>
              <a:rPr lang="en-US" sz="1400" b="1" dirty="0">
                <a:solidFill>
                  <a:srgbClr val="16324F"/>
                </a:solidFill>
              </a:rPr>
              <a:t>3. Build measures</a:t>
            </a:r>
            <a:endParaRPr lang="en-US" sz="1400" dirty="0"/>
          </a:p>
        </p:txBody>
      </p:sp>
      <p:sp>
        <p:nvSpPr>
          <p:cNvPr id="17" name="Text 15"/>
          <p:cNvSpPr/>
          <p:nvPr/>
        </p:nvSpPr>
        <p:spPr>
          <a:xfrm>
            <a:off x="6675120" y="2350008"/>
            <a:ext cx="2020824" cy="1380744"/>
          </a:xfrm>
          <a:prstGeom prst="rect">
            <a:avLst/>
          </a:prstGeom>
          <a:noFill/>
          <a:ln/>
        </p:spPr>
        <p:txBody>
          <a:bodyPr wrap="square" lIns="0" tIns="0" rIns="0" bIns="0" rtlCol="0" anchor="t"/>
          <a:lstStyle/>
          <a:p>
            <a:pPr marL="0" indent="0">
              <a:buNone/>
            </a:pPr>
            <a:r>
              <a:rPr lang="en-US" sz="1150" dirty="0">
                <a:solidFill>
                  <a:srgbClr val="243240"/>
                </a:solidFill>
              </a:rPr>
              <a:t>Waitlist per 100k</a:t>
            </a:r>
            <a:endParaRPr lang="en-US" sz="1150" dirty="0"/>
          </a:p>
          <a:p>
            <a:pPr marL="0" indent="0">
              <a:buNone/>
            </a:pPr>
            <a:r>
              <a:rPr lang="en-US" sz="1150" dirty="0">
                <a:solidFill>
                  <a:srgbClr val="243240"/>
                </a:solidFill>
              </a:rPr>
              <a:t>Share waiting at least 1 year</a:t>
            </a:r>
            <a:endParaRPr lang="en-US" sz="1150" dirty="0"/>
          </a:p>
          <a:p>
            <a:pPr marL="0" indent="0">
              <a:buNone/>
            </a:pPr>
            <a:r>
              <a:rPr lang="en-US" sz="1150" dirty="0">
                <a:solidFill>
                  <a:srgbClr val="243240"/>
                </a:solidFill>
              </a:rPr>
              <a:t>Race/ethnicity long-wait share</a:t>
            </a:r>
            <a:endParaRPr lang="en-US" sz="1150" dirty="0"/>
          </a:p>
          <a:p>
            <a:pPr marL="0" indent="0">
              <a:buNone/>
            </a:pPr>
            <a:r>
              <a:rPr lang="en-US" sz="1150" dirty="0">
                <a:solidFill>
                  <a:srgbClr val="243240"/>
                </a:solidFill>
              </a:rPr>
              <a:t>Regional uninsured and income context</a:t>
            </a:r>
            <a:endParaRPr lang="en-US" sz="1150" dirty="0"/>
          </a:p>
          <a:p>
            <a:pPr marL="0" indent="0">
              <a:buNone/>
            </a:pPr>
            <a:r>
              <a:rPr lang="en-US" sz="1150" dirty="0">
                <a:solidFill>
                  <a:srgbClr val="243240"/>
                </a:solidFill>
              </a:rPr>
              <a:t>Trend in total U.S. transplants</a:t>
            </a:r>
            <a:endParaRPr lang="en-US" sz="1150" dirty="0"/>
          </a:p>
        </p:txBody>
      </p:sp>
      <p:sp>
        <p:nvSpPr>
          <p:cNvPr id="18" name="Shape 16"/>
          <p:cNvSpPr/>
          <p:nvPr/>
        </p:nvSpPr>
        <p:spPr>
          <a:xfrm>
            <a:off x="9400032" y="1965960"/>
            <a:ext cx="2148840" cy="1874520"/>
          </a:xfrm>
          <a:prstGeom prst="roundRect">
            <a:avLst>
              <a:gd name="adj" fmla="val 3902"/>
            </a:avLst>
          </a:prstGeom>
          <a:solidFill>
            <a:srgbClr val="FFFFFF"/>
          </a:solidFill>
          <a:ln w="12700">
            <a:solidFill>
              <a:srgbClr val="B84A62"/>
            </a:solidFill>
            <a:prstDash val="solid"/>
          </a:ln>
        </p:spPr>
        <p:txBody>
          <a:bodyPr/>
          <a:lstStyle/>
          <a:p>
            <a:endParaRPr lang="en-US"/>
          </a:p>
        </p:txBody>
      </p:sp>
      <p:sp>
        <p:nvSpPr>
          <p:cNvPr id="19" name="Shape 17"/>
          <p:cNvSpPr/>
          <p:nvPr/>
        </p:nvSpPr>
        <p:spPr>
          <a:xfrm>
            <a:off x="9400032" y="1965960"/>
            <a:ext cx="109728" cy="1874520"/>
          </a:xfrm>
          <a:prstGeom prst="rect">
            <a:avLst/>
          </a:prstGeom>
          <a:solidFill>
            <a:srgbClr val="B84A62"/>
          </a:solidFill>
          <a:ln w="12700">
            <a:solidFill>
              <a:srgbClr val="B84A62">
                <a:alpha val="0"/>
              </a:srgbClr>
            </a:solidFill>
            <a:prstDash val="solid"/>
          </a:ln>
        </p:spPr>
        <p:txBody>
          <a:bodyPr/>
          <a:lstStyle/>
          <a:p>
            <a:endParaRPr lang="en-US"/>
          </a:p>
        </p:txBody>
      </p:sp>
      <p:sp>
        <p:nvSpPr>
          <p:cNvPr id="20" name="Text 18"/>
          <p:cNvSpPr/>
          <p:nvPr/>
        </p:nvSpPr>
        <p:spPr>
          <a:xfrm>
            <a:off x="9601200" y="2093976"/>
            <a:ext cx="1837944" cy="201168"/>
          </a:xfrm>
          <a:prstGeom prst="rect">
            <a:avLst/>
          </a:prstGeom>
          <a:noFill/>
          <a:ln/>
        </p:spPr>
        <p:txBody>
          <a:bodyPr wrap="square" lIns="0" tIns="0" rIns="0" bIns="0" rtlCol="0" anchor="ctr"/>
          <a:lstStyle/>
          <a:p>
            <a:pPr marL="0" indent="0">
              <a:buNone/>
            </a:pPr>
            <a:r>
              <a:rPr lang="en-US" sz="1400" b="1" dirty="0">
                <a:solidFill>
                  <a:srgbClr val="16324F"/>
                </a:solidFill>
              </a:rPr>
              <a:t>4. Synthesize</a:t>
            </a:r>
            <a:endParaRPr lang="en-US" sz="1400" dirty="0"/>
          </a:p>
        </p:txBody>
      </p:sp>
      <p:sp>
        <p:nvSpPr>
          <p:cNvPr id="21" name="Text 19"/>
          <p:cNvSpPr/>
          <p:nvPr/>
        </p:nvSpPr>
        <p:spPr>
          <a:xfrm>
            <a:off x="9601200" y="2350008"/>
            <a:ext cx="1837944" cy="1380744"/>
          </a:xfrm>
          <a:prstGeom prst="rect">
            <a:avLst/>
          </a:prstGeom>
          <a:noFill/>
          <a:ln/>
        </p:spPr>
        <p:txBody>
          <a:bodyPr wrap="square" lIns="0" tIns="0" rIns="0" bIns="0" rtlCol="0" anchor="t"/>
          <a:lstStyle/>
          <a:p>
            <a:pPr marL="0" indent="0">
              <a:buNone/>
            </a:pPr>
            <a:r>
              <a:rPr lang="en-US" sz="1150" dirty="0">
                <a:solidFill>
                  <a:srgbClr val="243240"/>
                </a:solidFill>
              </a:rPr>
              <a:t>Compare heart, kidney, and lung patterns; isolate geographic hotspots; then separate strong findings from data limitations.</a:t>
            </a:r>
            <a:endParaRPr lang="en-US" sz="1150" dirty="0"/>
          </a:p>
        </p:txBody>
      </p:sp>
      <p:sp>
        <p:nvSpPr>
          <p:cNvPr id="22" name="Text 20"/>
          <p:cNvSpPr/>
          <p:nvPr/>
        </p:nvSpPr>
        <p:spPr>
          <a:xfrm>
            <a:off x="749808" y="4389120"/>
            <a:ext cx="10881360" cy="2148840"/>
          </a:xfrm>
          <a:prstGeom prst="rect">
            <a:avLst/>
          </a:prstGeom>
          <a:noFill/>
          <a:ln/>
        </p:spPr>
        <p:txBody>
          <a:bodyPr wrap="square" lIns="508" tIns="508" rIns="508" bIns="508" rtlCol="0" anchor="t"/>
          <a:lstStyle/>
          <a:p>
            <a:pPr marL="196850" indent="-196850">
              <a:buSzPct val="100000"/>
              <a:buChar char="•"/>
            </a:pPr>
            <a:endParaRPr lang="en-US" sz="1550" dirty="0">
              <a:solidFill>
                <a:srgbClr val="243240"/>
              </a:solidFill>
              <a:latin typeface="Aptos" pitchFamily="34" charset="0"/>
              <a:ea typeface="Aptos" pitchFamily="34" charset="-122"/>
              <a:cs typeface="Aptos" pitchFamily="34" charset="-120"/>
            </a:endParaRPr>
          </a:p>
          <a:p>
            <a:pPr marL="196850" indent="-196850">
              <a:buSzPct val="100000"/>
              <a:buChar char="•"/>
            </a:pPr>
            <a:endParaRPr lang="en-US" sz="1550" dirty="0">
              <a:solidFill>
                <a:srgbClr val="243240"/>
              </a:solidFill>
              <a:latin typeface="Aptos" pitchFamily="34" charset="0"/>
              <a:ea typeface="Aptos" pitchFamily="34" charset="-122"/>
              <a:cs typeface="Aptos" pitchFamily="34" charset="-120"/>
            </a:endParaRPr>
          </a:p>
          <a:p>
            <a:pPr marL="196850" indent="-196850">
              <a:buSzPct val="100000"/>
              <a:buChar char="•"/>
            </a:pPr>
            <a:endParaRPr lang="en-US" sz="1550" dirty="0">
              <a:solidFill>
                <a:srgbClr val="243240"/>
              </a:solidFill>
              <a:latin typeface="Aptos" pitchFamily="34" charset="0"/>
              <a:ea typeface="Aptos" pitchFamily="34" charset="-122"/>
              <a:cs typeface="Aptos" pitchFamily="34" charset="-120"/>
            </a:endParaRPr>
          </a:p>
          <a:p>
            <a:pPr marL="196850" indent="-196850">
              <a:buSzPct val="100000"/>
              <a:buChar char="•"/>
            </a:pPr>
            <a:endParaRPr lang="en-US" sz="1550" dirty="0">
              <a:solidFill>
                <a:srgbClr val="243240"/>
              </a:solidFill>
              <a:latin typeface="Aptos" pitchFamily="34" charset="0"/>
              <a:ea typeface="Aptos" pitchFamily="34" charset="-122"/>
              <a:cs typeface="Aptos" pitchFamily="34" charset="-120"/>
            </a:endParaRPr>
          </a:p>
          <a:p>
            <a:pPr marL="196850" indent="-196850">
              <a:buSzPct val="100000"/>
              <a:buChar char="•"/>
            </a:pPr>
            <a:endParaRPr lang="en-US" sz="1550" dirty="0">
              <a:solidFill>
                <a:srgbClr val="243240"/>
              </a:solidFill>
              <a:latin typeface="Aptos" pitchFamily="34" charset="0"/>
              <a:ea typeface="Aptos" pitchFamily="34" charset="-122"/>
              <a:cs typeface="Aptos" pitchFamily="34" charset="-120"/>
            </a:endParaRPr>
          </a:p>
          <a:p>
            <a:pPr marL="196850" indent="-196850">
              <a:buSzPct val="100000"/>
              <a:buChar char="•"/>
            </a:pPr>
            <a:r>
              <a:rPr lang="en-US" sz="1550" dirty="0">
                <a:solidFill>
                  <a:srgbClr val="243240"/>
                </a:solidFill>
                <a:latin typeface="Aptos" pitchFamily="34" charset="0"/>
                <a:ea typeface="Aptos" pitchFamily="34" charset="-122"/>
                <a:cs typeface="Aptos" pitchFamily="34" charset="-120"/>
              </a:rPr>
              <a:t>Main analysis units: states, regions, and candidate waiting-time subgroups.</a:t>
            </a:r>
            <a:endParaRPr lang="en-US" sz="1550" dirty="0"/>
          </a:p>
          <a:p>
            <a:pPr marL="196850" indent="-196850">
              <a:buSzPct val="100000"/>
              <a:buChar char="•"/>
            </a:pPr>
            <a:r>
              <a:rPr lang="en-US" sz="1550" dirty="0">
                <a:solidFill>
                  <a:srgbClr val="243240"/>
                </a:solidFill>
                <a:latin typeface="Aptos" pitchFamily="34" charset="0"/>
                <a:ea typeface="Aptos" pitchFamily="34" charset="-122"/>
                <a:cs typeface="Aptos" pitchFamily="34" charset="-120"/>
              </a:rPr>
              <a:t>The strongest disparity measure in these files is long-wait share rather than mean wait days, because several wait-time summary fields are constant within organ.</a:t>
            </a:r>
            <a:endParaRPr lang="en-US" sz="1550" dirty="0"/>
          </a:p>
          <a:p>
            <a:pPr marL="196850" indent="-196850">
              <a:buSzPct val="100000"/>
              <a:buChar char="•"/>
            </a:pPr>
            <a:r>
              <a:rPr lang="en-US" sz="1550" dirty="0">
                <a:solidFill>
                  <a:srgbClr val="243240"/>
                </a:solidFill>
                <a:latin typeface="Aptos" pitchFamily="34" charset="0"/>
                <a:ea typeface="Aptos" pitchFamily="34" charset="-122"/>
                <a:cs typeface="Aptos" pitchFamily="34" charset="-120"/>
              </a:rPr>
              <a:t>CDC mortality is used here only as population context, not as waitlist mortality.</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6A6FC386-2E1D-2FB9-8A54-74458F1F0C3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EC60BD5-C5F1-F4DF-ADBA-9A080AC36950}"/>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6322A3FF-F0A7-7D3D-430D-952DF4F5888A}"/>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7318BF70-234E-196E-6826-C0CB42BBB4DB}"/>
              </a:ext>
            </a:extLst>
          </p:cNvPr>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CONTEXT</a:t>
            </a:r>
            <a:endParaRPr lang="en-US" sz="1100" dirty="0"/>
          </a:p>
        </p:txBody>
      </p:sp>
      <p:sp>
        <p:nvSpPr>
          <p:cNvPr id="5" name="Text 3">
            <a:extLst>
              <a:ext uri="{FF2B5EF4-FFF2-40B4-BE49-F238E27FC236}">
                <a16:creationId xmlns:a16="http://schemas.microsoft.com/office/drawing/2014/main" id="{62DF584A-0FD2-5592-8ACB-98A131850A1D}"/>
              </a:ext>
            </a:extLst>
          </p:cNvPr>
          <p:cNvSpPr/>
          <p:nvPr/>
        </p:nvSpPr>
        <p:spPr>
          <a:xfrm>
            <a:off x="502920" y="621792"/>
            <a:ext cx="8961120" cy="457200"/>
          </a:xfrm>
          <a:prstGeom prst="rect">
            <a:avLst/>
          </a:prstGeom>
          <a:noFill/>
          <a:ln/>
        </p:spPr>
        <p:txBody>
          <a:bodyPr wrap="square" lIns="0" tIns="0" rIns="0" bIns="0" rtlCol="0" anchor="ctr"/>
          <a:lstStyle/>
          <a:p>
            <a:pPr algn="ctr">
              <a:defRPr sz="1400" b="0" i="0" u="none" strike="noStrike" kern="1200" spc="0" baseline="0">
                <a:solidFill>
                  <a:prstClr val="black">
                    <a:lumMod val="65000"/>
                    <a:lumOff val="35000"/>
                  </a:prstClr>
                </a:solidFill>
                <a:latin typeface="+mn-lt"/>
                <a:ea typeface="+mn-ea"/>
                <a:cs typeface="+mn-cs"/>
              </a:defRPr>
            </a:pPr>
            <a:r>
              <a:rPr lang="en-US" sz="2800" b="1" dirty="0">
                <a:solidFill>
                  <a:schemeClr val="accent1">
                    <a:lumMod val="75000"/>
                  </a:schemeClr>
                </a:solidFill>
              </a:rPr>
              <a:t>TOTAL TRANSPLANTS OVER TIME (US) — ALL RECIPIENT AGES</a:t>
            </a:r>
          </a:p>
        </p:txBody>
      </p:sp>
      <p:sp>
        <p:nvSpPr>
          <p:cNvPr id="7" name="Shape 4">
            <a:extLst>
              <a:ext uri="{FF2B5EF4-FFF2-40B4-BE49-F238E27FC236}">
                <a16:creationId xmlns:a16="http://schemas.microsoft.com/office/drawing/2014/main" id="{4CB9DB3D-E93C-17B0-6EBC-CE3348BA6F9B}"/>
              </a:ext>
            </a:extLst>
          </p:cNvPr>
          <p:cNvSpPr/>
          <p:nvPr/>
        </p:nvSpPr>
        <p:spPr>
          <a:xfrm>
            <a:off x="7818120" y="1783080"/>
            <a:ext cx="3657600" cy="1234440"/>
          </a:xfrm>
          <a:prstGeom prst="roundRect">
            <a:avLst>
              <a:gd name="adj" fmla="val 5926"/>
            </a:avLst>
          </a:prstGeom>
          <a:solidFill>
            <a:srgbClr val="FFFFFF"/>
          </a:solidFill>
          <a:ln w="12700">
            <a:solidFill>
              <a:srgbClr val="345995"/>
            </a:solidFill>
            <a:prstDash val="solid"/>
          </a:ln>
        </p:spPr>
        <p:txBody>
          <a:bodyPr/>
          <a:lstStyle/>
          <a:p>
            <a:endParaRPr lang="en-US"/>
          </a:p>
        </p:txBody>
      </p:sp>
      <p:sp>
        <p:nvSpPr>
          <p:cNvPr id="8" name="Shape 5">
            <a:extLst>
              <a:ext uri="{FF2B5EF4-FFF2-40B4-BE49-F238E27FC236}">
                <a16:creationId xmlns:a16="http://schemas.microsoft.com/office/drawing/2014/main" id="{B7E7221E-D841-2486-0632-81CF584869A1}"/>
              </a:ext>
            </a:extLst>
          </p:cNvPr>
          <p:cNvSpPr/>
          <p:nvPr/>
        </p:nvSpPr>
        <p:spPr>
          <a:xfrm>
            <a:off x="7818120" y="1783080"/>
            <a:ext cx="109728" cy="1234440"/>
          </a:xfrm>
          <a:prstGeom prst="rect">
            <a:avLst/>
          </a:prstGeom>
          <a:solidFill>
            <a:srgbClr val="345995"/>
          </a:solidFill>
          <a:ln w="12700">
            <a:solidFill>
              <a:srgbClr val="345995">
                <a:alpha val="0"/>
              </a:srgbClr>
            </a:solidFill>
            <a:prstDash val="solid"/>
          </a:ln>
        </p:spPr>
        <p:txBody>
          <a:bodyPr/>
          <a:lstStyle/>
          <a:p>
            <a:endParaRPr lang="en-US"/>
          </a:p>
        </p:txBody>
      </p:sp>
      <p:sp>
        <p:nvSpPr>
          <p:cNvPr id="9" name="Text 6">
            <a:extLst>
              <a:ext uri="{FF2B5EF4-FFF2-40B4-BE49-F238E27FC236}">
                <a16:creationId xmlns:a16="http://schemas.microsoft.com/office/drawing/2014/main" id="{E699BBA3-310A-9DD3-520D-B4272424F8FE}"/>
              </a:ext>
            </a:extLst>
          </p:cNvPr>
          <p:cNvSpPr/>
          <p:nvPr/>
        </p:nvSpPr>
        <p:spPr>
          <a:xfrm>
            <a:off x="8019288" y="1911096"/>
            <a:ext cx="3346704" cy="201168"/>
          </a:xfrm>
          <a:prstGeom prst="rect">
            <a:avLst/>
          </a:prstGeom>
          <a:noFill/>
          <a:ln/>
        </p:spPr>
        <p:txBody>
          <a:bodyPr wrap="square" lIns="0" tIns="0" rIns="0" bIns="0" rtlCol="0" anchor="ctr"/>
          <a:lstStyle/>
          <a:p>
            <a:pPr marL="0" indent="0">
              <a:buNone/>
            </a:pPr>
            <a:r>
              <a:rPr lang="en-US" sz="1400" b="1" dirty="0">
                <a:solidFill>
                  <a:srgbClr val="16324F"/>
                </a:solidFill>
              </a:rPr>
              <a:t>Read this as context</a:t>
            </a:r>
            <a:endParaRPr lang="en-US" sz="1400" dirty="0"/>
          </a:p>
        </p:txBody>
      </p:sp>
      <p:sp>
        <p:nvSpPr>
          <p:cNvPr id="10" name="Text 7">
            <a:extLst>
              <a:ext uri="{FF2B5EF4-FFF2-40B4-BE49-F238E27FC236}">
                <a16:creationId xmlns:a16="http://schemas.microsoft.com/office/drawing/2014/main" id="{D5AE9C08-7457-C48E-B59A-4A6903CEB16A}"/>
              </a:ext>
            </a:extLst>
          </p:cNvPr>
          <p:cNvSpPr/>
          <p:nvPr/>
        </p:nvSpPr>
        <p:spPr>
          <a:xfrm>
            <a:off x="8019288" y="2167128"/>
            <a:ext cx="3346704" cy="740664"/>
          </a:xfrm>
          <a:prstGeom prst="rect">
            <a:avLst/>
          </a:prstGeom>
          <a:noFill/>
          <a:ln/>
        </p:spPr>
        <p:txBody>
          <a:bodyPr wrap="square" lIns="0" tIns="0" rIns="0" bIns="0" rtlCol="0" anchor="t"/>
          <a:lstStyle/>
          <a:p>
            <a:r>
              <a:rPr lang="en-US" sz="1200" dirty="0"/>
              <a:t>This line chart tracks the </a:t>
            </a:r>
            <a:r>
              <a:rPr lang="en-US" sz="1200" b="1" dirty="0"/>
              <a:t>total number of U.S. transplants each year</a:t>
            </a:r>
            <a:r>
              <a:rPr lang="en-US" sz="1200" dirty="0"/>
              <a:t> (all organs combined), using the </a:t>
            </a:r>
            <a:r>
              <a:rPr lang="en-US" sz="1200" b="1" dirty="0"/>
              <a:t>“All Recipient Ages”</a:t>
            </a:r>
            <a:r>
              <a:rPr lang="en-US" sz="1200" dirty="0"/>
              <a:t> total.</a:t>
            </a:r>
            <a:endParaRPr lang="en-US" sz="1150" dirty="0"/>
          </a:p>
        </p:txBody>
      </p:sp>
      <p:sp>
        <p:nvSpPr>
          <p:cNvPr id="11" name="Text 8">
            <a:extLst>
              <a:ext uri="{FF2B5EF4-FFF2-40B4-BE49-F238E27FC236}">
                <a16:creationId xmlns:a16="http://schemas.microsoft.com/office/drawing/2014/main" id="{9845A282-AFEC-8C5B-F4E5-D2AE9D50564D}"/>
              </a:ext>
            </a:extLst>
          </p:cNvPr>
          <p:cNvSpPr/>
          <p:nvPr/>
        </p:nvSpPr>
        <p:spPr>
          <a:xfrm>
            <a:off x="7973568" y="3145536"/>
            <a:ext cx="3337560" cy="1975104"/>
          </a:xfrm>
          <a:prstGeom prst="rect">
            <a:avLst/>
          </a:prstGeom>
          <a:noFill/>
          <a:ln/>
        </p:spPr>
        <p:txBody>
          <a:bodyPr wrap="square" lIns="508" tIns="508" rIns="508" bIns="508" rtlCol="0" anchor="t"/>
          <a:lstStyle/>
          <a:p>
            <a:pPr marL="196850" indent="-196850">
              <a:buSzPct val="100000"/>
              <a:buChar char="•"/>
            </a:pPr>
            <a:r>
              <a:rPr lang="en-US" sz="1550" dirty="0">
                <a:solidFill>
                  <a:srgbClr val="243240"/>
                </a:solidFill>
                <a:latin typeface="Aptos" pitchFamily="34" charset="0"/>
                <a:ea typeface="Aptos" pitchFamily="34" charset="-122"/>
                <a:cs typeface="Aptos" pitchFamily="34" charset="-120"/>
              </a:rPr>
              <a:t>There’s a steady long-term increase from the late 1980s through the 2000s. There’s a flattening/slow growth period around the late 2000s to early 2010s. Growth accelerates strongly after 2014, reaching the highest levels around 2024–2025.</a:t>
            </a:r>
            <a:endParaRPr lang="en-US" sz="1550" dirty="0"/>
          </a:p>
        </p:txBody>
      </p:sp>
      <p:graphicFrame>
        <p:nvGraphicFramePr>
          <p:cNvPr id="12" name="Chart 11">
            <a:extLst>
              <a:ext uri="{FF2B5EF4-FFF2-40B4-BE49-F238E27FC236}">
                <a16:creationId xmlns:a16="http://schemas.microsoft.com/office/drawing/2014/main" id="{00000000-0008-0000-0000-000002000000}"/>
              </a:ext>
            </a:extLst>
          </p:cNvPr>
          <p:cNvGraphicFramePr>
            <a:graphicFrameLocks/>
          </p:cNvGraphicFramePr>
          <p:nvPr>
            <p:extLst>
              <p:ext uri="{D42A27DB-BD31-4B8C-83A1-F6EECF244321}">
                <p14:modId xmlns:p14="http://schemas.microsoft.com/office/powerpoint/2010/main" val="538227075"/>
              </p:ext>
            </p:extLst>
          </p:nvPr>
        </p:nvGraphicFramePr>
        <p:xfrm>
          <a:off x="361950" y="1213632"/>
          <a:ext cx="7170420" cy="4620240"/>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8">
            <a:extLst>
              <a:ext uri="{FF2B5EF4-FFF2-40B4-BE49-F238E27FC236}">
                <a16:creationId xmlns:a16="http://schemas.microsoft.com/office/drawing/2014/main" id="{321F6BF2-AC7F-6BFC-8A2A-66A1D408AA43}"/>
              </a:ext>
            </a:extLst>
          </p:cNvPr>
          <p:cNvSpPr/>
          <p:nvPr/>
        </p:nvSpPr>
        <p:spPr>
          <a:xfrm>
            <a:off x="502158" y="5390388"/>
            <a:ext cx="10973562" cy="1248156"/>
          </a:xfrm>
          <a:prstGeom prst="rect">
            <a:avLst/>
          </a:prstGeom>
          <a:noFill/>
          <a:ln/>
        </p:spPr>
        <p:txBody>
          <a:bodyPr wrap="square" lIns="508" tIns="508" rIns="508" bIns="508" rtlCol="0" anchor="t"/>
          <a:lstStyle/>
          <a:p>
            <a:pPr marL="196850" indent="-196850">
              <a:buSzPct val="100000"/>
              <a:buChar char="•"/>
            </a:pPr>
            <a:r>
              <a:rPr lang="en-US" sz="1550" dirty="0">
                <a:solidFill>
                  <a:srgbClr val="243240"/>
                </a:solidFill>
                <a:latin typeface="Aptos" pitchFamily="34" charset="0"/>
                <a:ea typeface="Aptos" pitchFamily="34" charset="-122"/>
                <a:cs typeface="Aptos" pitchFamily="34" charset="-120"/>
              </a:rPr>
              <a:t>Why does the line drop sharply at the end? That big drop at the last point is almost always a data reporting issue, not a real collapse—most likely: the last year is incomplete/partial-year, the newest year hasn’t finished being updated in the dataset. One slide-ready takeaway: “Total transplants have increased substantially over time, with especially rapid growth in the last decade; the final-year drop likely reflects partial-year reporting rather than a true decline.”</a:t>
            </a:r>
            <a:endParaRPr lang="en-US" sz="1550" dirty="0"/>
          </a:p>
        </p:txBody>
      </p:sp>
    </p:spTree>
    <p:extLst>
      <p:ext uri="{BB962C8B-B14F-4D97-AF65-F5344CB8AC3E}">
        <p14:creationId xmlns:p14="http://schemas.microsoft.com/office/powerpoint/2010/main" val="3275199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6A7B9F21-45E7-AAD9-7CEF-258AEE56EC0B}"/>
            </a:ext>
          </a:extLst>
        </p:cNvPr>
        <p:cNvGrpSpPr/>
        <p:nvPr/>
      </p:nvGrpSpPr>
      <p:grpSpPr>
        <a:xfrm>
          <a:off x="0" y="0"/>
          <a:ext cx="0" cy="0"/>
          <a:chOff x="0" y="0"/>
          <a:chExt cx="0" cy="0"/>
        </a:xfrm>
      </p:grpSpPr>
      <p:sp>
        <p:nvSpPr>
          <p:cNvPr id="15" name="Shape 4">
            <a:extLst>
              <a:ext uri="{FF2B5EF4-FFF2-40B4-BE49-F238E27FC236}">
                <a16:creationId xmlns:a16="http://schemas.microsoft.com/office/drawing/2014/main" id="{EB5A016C-B874-C57B-B49C-249AB5A9C908}"/>
              </a:ext>
            </a:extLst>
          </p:cNvPr>
          <p:cNvSpPr/>
          <p:nvPr/>
        </p:nvSpPr>
        <p:spPr>
          <a:xfrm>
            <a:off x="7847838" y="1783080"/>
            <a:ext cx="3657600" cy="1771650"/>
          </a:xfrm>
          <a:prstGeom prst="roundRect">
            <a:avLst>
              <a:gd name="adj" fmla="val 5926"/>
            </a:avLst>
          </a:prstGeom>
          <a:solidFill>
            <a:srgbClr val="FFFFFF"/>
          </a:solidFill>
          <a:ln w="12700">
            <a:solidFill>
              <a:srgbClr val="345995"/>
            </a:solidFill>
            <a:prstDash val="solid"/>
          </a:ln>
        </p:spPr>
        <p:txBody>
          <a:bodyPr/>
          <a:lstStyle/>
          <a:p>
            <a:endParaRPr lang="en-US" sz="1600" dirty="0"/>
          </a:p>
          <a:p>
            <a:r>
              <a:rPr lang="en-US" sz="1600" dirty="0"/>
              <a:t>The male bar is noticeably higher than the female bar. Interpreting the bar heights: males have a higher transplant rate per 100k than females in 2025 (roughly 30k vs 19k on this chart’s scale).</a:t>
            </a:r>
          </a:p>
        </p:txBody>
      </p:sp>
      <p:sp>
        <p:nvSpPr>
          <p:cNvPr id="2" name="Shape 0">
            <a:extLst>
              <a:ext uri="{FF2B5EF4-FFF2-40B4-BE49-F238E27FC236}">
                <a16:creationId xmlns:a16="http://schemas.microsoft.com/office/drawing/2014/main" id="{4A3FC333-B72F-8112-AFF4-774F91B28067}"/>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289AB8E9-8C96-4DDD-2F4A-F54753A4CAC1}"/>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CF6AA9CB-EF13-A6A1-2FFE-1A3CE74BAA63}"/>
              </a:ext>
            </a:extLst>
          </p:cNvPr>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CONTEXT</a:t>
            </a:r>
            <a:endParaRPr lang="en-US" sz="1100" dirty="0"/>
          </a:p>
        </p:txBody>
      </p:sp>
      <p:sp>
        <p:nvSpPr>
          <p:cNvPr id="5" name="Text 3">
            <a:extLst>
              <a:ext uri="{FF2B5EF4-FFF2-40B4-BE49-F238E27FC236}">
                <a16:creationId xmlns:a16="http://schemas.microsoft.com/office/drawing/2014/main" id="{F0A7DD02-60C9-8A80-D9E6-EB3A4374B4F6}"/>
              </a:ext>
            </a:extLst>
          </p:cNvPr>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ALL ORGAN TRANPLANT PER 100K (SEX)</a:t>
            </a:r>
            <a:endParaRPr lang="en-US" sz="2500" dirty="0"/>
          </a:p>
        </p:txBody>
      </p:sp>
      <p:sp>
        <p:nvSpPr>
          <p:cNvPr id="8" name="Shape 5">
            <a:extLst>
              <a:ext uri="{FF2B5EF4-FFF2-40B4-BE49-F238E27FC236}">
                <a16:creationId xmlns:a16="http://schemas.microsoft.com/office/drawing/2014/main" id="{BC0ECB51-D03E-99E2-D395-110973CCA832}"/>
              </a:ext>
            </a:extLst>
          </p:cNvPr>
          <p:cNvSpPr/>
          <p:nvPr/>
        </p:nvSpPr>
        <p:spPr>
          <a:xfrm>
            <a:off x="7847838" y="1920240"/>
            <a:ext cx="91440" cy="1474470"/>
          </a:xfrm>
          <a:prstGeom prst="rect">
            <a:avLst/>
          </a:prstGeom>
          <a:solidFill>
            <a:srgbClr val="345995"/>
          </a:solidFill>
          <a:ln w="12700">
            <a:solidFill>
              <a:srgbClr val="345995">
                <a:alpha val="0"/>
              </a:srgbClr>
            </a:solidFill>
            <a:prstDash val="solid"/>
          </a:ln>
        </p:spPr>
        <p:txBody>
          <a:bodyPr/>
          <a:lstStyle/>
          <a:p>
            <a:endParaRPr lang="en-US"/>
          </a:p>
        </p:txBody>
      </p:sp>
      <p:sp>
        <p:nvSpPr>
          <p:cNvPr id="9" name="Text 6">
            <a:extLst>
              <a:ext uri="{FF2B5EF4-FFF2-40B4-BE49-F238E27FC236}">
                <a16:creationId xmlns:a16="http://schemas.microsoft.com/office/drawing/2014/main" id="{751E5FBF-9F07-AD1C-6844-5099DCA73144}"/>
              </a:ext>
            </a:extLst>
          </p:cNvPr>
          <p:cNvSpPr/>
          <p:nvPr/>
        </p:nvSpPr>
        <p:spPr>
          <a:xfrm>
            <a:off x="7996428" y="1818513"/>
            <a:ext cx="3346704" cy="201168"/>
          </a:xfrm>
          <a:prstGeom prst="rect">
            <a:avLst/>
          </a:prstGeom>
          <a:noFill/>
          <a:ln/>
        </p:spPr>
        <p:txBody>
          <a:bodyPr wrap="square" lIns="0" tIns="0" rIns="0" bIns="0" rtlCol="0" anchor="ctr"/>
          <a:lstStyle/>
          <a:p>
            <a:pPr marL="0" indent="0">
              <a:buNone/>
            </a:pPr>
            <a:r>
              <a:rPr lang="en-US" sz="1400" b="1" dirty="0">
                <a:solidFill>
                  <a:srgbClr val="16324F"/>
                </a:solidFill>
              </a:rPr>
              <a:t>Read this context</a:t>
            </a:r>
            <a:endParaRPr lang="en-US" sz="1400" dirty="0"/>
          </a:p>
        </p:txBody>
      </p:sp>
      <p:sp>
        <p:nvSpPr>
          <p:cNvPr id="11" name="Text 8">
            <a:extLst>
              <a:ext uri="{FF2B5EF4-FFF2-40B4-BE49-F238E27FC236}">
                <a16:creationId xmlns:a16="http://schemas.microsoft.com/office/drawing/2014/main" id="{5BFBB095-FE9A-91AA-1EE1-710FB52F7F9A}"/>
              </a:ext>
            </a:extLst>
          </p:cNvPr>
          <p:cNvSpPr/>
          <p:nvPr/>
        </p:nvSpPr>
        <p:spPr>
          <a:xfrm>
            <a:off x="7973568" y="4000500"/>
            <a:ext cx="3337560" cy="2114550"/>
          </a:xfrm>
          <a:prstGeom prst="rect">
            <a:avLst/>
          </a:prstGeom>
          <a:noFill/>
          <a:ln/>
        </p:spPr>
        <p:txBody>
          <a:bodyPr wrap="square" lIns="508" tIns="508" rIns="508" bIns="508" rtlCol="0" anchor="t"/>
          <a:lstStyle/>
          <a:p>
            <a:pPr marL="196850" indent="-196850">
              <a:buSzPct val="100000"/>
              <a:buChar char="•"/>
            </a:pPr>
            <a:r>
              <a:rPr lang="en-US" sz="1550" dirty="0">
                <a:solidFill>
                  <a:srgbClr val="243240"/>
                </a:solidFill>
                <a:latin typeface="Aptos" pitchFamily="34" charset="0"/>
                <a:ea typeface="Aptos" pitchFamily="34" charset="-122"/>
                <a:cs typeface="Aptos" pitchFamily="34" charset="-120"/>
              </a:rPr>
              <a:t>Males received transplants at a higher per-capita rate than females in 2025.</a:t>
            </a:r>
          </a:p>
          <a:p>
            <a:pPr marL="196850" indent="-196850">
              <a:buSzPct val="100000"/>
              <a:buChar char="•"/>
            </a:pPr>
            <a:r>
              <a:rPr lang="en-US" sz="1550" dirty="0">
                <a:solidFill>
                  <a:srgbClr val="243240"/>
                </a:solidFill>
                <a:latin typeface="Aptos" pitchFamily="34" charset="0"/>
                <a:ea typeface="Aptos" pitchFamily="34" charset="-122"/>
                <a:cs typeface="Aptos" pitchFamily="34" charset="-120"/>
              </a:rPr>
              <a:t>The gap is about 6.4 more transplants per 100k for males.</a:t>
            </a:r>
          </a:p>
          <a:p>
            <a:pPr marL="196850" indent="-196850">
              <a:buSzPct val="100000"/>
              <a:buChar char="•"/>
            </a:pPr>
            <a:r>
              <a:rPr lang="en-US" sz="1550" dirty="0">
                <a:solidFill>
                  <a:srgbClr val="243240"/>
                </a:solidFill>
                <a:latin typeface="Aptos" pitchFamily="34" charset="0"/>
                <a:ea typeface="Aptos" pitchFamily="34" charset="-122"/>
                <a:cs typeface="Aptos" pitchFamily="34" charset="-120"/>
              </a:rPr>
              <a:t>In relative terms, the male rate is roughly 1.6× (about 60%) higher than the female rate.</a:t>
            </a:r>
            <a:endParaRPr lang="en-US" sz="1550" dirty="0"/>
          </a:p>
        </p:txBody>
      </p:sp>
      <p:sp>
        <p:nvSpPr>
          <p:cNvPr id="17" name="Text 8">
            <a:extLst>
              <a:ext uri="{FF2B5EF4-FFF2-40B4-BE49-F238E27FC236}">
                <a16:creationId xmlns:a16="http://schemas.microsoft.com/office/drawing/2014/main" id="{303D2964-3DEC-E74D-8EA8-6F7AA97CDFB1}"/>
              </a:ext>
            </a:extLst>
          </p:cNvPr>
          <p:cNvSpPr/>
          <p:nvPr/>
        </p:nvSpPr>
        <p:spPr>
          <a:xfrm>
            <a:off x="7914132" y="2088261"/>
            <a:ext cx="3451860" cy="728091"/>
          </a:xfrm>
          <a:prstGeom prst="rect">
            <a:avLst/>
          </a:prstGeom>
          <a:noFill/>
          <a:ln/>
        </p:spPr>
        <p:txBody>
          <a:bodyPr wrap="square" lIns="508" tIns="508" rIns="508" bIns="508" rtlCol="0" anchor="t"/>
          <a:lstStyle/>
          <a:p>
            <a:pPr marL="196850" indent="-196850">
              <a:buSzPct val="100000"/>
              <a:buChar char="•"/>
            </a:pPr>
            <a:endParaRPr lang="en-US" sz="1550" dirty="0"/>
          </a:p>
        </p:txBody>
      </p:sp>
      <p:graphicFrame>
        <p:nvGraphicFramePr>
          <p:cNvPr id="19" name="Chart 18">
            <a:extLst>
              <a:ext uri="{FF2B5EF4-FFF2-40B4-BE49-F238E27FC236}">
                <a16:creationId xmlns:a16="http://schemas.microsoft.com/office/drawing/2014/main" id="{00000000-0008-0000-0000-000002000000}"/>
              </a:ext>
            </a:extLst>
          </p:cNvPr>
          <p:cNvGraphicFramePr>
            <a:graphicFrameLocks/>
          </p:cNvGraphicFramePr>
          <p:nvPr>
            <p:extLst>
              <p:ext uri="{D42A27DB-BD31-4B8C-83A1-F6EECF244321}">
                <p14:modId xmlns:p14="http://schemas.microsoft.com/office/powerpoint/2010/main" val="3427511292"/>
              </p:ext>
            </p:extLst>
          </p:nvPr>
        </p:nvGraphicFramePr>
        <p:xfrm>
          <a:off x="184170" y="1267206"/>
          <a:ext cx="7494504" cy="527075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33097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9618E36E-82EE-B7A4-6B71-5052545F608C}"/>
            </a:ext>
          </a:extLst>
        </p:cNvPr>
        <p:cNvGrpSpPr/>
        <p:nvPr/>
      </p:nvGrpSpPr>
      <p:grpSpPr>
        <a:xfrm>
          <a:off x="0" y="0"/>
          <a:ext cx="0" cy="0"/>
          <a:chOff x="0" y="0"/>
          <a:chExt cx="0" cy="0"/>
        </a:xfrm>
      </p:grpSpPr>
      <p:sp>
        <p:nvSpPr>
          <p:cNvPr id="15" name="Shape 4">
            <a:extLst>
              <a:ext uri="{FF2B5EF4-FFF2-40B4-BE49-F238E27FC236}">
                <a16:creationId xmlns:a16="http://schemas.microsoft.com/office/drawing/2014/main" id="{13F8039D-331B-124E-B22C-2C5EF9C14446}"/>
              </a:ext>
            </a:extLst>
          </p:cNvPr>
          <p:cNvSpPr/>
          <p:nvPr/>
        </p:nvSpPr>
        <p:spPr>
          <a:xfrm>
            <a:off x="7904988" y="1474470"/>
            <a:ext cx="3657600" cy="2018538"/>
          </a:xfrm>
          <a:prstGeom prst="roundRect">
            <a:avLst>
              <a:gd name="adj" fmla="val 5926"/>
            </a:avLst>
          </a:prstGeom>
          <a:solidFill>
            <a:srgbClr val="FFFFFF"/>
          </a:solidFill>
          <a:ln w="12700">
            <a:solidFill>
              <a:srgbClr val="345995"/>
            </a:solidFill>
            <a:prstDash val="solid"/>
          </a:ln>
        </p:spPr>
        <p:txBody>
          <a:bodyPr/>
          <a:lstStyle/>
          <a:p>
            <a:endParaRPr lang="en-US" sz="1600" dirty="0"/>
          </a:p>
          <a:p>
            <a:r>
              <a:rPr lang="en-US" sz="1600" dirty="0"/>
              <a:t>This bar chart shows the </a:t>
            </a:r>
            <a:r>
              <a:rPr lang="en-US" sz="1600" b="1" dirty="0"/>
              <a:t>share of all U.S. transplants in 2025</a:t>
            </a:r>
            <a:r>
              <a:rPr lang="en-US" sz="1600" dirty="0"/>
              <a:t> (all organs combined) by </a:t>
            </a:r>
            <a:r>
              <a:rPr lang="en-US" sz="1600" b="1" dirty="0"/>
              <a:t>race/ethnicity</a:t>
            </a:r>
            <a:r>
              <a:rPr lang="en-US" sz="1600" dirty="0"/>
              <a:t>. The y-axis is a proportion (0 to 1), so each bar represents </a:t>
            </a:r>
            <a:r>
              <a:rPr lang="en-US" sz="1600" b="1" dirty="0"/>
              <a:t>what percent of total transplants</a:t>
            </a:r>
            <a:r>
              <a:rPr lang="en-US" sz="1600" dirty="0"/>
              <a:t> went to that group.</a:t>
            </a:r>
          </a:p>
        </p:txBody>
      </p:sp>
      <p:sp>
        <p:nvSpPr>
          <p:cNvPr id="2" name="Shape 0">
            <a:extLst>
              <a:ext uri="{FF2B5EF4-FFF2-40B4-BE49-F238E27FC236}">
                <a16:creationId xmlns:a16="http://schemas.microsoft.com/office/drawing/2014/main" id="{E2A3650A-A47A-7CB0-4521-C7E7C6C2B074}"/>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7B2F74C1-0C65-11FB-70F7-E0B3DF8EC0D5}"/>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FEEAE7CC-84D3-EB75-23AA-2C18C384C09D}"/>
              </a:ext>
            </a:extLst>
          </p:cNvPr>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CONTEXT</a:t>
            </a:r>
            <a:endParaRPr lang="en-US" sz="1100" dirty="0"/>
          </a:p>
        </p:txBody>
      </p:sp>
      <p:sp>
        <p:nvSpPr>
          <p:cNvPr id="5" name="Text 3">
            <a:extLst>
              <a:ext uri="{FF2B5EF4-FFF2-40B4-BE49-F238E27FC236}">
                <a16:creationId xmlns:a16="http://schemas.microsoft.com/office/drawing/2014/main" id="{0FD631DA-129B-AABB-2904-112D4AE285A5}"/>
              </a:ext>
            </a:extLst>
          </p:cNvPr>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ALL ORGAN TRANPLANT  (RACE/ETHNICITY)</a:t>
            </a:r>
            <a:endParaRPr lang="en-US" sz="2500" dirty="0"/>
          </a:p>
        </p:txBody>
      </p:sp>
      <p:sp>
        <p:nvSpPr>
          <p:cNvPr id="8" name="Shape 5">
            <a:extLst>
              <a:ext uri="{FF2B5EF4-FFF2-40B4-BE49-F238E27FC236}">
                <a16:creationId xmlns:a16="http://schemas.microsoft.com/office/drawing/2014/main" id="{64C37049-D5E8-24B2-BC58-46010A867CB7}"/>
              </a:ext>
            </a:extLst>
          </p:cNvPr>
          <p:cNvSpPr/>
          <p:nvPr/>
        </p:nvSpPr>
        <p:spPr>
          <a:xfrm>
            <a:off x="7852410" y="1520190"/>
            <a:ext cx="109728" cy="1908810"/>
          </a:xfrm>
          <a:prstGeom prst="rect">
            <a:avLst/>
          </a:prstGeom>
          <a:solidFill>
            <a:srgbClr val="345995"/>
          </a:solidFill>
          <a:ln w="12700">
            <a:solidFill>
              <a:srgbClr val="345995">
                <a:alpha val="0"/>
              </a:srgbClr>
            </a:solidFill>
            <a:prstDash val="solid"/>
          </a:ln>
        </p:spPr>
        <p:txBody>
          <a:bodyPr/>
          <a:lstStyle/>
          <a:p>
            <a:endParaRPr lang="en-US"/>
          </a:p>
        </p:txBody>
      </p:sp>
      <p:sp>
        <p:nvSpPr>
          <p:cNvPr id="9" name="Text 6">
            <a:extLst>
              <a:ext uri="{FF2B5EF4-FFF2-40B4-BE49-F238E27FC236}">
                <a16:creationId xmlns:a16="http://schemas.microsoft.com/office/drawing/2014/main" id="{71F262E0-520E-7729-CDFE-D320594490DB}"/>
              </a:ext>
            </a:extLst>
          </p:cNvPr>
          <p:cNvSpPr/>
          <p:nvPr/>
        </p:nvSpPr>
        <p:spPr>
          <a:xfrm>
            <a:off x="8053578" y="1612773"/>
            <a:ext cx="3346704" cy="201168"/>
          </a:xfrm>
          <a:prstGeom prst="rect">
            <a:avLst/>
          </a:prstGeom>
          <a:noFill/>
          <a:ln/>
        </p:spPr>
        <p:txBody>
          <a:bodyPr wrap="square" lIns="0" tIns="0" rIns="0" bIns="0" rtlCol="0" anchor="ctr"/>
          <a:lstStyle/>
          <a:p>
            <a:pPr marL="0" indent="0">
              <a:buNone/>
            </a:pPr>
            <a:r>
              <a:rPr lang="en-US" sz="1400" b="1" dirty="0">
                <a:solidFill>
                  <a:srgbClr val="16324F"/>
                </a:solidFill>
              </a:rPr>
              <a:t>Read this context</a:t>
            </a:r>
            <a:endParaRPr lang="en-US" sz="1400" dirty="0"/>
          </a:p>
        </p:txBody>
      </p:sp>
      <p:sp>
        <p:nvSpPr>
          <p:cNvPr id="11" name="Text 8">
            <a:extLst>
              <a:ext uri="{FF2B5EF4-FFF2-40B4-BE49-F238E27FC236}">
                <a16:creationId xmlns:a16="http://schemas.microsoft.com/office/drawing/2014/main" id="{6BEE2E82-D96B-7DA4-7177-5DD1E76F0412}"/>
              </a:ext>
            </a:extLst>
          </p:cNvPr>
          <p:cNvSpPr/>
          <p:nvPr/>
        </p:nvSpPr>
        <p:spPr>
          <a:xfrm>
            <a:off x="8028432" y="3848481"/>
            <a:ext cx="3337560" cy="2129409"/>
          </a:xfrm>
          <a:prstGeom prst="rect">
            <a:avLst/>
          </a:prstGeom>
          <a:noFill/>
          <a:ln/>
        </p:spPr>
        <p:txBody>
          <a:bodyPr wrap="square" lIns="508" tIns="508" rIns="508" bIns="508" rtlCol="0" anchor="t"/>
          <a:lstStyle/>
          <a:p>
            <a:r>
              <a:rPr lang="en-US" sz="1600" dirty="0"/>
              <a:t>This shows the </a:t>
            </a:r>
            <a:r>
              <a:rPr lang="en-US" sz="1600" b="1" dirty="0"/>
              <a:t>distribution of transplants</a:t>
            </a:r>
          </a:p>
          <a:p>
            <a:r>
              <a:rPr lang="en-US" sz="1600" dirty="0"/>
              <a:t>Transplants in 2025 were concentrated among White recipients </a:t>
            </a:r>
            <a:r>
              <a:rPr lang="en-US" sz="1600" b="1" dirty="0"/>
              <a:t>(49%), </a:t>
            </a:r>
            <a:r>
              <a:rPr lang="en-US" sz="1600" dirty="0"/>
              <a:t>with Black </a:t>
            </a:r>
            <a:r>
              <a:rPr lang="en-US" sz="1600" b="1" dirty="0"/>
              <a:t>(22%) </a:t>
            </a:r>
            <a:r>
              <a:rPr lang="en-US" sz="1600" dirty="0"/>
              <a:t>and Hispanic/Latino (</a:t>
            </a:r>
            <a:r>
              <a:rPr lang="en-US" sz="1600" b="1" dirty="0"/>
              <a:t>19%) </a:t>
            </a:r>
            <a:r>
              <a:rPr lang="en-US" sz="1600" dirty="0"/>
              <a:t>recipients comprising substantial but smaller shares.</a:t>
            </a:r>
          </a:p>
        </p:txBody>
      </p:sp>
      <p:sp>
        <p:nvSpPr>
          <p:cNvPr id="17" name="Text 8">
            <a:extLst>
              <a:ext uri="{FF2B5EF4-FFF2-40B4-BE49-F238E27FC236}">
                <a16:creationId xmlns:a16="http://schemas.microsoft.com/office/drawing/2014/main" id="{698A53CE-BD4F-5CC9-57EC-BA5B995CCE73}"/>
              </a:ext>
            </a:extLst>
          </p:cNvPr>
          <p:cNvSpPr/>
          <p:nvPr/>
        </p:nvSpPr>
        <p:spPr>
          <a:xfrm>
            <a:off x="7914132" y="2088261"/>
            <a:ext cx="3451860" cy="728091"/>
          </a:xfrm>
          <a:prstGeom prst="rect">
            <a:avLst/>
          </a:prstGeom>
          <a:noFill/>
          <a:ln/>
        </p:spPr>
        <p:txBody>
          <a:bodyPr wrap="square" lIns="508" tIns="508" rIns="508" bIns="508" rtlCol="0" anchor="t"/>
          <a:lstStyle/>
          <a:p>
            <a:pPr marL="196850" indent="-196850">
              <a:buSzPct val="100000"/>
              <a:buChar char="•"/>
            </a:pPr>
            <a:endParaRPr lang="en-US" sz="1550" dirty="0"/>
          </a:p>
        </p:txBody>
      </p:sp>
      <p:graphicFrame>
        <p:nvGraphicFramePr>
          <p:cNvPr id="18" name="Chart 17">
            <a:extLst>
              <a:ext uri="{FF2B5EF4-FFF2-40B4-BE49-F238E27FC236}">
                <a16:creationId xmlns:a16="http://schemas.microsoft.com/office/drawing/2014/main" id="{00000000-0008-0000-0000-000002000000}"/>
              </a:ext>
            </a:extLst>
          </p:cNvPr>
          <p:cNvGraphicFramePr>
            <a:graphicFrameLocks/>
          </p:cNvGraphicFramePr>
          <p:nvPr>
            <p:extLst>
              <p:ext uri="{D42A27DB-BD31-4B8C-83A1-F6EECF244321}">
                <p14:modId xmlns:p14="http://schemas.microsoft.com/office/powerpoint/2010/main" val="1248578970"/>
              </p:ext>
            </p:extLst>
          </p:nvPr>
        </p:nvGraphicFramePr>
        <p:xfrm>
          <a:off x="80010" y="1152144"/>
          <a:ext cx="7610094" cy="52120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44824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FB71A37A-3B0D-C9C8-21F9-583B7C89EF0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FAE9A39-B92D-CECA-467E-2D7ACE716039}"/>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7B33CC8C-C1C7-D112-508A-08DA122ACA6B}"/>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7F92C454-7C9B-76DF-B3A1-63E6EFA6BD0E}"/>
              </a:ext>
            </a:extLst>
          </p:cNvPr>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CONTEXT</a:t>
            </a:r>
            <a:endParaRPr lang="en-US" sz="1100" dirty="0"/>
          </a:p>
        </p:txBody>
      </p:sp>
      <p:sp>
        <p:nvSpPr>
          <p:cNvPr id="5" name="Text 3">
            <a:extLst>
              <a:ext uri="{FF2B5EF4-FFF2-40B4-BE49-F238E27FC236}">
                <a16:creationId xmlns:a16="http://schemas.microsoft.com/office/drawing/2014/main" id="{49286EC7-704B-3232-D25C-54F4170C1BBF}"/>
              </a:ext>
            </a:extLst>
          </p:cNvPr>
          <p:cNvSpPr/>
          <p:nvPr/>
        </p:nvSpPr>
        <p:spPr>
          <a:xfrm>
            <a:off x="502920" y="621792"/>
            <a:ext cx="8961120" cy="457200"/>
          </a:xfrm>
          <a:prstGeom prst="rect">
            <a:avLst/>
          </a:prstGeom>
          <a:noFill/>
          <a:ln/>
        </p:spPr>
        <p:txBody>
          <a:bodyPr wrap="square" lIns="0" tIns="0" rIns="0" bIns="0" rtlCol="0" anchor="ctr"/>
          <a:lstStyle/>
          <a:p>
            <a:pPr>
              <a:defRPr sz="3200" b="1"/>
            </a:pPr>
            <a:r>
              <a:rPr lang="en-US" sz="2800" dirty="0">
                <a:solidFill>
                  <a:schemeClr val="accent1">
                    <a:lumMod val="50000"/>
                  </a:schemeClr>
                </a:solidFill>
              </a:rPr>
              <a:t>HEART: STATES WITH HIGHEST WAITLIST PER 100K</a:t>
            </a:r>
          </a:p>
        </p:txBody>
      </p:sp>
      <p:graphicFrame>
        <p:nvGraphicFramePr>
          <p:cNvPr id="7" name="Chart 6">
            <a:extLst>
              <a:ext uri="{FF2B5EF4-FFF2-40B4-BE49-F238E27FC236}">
                <a16:creationId xmlns:a16="http://schemas.microsoft.com/office/drawing/2014/main" id="{00000000-0008-0000-0000-000002000000}"/>
              </a:ext>
            </a:extLst>
          </p:cNvPr>
          <p:cNvGraphicFramePr>
            <a:graphicFrameLocks/>
          </p:cNvGraphicFramePr>
          <p:nvPr>
            <p:extLst>
              <p:ext uri="{D42A27DB-BD31-4B8C-83A1-F6EECF244321}">
                <p14:modId xmlns:p14="http://schemas.microsoft.com/office/powerpoint/2010/main" val="216229936"/>
              </p:ext>
            </p:extLst>
          </p:nvPr>
        </p:nvGraphicFramePr>
        <p:xfrm>
          <a:off x="400050" y="1152144"/>
          <a:ext cx="7223760" cy="5157216"/>
        </p:xfrm>
        <a:graphic>
          <a:graphicData uri="http://schemas.openxmlformats.org/drawingml/2006/chart">
            <c:chart xmlns:c="http://schemas.openxmlformats.org/drawingml/2006/chart" xmlns:r="http://schemas.openxmlformats.org/officeDocument/2006/relationships" r:id="rId3"/>
          </a:graphicData>
        </a:graphic>
      </p:graphicFrame>
      <p:sp>
        <p:nvSpPr>
          <p:cNvPr id="12" name="Shape 4">
            <a:extLst>
              <a:ext uri="{FF2B5EF4-FFF2-40B4-BE49-F238E27FC236}">
                <a16:creationId xmlns:a16="http://schemas.microsoft.com/office/drawing/2014/main" id="{6A441164-E105-E1F8-EE9A-E90DFDBC2142}"/>
              </a:ext>
            </a:extLst>
          </p:cNvPr>
          <p:cNvSpPr/>
          <p:nvPr/>
        </p:nvSpPr>
        <p:spPr>
          <a:xfrm>
            <a:off x="8534401" y="1474470"/>
            <a:ext cx="3512820" cy="1177290"/>
          </a:xfrm>
          <a:prstGeom prst="roundRect">
            <a:avLst>
              <a:gd name="adj" fmla="val 5926"/>
            </a:avLst>
          </a:prstGeom>
          <a:solidFill>
            <a:srgbClr val="FFFFFF"/>
          </a:solidFill>
          <a:ln w="12700">
            <a:solidFill>
              <a:srgbClr val="345995"/>
            </a:solidFill>
            <a:prstDash val="solid"/>
          </a:ln>
        </p:spPr>
        <p:txBody>
          <a:bodyPr/>
          <a:lstStyle/>
          <a:p>
            <a:r>
              <a:rPr lang="en-US" sz="1600" dirty="0"/>
              <a:t>It ranks the top 12 states (and DC) with the highest heart waitlist burden, measured as Heart waitlist per 100,000 residents.</a:t>
            </a:r>
          </a:p>
        </p:txBody>
      </p:sp>
      <p:sp>
        <p:nvSpPr>
          <p:cNvPr id="14" name="Shape 4">
            <a:extLst>
              <a:ext uri="{FF2B5EF4-FFF2-40B4-BE49-F238E27FC236}">
                <a16:creationId xmlns:a16="http://schemas.microsoft.com/office/drawing/2014/main" id="{91F2CB5D-D91A-4CA7-293F-53B92D8016A4}"/>
              </a:ext>
            </a:extLst>
          </p:cNvPr>
          <p:cNvSpPr/>
          <p:nvPr/>
        </p:nvSpPr>
        <p:spPr>
          <a:xfrm>
            <a:off x="8534401" y="3047238"/>
            <a:ext cx="3512820" cy="3479292"/>
          </a:xfrm>
          <a:prstGeom prst="roundRect">
            <a:avLst>
              <a:gd name="adj" fmla="val 5926"/>
            </a:avLst>
          </a:prstGeom>
          <a:solidFill>
            <a:srgbClr val="FFFFFF"/>
          </a:solidFill>
          <a:ln w="12700">
            <a:solidFill>
              <a:srgbClr val="345995"/>
            </a:solidFill>
            <a:prstDash val="solid"/>
          </a:ln>
        </p:spPr>
        <p:txBody>
          <a:bodyPr/>
          <a:lstStyle/>
          <a:p>
            <a:r>
              <a:rPr lang="en-US" sz="1600" dirty="0"/>
              <a:t>District of Columbia is a clear outlier with the highest waitlist per 100k by a wide margin. After DC, states like Ohio, Nebraska, Utah, Massachusetts, Minnesota, New York, Illinois, Tennessee, Georgia, South Carolina, and Virginia follow with smaller differences among them. This suggests geographic variation in heart transplant demand and/or access patterns (referrals, listing practices, center availability), even before patient-level data.</a:t>
            </a:r>
          </a:p>
        </p:txBody>
      </p:sp>
    </p:spTree>
    <p:extLst>
      <p:ext uri="{BB962C8B-B14F-4D97-AF65-F5344CB8AC3E}">
        <p14:creationId xmlns:p14="http://schemas.microsoft.com/office/powerpoint/2010/main" val="6297633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F8B58CA3-24AA-D0C7-0182-530FA429C63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08877-A42B-A545-7682-5035E6E1AB95}"/>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CF0B6386-0093-6D77-109F-8E77D092E212}"/>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37554C81-CDA9-DFC1-D2BF-79B0C49DE230}"/>
              </a:ext>
            </a:extLst>
          </p:cNvPr>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CONTEXT</a:t>
            </a:r>
            <a:endParaRPr lang="en-US" sz="1100" dirty="0"/>
          </a:p>
        </p:txBody>
      </p:sp>
      <p:sp>
        <p:nvSpPr>
          <p:cNvPr id="5" name="Text 3">
            <a:extLst>
              <a:ext uri="{FF2B5EF4-FFF2-40B4-BE49-F238E27FC236}">
                <a16:creationId xmlns:a16="http://schemas.microsoft.com/office/drawing/2014/main" id="{DC97720E-1DA9-35B4-346A-C3FF907560D6}"/>
              </a:ext>
            </a:extLst>
          </p:cNvPr>
          <p:cNvSpPr/>
          <p:nvPr/>
        </p:nvSpPr>
        <p:spPr>
          <a:xfrm>
            <a:off x="502920" y="621792"/>
            <a:ext cx="8961120" cy="457200"/>
          </a:xfrm>
          <a:prstGeom prst="rect">
            <a:avLst/>
          </a:prstGeom>
          <a:noFill/>
          <a:ln/>
        </p:spPr>
        <p:txBody>
          <a:bodyPr wrap="square" lIns="0" tIns="0" rIns="0" bIns="0" rtlCol="0" anchor="ctr"/>
          <a:lstStyle/>
          <a:p>
            <a:pPr>
              <a:defRPr sz="3200" b="1"/>
            </a:pPr>
            <a:r>
              <a:rPr lang="en-US" sz="2800" dirty="0"/>
              <a:t>KIDNEY: STATES WITH HIGHEST WAITLIST PER 100K</a:t>
            </a:r>
          </a:p>
        </p:txBody>
      </p:sp>
      <p:graphicFrame>
        <p:nvGraphicFramePr>
          <p:cNvPr id="10" name="Chart 9">
            <a:extLst>
              <a:ext uri="{FF2B5EF4-FFF2-40B4-BE49-F238E27FC236}">
                <a16:creationId xmlns:a16="http://schemas.microsoft.com/office/drawing/2014/main" id="{0727BB4C-1C8E-7ED0-2C49-38920E958E44}"/>
              </a:ext>
            </a:extLst>
          </p:cNvPr>
          <p:cNvGraphicFramePr>
            <a:graphicFrameLocks/>
          </p:cNvGraphicFramePr>
          <p:nvPr>
            <p:extLst>
              <p:ext uri="{D42A27DB-BD31-4B8C-83A1-F6EECF244321}">
                <p14:modId xmlns:p14="http://schemas.microsoft.com/office/powerpoint/2010/main" val="744938144"/>
              </p:ext>
            </p:extLst>
          </p:nvPr>
        </p:nvGraphicFramePr>
        <p:xfrm>
          <a:off x="400050" y="1152144"/>
          <a:ext cx="7772400" cy="521208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4">
            <a:extLst>
              <a:ext uri="{FF2B5EF4-FFF2-40B4-BE49-F238E27FC236}">
                <a16:creationId xmlns:a16="http://schemas.microsoft.com/office/drawing/2014/main" id="{C7DCA5D4-F032-0ED4-F32D-42C0EE828ABC}"/>
              </a:ext>
            </a:extLst>
          </p:cNvPr>
          <p:cNvSpPr/>
          <p:nvPr/>
        </p:nvSpPr>
        <p:spPr>
          <a:xfrm>
            <a:off x="8534401" y="1474470"/>
            <a:ext cx="3512820" cy="1177290"/>
          </a:xfrm>
          <a:prstGeom prst="roundRect">
            <a:avLst>
              <a:gd name="adj" fmla="val 5926"/>
            </a:avLst>
          </a:prstGeom>
          <a:solidFill>
            <a:srgbClr val="FFFFFF"/>
          </a:solidFill>
          <a:ln w="12700">
            <a:solidFill>
              <a:srgbClr val="345995"/>
            </a:solidFill>
            <a:prstDash val="solid"/>
          </a:ln>
        </p:spPr>
        <p:txBody>
          <a:bodyPr/>
          <a:lstStyle/>
          <a:p>
            <a:r>
              <a:rPr lang="en-US" sz="1600" dirty="0"/>
              <a:t>It ranks the top 12 states (and DC) with the highest heart waitlist burden, measured as Heart waitlist per 100,000 residents.</a:t>
            </a:r>
          </a:p>
        </p:txBody>
      </p:sp>
      <p:sp>
        <p:nvSpPr>
          <p:cNvPr id="8" name="Shape 4">
            <a:extLst>
              <a:ext uri="{FF2B5EF4-FFF2-40B4-BE49-F238E27FC236}">
                <a16:creationId xmlns:a16="http://schemas.microsoft.com/office/drawing/2014/main" id="{B1BAACBB-2F79-7DB1-EEF9-A0212282666D}"/>
              </a:ext>
            </a:extLst>
          </p:cNvPr>
          <p:cNvSpPr/>
          <p:nvPr/>
        </p:nvSpPr>
        <p:spPr>
          <a:xfrm>
            <a:off x="8534401" y="3047238"/>
            <a:ext cx="3512820" cy="2128266"/>
          </a:xfrm>
          <a:prstGeom prst="roundRect">
            <a:avLst>
              <a:gd name="adj" fmla="val 5926"/>
            </a:avLst>
          </a:prstGeom>
          <a:solidFill>
            <a:srgbClr val="FFFFFF"/>
          </a:solidFill>
          <a:ln w="12700">
            <a:solidFill>
              <a:srgbClr val="345995"/>
            </a:solidFill>
            <a:prstDash val="solid"/>
          </a:ln>
        </p:spPr>
        <p:txBody>
          <a:bodyPr/>
          <a:lstStyle/>
          <a:p>
            <a:r>
              <a:rPr lang="en-US" sz="1600" dirty="0"/>
              <a:t>A higher value means more pressure/need relative to the population. This can reflect a mix of higher kidney disease burden, more referrals/listings, transplant center concentration, cross-state listing patterns, and differences in access to evaluation/listing.</a:t>
            </a:r>
          </a:p>
        </p:txBody>
      </p:sp>
    </p:spTree>
    <p:extLst>
      <p:ext uri="{BB962C8B-B14F-4D97-AF65-F5344CB8AC3E}">
        <p14:creationId xmlns:p14="http://schemas.microsoft.com/office/powerpoint/2010/main" val="39808652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a:extLst>
            <a:ext uri="{FF2B5EF4-FFF2-40B4-BE49-F238E27FC236}">
              <a16:creationId xmlns:a16="http://schemas.microsoft.com/office/drawing/2014/main" id="{43AEFAC9-9783-32FB-A0DF-7BBE02C4A61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CE59B48-ACB6-9655-B85B-BDBA94A2080D}"/>
              </a:ext>
            </a:extLst>
          </p:cNvPr>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8867944B-5FA4-8A8E-9BCF-DFB3F57AFDF3}"/>
              </a:ext>
            </a:extLst>
          </p:cNvPr>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15088766-A3DA-6B4F-41FA-221E03B0565F}"/>
              </a:ext>
            </a:extLst>
          </p:cNvPr>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CONTEXT</a:t>
            </a:r>
            <a:endParaRPr lang="en-US" sz="1100" dirty="0"/>
          </a:p>
        </p:txBody>
      </p:sp>
      <p:sp>
        <p:nvSpPr>
          <p:cNvPr id="5" name="Text 3">
            <a:extLst>
              <a:ext uri="{FF2B5EF4-FFF2-40B4-BE49-F238E27FC236}">
                <a16:creationId xmlns:a16="http://schemas.microsoft.com/office/drawing/2014/main" id="{140A0874-E099-1CEC-3A33-3BF443F47EEB}"/>
              </a:ext>
            </a:extLst>
          </p:cNvPr>
          <p:cNvSpPr/>
          <p:nvPr/>
        </p:nvSpPr>
        <p:spPr>
          <a:xfrm>
            <a:off x="502920" y="621792"/>
            <a:ext cx="8961120" cy="457200"/>
          </a:xfrm>
          <a:prstGeom prst="rect">
            <a:avLst/>
          </a:prstGeom>
          <a:noFill/>
          <a:ln/>
        </p:spPr>
        <p:txBody>
          <a:bodyPr wrap="square" lIns="0" tIns="0" rIns="0" bIns="0" rtlCol="0" anchor="ctr"/>
          <a:lstStyle/>
          <a:p>
            <a:pPr>
              <a:defRPr sz="3200" b="1"/>
            </a:pPr>
            <a:r>
              <a:rPr lang="en-US" sz="2800" dirty="0"/>
              <a:t>LUNG: STATES WITH HIGHEST WAITLIST PER 100K</a:t>
            </a:r>
          </a:p>
        </p:txBody>
      </p:sp>
      <p:sp>
        <p:nvSpPr>
          <p:cNvPr id="6" name="Shape 4">
            <a:extLst>
              <a:ext uri="{FF2B5EF4-FFF2-40B4-BE49-F238E27FC236}">
                <a16:creationId xmlns:a16="http://schemas.microsoft.com/office/drawing/2014/main" id="{14EBA565-F2B0-FFED-0EA1-0E0D50A71B70}"/>
              </a:ext>
            </a:extLst>
          </p:cNvPr>
          <p:cNvSpPr/>
          <p:nvPr/>
        </p:nvSpPr>
        <p:spPr>
          <a:xfrm>
            <a:off x="8534401" y="1078992"/>
            <a:ext cx="3512820" cy="2434590"/>
          </a:xfrm>
          <a:prstGeom prst="roundRect">
            <a:avLst>
              <a:gd name="adj" fmla="val 5926"/>
            </a:avLst>
          </a:prstGeom>
          <a:solidFill>
            <a:srgbClr val="FFFFFF"/>
          </a:solidFill>
          <a:ln w="12700">
            <a:solidFill>
              <a:srgbClr val="345995"/>
            </a:solidFill>
            <a:prstDash val="solid"/>
          </a:ln>
        </p:spPr>
        <p:txBody>
          <a:bodyPr/>
          <a:lstStyle/>
          <a:p>
            <a:r>
              <a:rPr lang="en-US" sz="1600" dirty="0"/>
              <a:t>Lung waitlist rates are much lower overall than kidney (the scale is under 1 per 100k in the chart). The top states include Pennsylvania (highest), Michigan, Washington, Ohio, Minnesota, New York, Missouri, Massachusetts, Oklahoma, Maryland, Illinois, and Wisconsin.</a:t>
            </a:r>
          </a:p>
        </p:txBody>
      </p:sp>
      <p:sp>
        <p:nvSpPr>
          <p:cNvPr id="8" name="Shape 4">
            <a:extLst>
              <a:ext uri="{FF2B5EF4-FFF2-40B4-BE49-F238E27FC236}">
                <a16:creationId xmlns:a16="http://schemas.microsoft.com/office/drawing/2014/main" id="{8A3A32E2-1B83-D4FE-9D74-EA53EC08C008}"/>
              </a:ext>
            </a:extLst>
          </p:cNvPr>
          <p:cNvSpPr/>
          <p:nvPr/>
        </p:nvSpPr>
        <p:spPr>
          <a:xfrm>
            <a:off x="8534401" y="3989070"/>
            <a:ext cx="3512820" cy="2434590"/>
          </a:xfrm>
          <a:prstGeom prst="roundRect">
            <a:avLst>
              <a:gd name="adj" fmla="val 5926"/>
            </a:avLst>
          </a:prstGeom>
          <a:solidFill>
            <a:srgbClr val="FFFFFF"/>
          </a:solidFill>
          <a:ln w="12700">
            <a:solidFill>
              <a:srgbClr val="345995"/>
            </a:solidFill>
            <a:prstDash val="solid"/>
          </a:ln>
        </p:spPr>
        <p:txBody>
          <a:bodyPr/>
          <a:lstStyle/>
          <a:p>
            <a:r>
              <a:rPr lang="en-US" sz="1600" dirty="0"/>
              <a:t>Because lung transplants are less common, small numeric differences can still be meaningful. Higher per-capita waitlist rates may reflect where specialized lung transplant centers are located, regional referral patterns, local prevalence of severe lung disease, and listing practices.</a:t>
            </a:r>
          </a:p>
        </p:txBody>
      </p:sp>
      <p:graphicFrame>
        <p:nvGraphicFramePr>
          <p:cNvPr id="7" name="Chart 6">
            <a:extLst>
              <a:ext uri="{FF2B5EF4-FFF2-40B4-BE49-F238E27FC236}">
                <a16:creationId xmlns:a16="http://schemas.microsoft.com/office/drawing/2014/main" id="{00000000-0008-0000-0100-000002000000}"/>
              </a:ext>
            </a:extLst>
          </p:cNvPr>
          <p:cNvGraphicFramePr>
            <a:graphicFrameLocks/>
          </p:cNvGraphicFramePr>
          <p:nvPr>
            <p:extLst>
              <p:ext uri="{D42A27DB-BD31-4B8C-83A1-F6EECF244321}">
                <p14:modId xmlns:p14="http://schemas.microsoft.com/office/powerpoint/2010/main" val="85042967"/>
              </p:ext>
            </p:extLst>
          </p:nvPr>
        </p:nvGraphicFramePr>
        <p:xfrm>
          <a:off x="275610" y="1379220"/>
          <a:ext cx="7999710" cy="485698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268714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ACCESS BURDEN</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REGIONAL ACCESS BURDEN</a:t>
            </a:r>
            <a:endParaRPr lang="en-US" sz="2500" dirty="0"/>
          </a:p>
        </p:txBody>
      </p:sp>
      <p:sp>
        <p:nvSpPr>
          <p:cNvPr id="6" name="Text 4"/>
          <p:cNvSpPr/>
          <p:nvPr/>
        </p:nvSpPr>
        <p:spPr>
          <a:xfrm>
            <a:off x="548640" y="1298448"/>
            <a:ext cx="1280160" cy="201168"/>
          </a:xfrm>
          <a:prstGeom prst="rect">
            <a:avLst/>
          </a:prstGeom>
          <a:noFill/>
          <a:ln/>
        </p:spPr>
        <p:txBody>
          <a:bodyPr wrap="square" lIns="0" tIns="0" rIns="0" bIns="0" rtlCol="0" anchor="ctr"/>
          <a:lstStyle/>
          <a:p>
            <a:pPr marL="0" indent="0">
              <a:buNone/>
            </a:pPr>
            <a:r>
              <a:rPr lang="en-US" sz="1600" b="1" dirty="0">
                <a:solidFill>
                  <a:srgbClr val="16324F"/>
                </a:solidFill>
              </a:rPr>
              <a:t>Heart</a:t>
            </a:r>
            <a:endParaRPr lang="en-US" sz="1600" dirty="0"/>
          </a:p>
        </p:txBody>
      </p:sp>
      <p:graphicFrame>
        <p:nvGraphicFramePr>
          <p:cNvPr id="7" name="Chart 0"/>
          <p:cNvGraphicFramePr/>
          <p:nvPr/>
        </p:nvGraphicFramePr>
        <p:xfrm>
          <a:off x="548640" y="1508760"/>
          <a:ext cx="361188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4315968" y="1298448"/>
            <a:ext cx="1280160" cy="201168"/>
          </a:xfrm>
          <a:prstGeom prst="rect">
            <a:avLst/>
          </a:prstGeom>
          <a:noFill/>
          <a:ln/>
        </p:spPr>
        <p:txBody>
          <a:bodyPr wrap="square" lIns="0" tIns="0" rIns="0" bIns="0" rtlCol="0" anchor="ctr"/>
          <a:lstStyle/>
          <a:p>
            <a:pPr marL="0" indent="0">
              <a:buNone/>
            </a:pPr>
            <a:r>
              <a:rPr lang="en-US" sz="1600" b="1" dirty="0">
                <a:solidFill>
                  <a:srgbClr val="16324F"/>
                </a:solidFill>
              </a:rPr>
              <a:t>Kidney</a:t>
            </a:r>
            <a:endParaRPr lang="en-US" sz="1600" dirty="0"/>
          </a:p>
        </p:txBody>
      </p:sp>
      <p:graphicFrame>
        <p:nvGraphicFramePr>
          <p:cNvPr id="9" name="Chart 1"/>
          <p:cNvGraphicFramePr/>
          <p:nvPr/>
        </p:nvGraphicFramePr>
        <p:xfrm>
          <a:off x="4315968" y="1508760"/>
          <a:ext cx="3611880" cy="3474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6"/>
          <p:cNvSpPr/>
          <p:nvPr/>
        </p:nvSpPr>
        <p:spPr>
          <a:xfrm>
            <a:off x="8083296" y="1298448"/>
            <a:ext cx="1280160" cy="201168"/>
          </a:xfrm>
          <a:prstGeom prst="rect">
            <a:avLst/>
          </a:prstGeom>
          <a:noFill/>
          <a:ln/>
        </p:spPr>
        <p:txBody>
          <a:bodyPr wrap="square" lIns="0" tIns="0" rIns="0" bIns="0" rtlCol="0" anchor="ctr"/>
          <a:lstStyle/>
          <a:p>
            <a:pPr marL="0" indent="0">
              <a:buNone/>
            </a:pPr>
            <a:r>
              <a:rPr lang="en-US" sz="1600" b="1" dirty="0">
                <a:solidFill>
                  <a:srgbClr val="16324F"/>
                </a:solidFill>
              </a:rPr>
              <a:t>Lung</a:t>
            </a:r>
            <a:endParaRPr lang="en-US" sz="1600" dirty="0"/>
          </a:p>
        </p:txBody>
      </p:sp>
      <p:graphicFrame>
        <p:nvGraphicFramePr>
          <p:cNvPr id="11" name="Chart 2"/>
          <p:cNvGraphicFramePr/>
          <p:nvPr/>
        </p:nvGraphicFramePr>
        <p:xfrm>
          <a:off x="8083296" y="1508760"/>
          <a:ext cx="3520440" cy="347472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7"/>
          <p:cNvSpPr/>
          <p:nvPr/>
        </p:nvSpPr>
        <p:spPr>
          <a:xfrm>
            <a:off x="749808" y="5285232"/>
            <a:ext cx="10972800" cy="1252728"/>
          </a:xfrm>
          <a:prstGeom prst="rect">
            <a:avLst/>
          </a:prstGeom>
          <a:noFill/>
          <a:ln/>
        </p:spPr>
        <p:txBody>
          <a:bodyPr wrap="square" lIns="508" tIns="508" rIns="508" bIns="508" rtlCol="0" anchor="t"/>
          <a:lstStyle/>
          <a:p>
            <a:pPr marL="184150" indent="-184150">
              <a:buSzPct val="100000"/>
              <a:buChar char="•"/>
            </a:pPr>
            <a:r>
              <a:rPr lang="en-US" sz="1450" dirty="0">
                <a:solidFill>
                  <a:srgbClr val="243240"/>
                </a:solidFill>
                <a:latin typeface="Aptos" pitchFamily="34" charset="0"/>
                <a:ea typeface="Aptos" pitchFamily="34" charset="-122"/>
                <a:cs typeface="Aptos" pitchFamily="34" charset="-120"/>
              </a:rPr>
              <a:t>Kidney demand dwarfs heart and lung across every standard region.</a:t>
            </a:r>
          </a:p>
          <a:p>
            <a:pPr marL="184150" indent="-184150">
              <a:buSzPct val="100000"/>
              <a:buChar char="•"/>
            </a:pPr>
            <a:endParaRPr lang="en-US" sz="1450" dirty="0"/>
          </a:p>
          <a:p>
            <a:pPr marL="184150" indent="-184150">
              <a:buSzPct val="100000"/>
              <a:buChar char="•"/>
            </a:pPr>
            <a:r>
              <a:rPr lang="en-US" sz="1450" dirty="0">
                <a:solidFill>
                  <a:srgbClr val="243240"/>
                </a:solidFill>
                <a:latin typeface="Aptos" pitchFamily="34" charset="0"/>
                <a:ea typeface="Aptos" pitchFamily="34" charset="-122"/>
                <a:cs typeface="Aptos" pitchFamily="34" charset="-120"/>
              </a:rPr>
              <a:t>Within heart, the South and Midwest sit above the Northeast and West.</a:t>
            </a:r>
          </a:p>
          <a:p>
            <a:pPr marL="184150" indent="-184150">
              <a:buSzPct val="100000"/>
              <a:buChar char="•"/>
            </a:pPr>
            <a:endParaRPr lang="en-US" sz="1450" dirty="0"/>
          </a:p>
          <a:p>
            <a:pPr marL="184150" indent="-184150">
              <a:buSzPct val="100000"/>
              <a:buChar char="•"/>
            </a:pPr>
            <a:r>
              <a:rPr lang="en-US" sz="1450" dirty="0">
                <a:solidFill>
                  <a:srgbClr val="243240"/>
                </a:solidFill>
                <a:latin typeface="Aptos" pitchFamily="34" charset="0"/>
                <a:ea typeface="Aptos" pitchFamily="34" charset="-122"/>
                <a:cs typeface="Aptos" pitchFamily="34" charset="-120"/>
              </a:rPr>
              <a:t>Within lung, the Midwest and Northeast are higher than the West.</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WAIT TIME PRESSURE</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Long waits are also uneven across regions</a:t>
            </a:r>
            <a:endParaRPr lang="en-US" sz="2500" dirty="0"/>
          </a:p>
        </p:txBody>
      </p:sp>
      <p:graphicFrame>
        <p:nvGraphicFramePr>
          <p:cNvPr id="6" name="Chart 0"/>
          <p:cNvGraphicFramePr/>
          <p:nvPr>
            <p:extLst>
              <p:ext uri="{D42A27DB-BD31-4B8C-83A1-F6EECF244321}">
                <p14:modId xmlns:p14="http://schemas.microsoft.com/office/powerpoint/2010/main" val="178144566"/>
              </p:ext>
            </p:extLst>
          </p:nvPr>
        </p:nvGraphicFramePr>
        <p:xfrm>
          <a:off x="658368" y="1463040"/>
          <a:ext cx="690372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973568" y="1737360"/>
            <a:ext cx="3383280" cy="1474470"/>
          </a:xfrm>
          <a:prstGeom prst="roundRect">
            <a:avLst>
              <a:gd name="adj" fmla="val 6667"/>
            </a:avLst>
          </a:prstGeom>
          <a:solidFill>
            <a:srgbClr val="FFFFFF"/>
          </a:solidFill>
          <a:ln w="12700">
            <a:solidFill>
              <a:srgbClr val="C17C29"/>
            </a:solidFill>
            <a:prstDash val="solid"/>
          </a:ln>
        </p:spPr>
        <p:txBody>
          <a:bodyPr/>
          <a:lstStyle/>
          <a:p>
            <a:endParaRPr lang="en-US"/>
          </a:p>
        </p:txBody>
      </p:sp>
      <p:sp>
        <p:nvSpPr>
          <p:cNvPr id="8" name="Shape 5"/>
          <p:cNvSpPr/>
          <p:nvPr/>
        </p:nvSpPr>
        <p:spPr>
          <a:xfrm>
            <a:off x="7973568" y="1737360"/>
            <a:ext cx="109728" cy="1474470"/>
          </a:xfrm>
          <a:prstGeom prst="rect">
            <a:avLst/>
          </a:prstGeom>
          <a:solidFill>
            <a:srgbClr val="C17C29"/>
          </a:solidFill>
          <a:ln w="12700">
            <a:solidFill>
              <a:srgbClr val="C17C29">
                <a:alpha val="0"/>
              </a:srgbClr>
            </a:solidFill>
            <a:prstDash val="solid"/>
          </a:ln>
        </p:spPr>
        <p:txBody>
          <a:bodyPr/>
          <a:lstStyle/>
          <a:p>
            <a:endParaRPr lang="en-US"/>
          </a:p>
        </p:txBody>
      </p:sp>
      <p:sp>
        <p:nvSpPr>
          <p:cNvPr id="9" name="Text 6"/>
          <p:cNvSpPr/>
          <p:nvPr/>
        </p:nvSpPr>
        <p:spPr>
          <a:xfrm>
            <a:off x="8174736" y="1865376"/>
            <a:ext cx="3072384" cy="201168"/>
          </a:xfrm>
          <a:prstGeom prst="rect">
            <a:avLst/>
          </a:prstGeom>
          <a:noFill/>
          <a:ln/>
        </p:spPr>
        <p:txBody>
          <a:bodyPr wrap="square" lIns="0" tIns="0" rIns="0" bIns="0" rtlCol="0" anchor="ctr"/>
          <a:lstStyle/>
          <a:p>
            <a:pPr marL="0" indent="0">
              <a:buNone/>
            </a:pPr>
            <a:r>
              <a:rPr lang="en-US" sz="1400" b="1" dirty="0">
                <a:solidFill>
                  <a:srgbClr val="16324F"/>
                </a:solidFill>
              </a:rPr>
              <a:t>Biggest pattern</a:t>
            </a:r>
            <a:endParaRPr lang="en-US" sz="1400" dirty="0"/>
          </a:p>
        </p:txBody>
      </p:sp>
      <p:sp>
        <p:nvSpPr>
          <p:cNvPr id="10" name="Text 7"/>
          <p:cNvSpPr/>
          <p:nvPr/>
        </p:nvSpPr>
        <p:spPr>
          <a:xfrm>
            <a:off x="8174736" y="2121408"/>
            <a:ext cx="3072384" cy="838962"/>
          </a:xfrm>
          <a:prstGeom prst="rect">
            <a:avLst/>
          </a:prstGeom>
          <a:noFill/>
          <a:ln/>
        </p:spPr>
        <p:txBody>
          <a:bodyPr wrap="square" lIns="0" tIns="0" rIns="0" bIns="0" rtlCol="0" anchor="t"/>
          <a:lstStyle/>
          <a:p>
            <a:pPr marL="0" indent="0">
              <a:buNone/>
            </a:pPr>
            <a:r>
              <a:rPr lang="en-US" sz="1400" dirty="0">
                <a:solidFill>
                  <a:srgbClr val="243240"/>
                </a:solidFill>
              </a:rPr>
              <a:t>Kidney has the highest share of candidates waiting at least one year in every region. Heart is intermediate. The lung is the lowest.</a:t>
            </a:r>
            <a:endParaRPr lang="en-US" sz="1400" dirty="0"/>
          </a:p>
        </p:txBody>
      </p:sp>
      <p:sp>
        <p:nvSpPr>
          <p:cNvPr id="11" name="Text 8"/>
          <p:cNvSpPr/>
          <p:nvPr/>
        </p:nvSpPr>
        <p:spPr>
          <a:xfrm>
            <a:off x="8138160" y="3557016"/>
            <a:ext cx="3108960" cy="2468880"/>
          </a:xfrm>
          <a:prstGeom prst="rect">
            <a:avLst/>
          </a:prstGeom>
          <a:noFill/>
          <a:ln/>
        </p:spPr>
        <p:txBody>
          <a:bodyPr wrap="square" lIns="508" tIns="508" rIns="508" bIns="508" rtlCol="0" anchor="t"/>
          <a:lstStyle/>
          <a:p>
            <a:pPr marL="184150" indent="-184150">
              <a:buSzPct val="100000"/>
              <a:buChar char="•"/>
            </a:pPr>
            <a:r>
              <a:rPr lang="en-US" sz="1450" dirty="0">
                <a:solidFill>
                  <a:srgbClr val="243240"/>
                </a:solidFill>
                <a:latin typeface="Aptos" pitchFamily="34" charset="0"/>
                <a:ea typeface="Aptos" pitchFamily="34" charset="-122"/>
                <a:cs typeface="Aptos" pitchFamily="34" charset="-120"/>
              </a:rPr>
              <a:t>Northeast stands out for </a:t>
            </a:r>
            <a:r>
              <a:rPr lang="en-US" sz="1450" b="1" dirty="0">
                <a:solidFill>
                  <a:srgbClr val="243240"/>
                </a:solidFill>
                <a:latin typeface="Aptos" pitchFamily="34" charset="0"/>
                <a:ea typeface="Aptos" pitchFamily="34" charset="-122"/>
                <a:cs typeface="Aptos" pitchFamily="34" charset="-120"/>
              </a:rPr>
              <a:t>kidney</a:t>
            </a:r>
            <a:r>
              <a:rPr lang="en-US" sz="1450" dirty="0">
                <a:solidFill>
                  <a:srgbClr val="243240"/>
                </a:solidFill>
                <a:latin typeface="Aptos" pitchFamily="34" charset="0"/>
                <a:ea typeface="Aptos" pitchFamily="34" charset="-122"/>
                <a:cs typeface="Aptos" pitchFamily="34" charset="-120"/>
              </a:rPr>
              <a:t> with the highest long-wait share (around the high-60% range). </a:t>
            </a:r>
          </a:p>
          <a:p>
            <a:pPr marL="184150" indent="-184150">
              <a:buSzPct val="100000"/>
              <a:buChar char="•"/>
            </a:pPr>
            <a:r>
              <a:rPr lang="en-US" sz="1450" dirty="0">
                <a:solidFill>
                  <a:srgbClr val="243240"/>
                </a:solidFill>
                <a:latin typeface="Aptos" pitchFamily="34" charset="0"/>
                <a:ea typeface="Aptos" pitchFamily="34" charset="-122"/>
                <a:cs typeface="Aptos" pitchFamily="34" charset="-120"/>
              </a:rPr>
              <a:t> The Midwest has the highest lung long-wait share (around the high-teens), compared with other regions. Heart varies less by region (only a few percentage points difference), suggesting a more consistent long-wait burden across the country.</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RACE / ETHNICITY</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Candidate wait-time buckets suggest demographic disparities</a:t>
            </a:r>
            <a:endParaRPr lang="en-US" sz="2500" dirty="0"/>
          </a:p>
        </p:txBody>
      </p:sp>
      <p:graphicFrame>
        <p:nvGraphicFramePr>
          <p:cNvPr id="6" name="Chart 0"/>
          <p:cNvGraphicFramePr/>
          <p:nvPr>
            <p:extLst>
              <p:ext uri="{D42A27DB-BD31-4B8C-83A1-F6EECF244321}">
                <p14:modId xmlns:p14="http://schemas.microsoft.com/office/powerpoint/2010/main" val="2338357098"/>
              </p:ext>
            </p:extLst>
          </p:nvPr>
        </p:nvGraphicFramePr>
        <p:xfrm>
          <a:off x="658368" y="1417320"/>
          <a:ext cx="7498080" cy="45262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8366760" y="1335024"/>
            <a:ext cx="2834640" cy="2057400"/>
          </a:xfrm>
          <a:prstGeom prst="rect">
            <a:avLst/>
          </a:prstGeom>
          <a:noFill/>
          <a:ln/>
        </p:spPr>
        <p:txBody>
          <a:bodyPr wrap="square" lIns="508" tIns="508" rIns="508" bIns="508" rtlCol="0" anchor="t"/>
          <a:lstStyle/>
          <a:p>
            <a:pPr marL="180340" indent="-180340">
              <a:buSzPct val="100000"/>
              <a:buChar char="•"/>
            </a:pPr>
            <a:r>
              <a:rPr lang="en-US" sz="1420" dirty="0">
                <a:solidFill>
                  <a:srgbClr val="243240"/>
                </a:solidFill>
                <a:latin typeface="Aptos" pitchFamily="34" charset="0"/>
                <a:ea typeface="Aptos" pitchFamily="34" charset="-122"/>
                <a:cs typeface="Aptos" pitchFamily="34" charset="-120"/>
              </a:rPr>
              <a:t>The candidate bucket file indicates that long-wait shares are not evenly distributed across groups.</a:t>
            </a:r>
            <a:endParaRPr lang="en-US" sz="1420" dirty="0"/>
          </a:p>
          <a:p>
            <a:pPr marL="180340" indent="-180340">
              <a:buSzPct val="100000"/>
              <a:buChar char="•"/>
            </a:pPr>
            <a:r>
              <a:rPr lang="en-US" sz="1420" dirty="0">
                <a:solidFill>
                  <a:srgbClr val="243240"/>
                </a:solidFill>
                <a:latin typeface="Aptos" pitchFamily="34" charset="0"/>
                <a:ea typeface="Aptos" pitchFamily="34" charset="-122"/>
                <a:cs typeface="Aptos" pitchFamily="34" charset="-120"/>
              </a:rPr>
              <a:t>Kidney again tends to sit highest, but group ordering still shifts within each organ.</a:t>
            </a:r>
            <a:endParaRPr lang="en-US" sz="1420" dirty="0"/>
          </a:p>
          <a:p>
            <a:pPr marL="180340" indent="-180340">
              <a:buSzPct val="100000"/>
              <a:buChar char="•"/>
            </a:pPr>
            <a:r>
              <a:rPr lang="en-US" sz="1420" dirty="0">
                <a:solidFill>
                  <a:srgbClr val="243240"/>
                </a:solidFill>
                <a:latin typeface="Aptos" pitchFamily="34" charset="0"/>
                <a:ea typeface="Aptos" pitchFamily="34" charset="-122"/>
                <a:cs typeface="Aptos" pitchFamily="34" charset="-120"/>
              </a:rPr>
              <a:t>Because these are grouped counts rather than patient records, the slide should be read as a disparity screen, not a causal estimate.</a:t>
            </a:r>
            <a:endParaRPr lang="en-US" sz="1420" dirty="0"/>
          </a:p>
        </p:txBody>
      </p:sp>
      <p:sp>
        <p:nvSpPr>
          <p:cNvPr id="8" name="Shape 5"/>
          <p:cNvSpPr/>
          <p:nvPr/>
        </p:nvSpPr>
        <p:spPr>
          <a:xfrm>
            <a:off x="8412480" y="4160520"/>
            <a:ext cx="2788920" cy="1490472"/>
          </a:xfrm>
          <a:prstGeom prst="roundRect">
            <a:avLst>
              <a:gd name="adj" fmla="val 6957"/>
            </a:avLst>
          </a:prstGeom>
          <a:solidFill>
            <a:srgbClr val="FFFFFF"/>
          </a:solidFill>
          <a:ln w="12700">
            <a:solidFill>
              <a:srgbClr val="345995"/>
            </a:solidFill>
            <a:prstDash val="solid"/>
          </a:ln>
        </p:spPr>
        <p:txBody>
          <a:bodyPr/>
          <a:lstStyle/>
          <a:p>
            <a:endParaRPr lang="en-US"/>
          </a:p>
        </p:txBody>
      </p:sp>
      <p:sp>
        <p:nvSpPr>
          <p:cNvPr id="9" name="Shape 6"/>
          <p:cNvSpPr/>
          <p:nvPr/>
        </p:nvSpPr>
        <p:spPr>
          <a:xfrm>
            <a:off x="8412480" y="4160520"/>
            <a:ext cx="109728" cy="1362456"/>
          </a:xfrm>
          <a:prstGeom prst="rect">
            <a:avLst/>
          </a:prstGeom>
          <a:solidFill>
            <a:srgbClr val="345995"/>
          </a:solidFill>
          <a:ln w="12700">
            <a:solidFill>
              <a:srgbClr val="345995">
                <a:alpha val="0"/>
              </a:srgbClr>
            </a:solidFill>
            <a:prstDash val="solid"/>
          </a:ln>
        </p:spPr>
        <p:txBody>
          <a:bodyPr/>
          <a:lstStyle/>
          <a:p>
            <a:endParaRPr lang="en-US"/>
          </a:p>
        </p:txBody>
      </p:sp>
      <p:sp>
        <p:nvSpPr>
          <p:cNvPr id="10" name="Text 7"/>
          <p:cNvSpPr/>
          <p:nvPr/>
        </p:nvSpPr>
        <p:spPr>
          <a:xfrm>
            <a:off x="8613648" y="4288536"/>
            <a:ext cx="2478024" cy="201168"/>
          </a:xfrm>
          <a:prstGeom prst="rect">
            <a:avLst/>
          </a:prstGeom>
          <a:noFill/>
          <a:ln/>
        </p:spPr>
        <p:txBody>
          <a:bodyPr wrap="square" lIns="0" tIns="0" rIns="0" bIns="0" rtlCol="0" anchor="ctr"/>
          <a:lstStyle/>
          <a:p>
            <a:pPr marL="0" indent="0">
              <a:buNone/>
            </a:pPr>
            <a:r>
              <a:rPr lang="en-US" sz="1400" b="1" dirty="0">
                <a:solidFill>
                  <a:srgbClr val="16324F"/>
                </a:solidFill>
              </a:rPr>
              <a:t>Label note</a:t>
            </a:r>
            <a:endParaRPr lang="en-US" sz="1400" dirty="0"/>
          </a:p>
        </p:txBody>
      </p:sp>
      <p:sp>
        <p:nvSpPr>
          <p:cNvPr id="11" name="Text 8"/>
          <p:cNvSpPr/>
          <p:nvPr/>
        </p:nvSpPr>
        <p:spPr>
          <a:xfrm>
            <a:off x="8613648" y="4544568"/>
            <a:ext cx="2478024" cy="884682"/>
          </a:xfrm>
          <a:prstGeom prst="rect">
            <a:avLst/>
          </a:prstGeom>
          <a:noFill/>
          <a:ln/>
        </p:spPr>
        <p:txBody>
          <a:bodyPr wrap="square" lIns="0" tIns="0" rIns="0" bIns="0" rtlCol="0" anchor="t"/>
          <a:lstStyle/>
          <a:p>
            <a:pPr marL="0" indent="0">
              <a:buNone/>
            </a:pPr>
            <a:r>
              <a:rPr lang="en-US" sz="1400" dirty="0">
                <a:solidFill>
                  <a:srgbClr val="243240"/>
                </a:solidFill>
              </a:rPr>
              <a:t>The  bucket file mixes “All Races” with race-specific groups and sometimes appends “Non-Hispanic.” Labels were normalized for comparison.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INSURANCE + CONTEXT</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Regional context points to structural differences around access</a:t>
            </a:r>
            <a:endParaRPr lang="en-US" sz="2500" dirty="0"/>
          </a:p>
        </p:txBody>
      </p:sp>
      <p:sp>
        <p:nvSpPr>
          <p:cNvPr id="6" name="Text 4"/>
          <p:cNvSpPr/>
          <p:nvPr/>
        </p:nvSpPr>
        <p:spPr>
          <a:xfrm>
            <a:off x="548640" y="1225296"/>
            <a:ext cx="3703320" cy="164592"/>
          </a:xfrm>
          <a:prstGeom prst="rect">
            <a:avLst/>
          </a:prstGeom>
          <a:noFill/>
          <a:ln/>
        </p:spPr>
        <p:txBody>
          <a:bodyPr wrap="square" lIns="0" tIns="0" rIns="0" bIns="0" rtlCol="0" anchor="ctr"/>
          <a:lstStyle/>
          <a:p>
            <a:pPr marL="0" indent="0">
              <a:buNone/>
            </a:pPr>
            <a:r>
              <a:rPr lang="en-US" sz="1500" b="1" dirty="0">
                <a:solidFill>
                  <a:srgbClr val="16324F"/>
                </a:solidFill>
              </a:rPr>
              <a:t>Uninsured share</a:t>
            </a:r>
            <a:endParaRPr lang="en-US" sz="1500" dirty="0"/>
          </a:p>
        </p:txBody>
      </p:sp>
      <p:graphicFrame>
        <p:nvGraphicFramePr>
          <p:cNvPr id="7" name="Chart 0"/>
          <p:cNvGraphicFramePr/>
          <p:nvPr/>
        </p:nvGraphicFramePr>
        <p:xfrm>
          <a:off x="548640" y="1536192"/>
          <a:ext cx="3703320" cy="37033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4270248" y="1225296"/>
            <a:ext cx="3703320" cy="164592"/>
          </a:xfrm>
          <a:prstGeom prst="rect">
            <a:avLst/>
          </a:prstGeom>
          <a:noFill/>
          <a:ln/>
        </p:spPr>
        <p:txBody>
          <a:bodyPr wrap="square" lIns="0" tIns="0" rIns="0" bIns="0" rtlCol="0" anchor="ctr"/>
          <a:lstStyle/>
          <a:p>
            <a:pPr marL="0" indent="0">
              <a:buNone/>
            </a:pPr>
            <a:r>
              <a:rPr lang="en-US" sz="1500" b="1" dirty="0">
                <a:solidFill>
                  <a:srgbClr val="16324F"/>
                </a:solidFill>
              </a:rPr>
              <a:t>Median income</a:t>
            </a:r>
            <a:endParaRPr lang="en-US" sz="1500" dirty="0"/>
          </a:p>
        </p:txBody>
      </p:sp>
      <p:graphicFrame>
        <p:nvGraphicFramePr>
          <p:cNvPr id="9" name="Chart 1"/>
          <p:cNvGraphicFramePr/>
          <p:nvPr/>
        </p:nvGraphicFramePr>
        <p:xfrm>
          <a:off x="4270248" y="1536192"/>
          <a:ext cx="3703320" cy="37033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6"/>
          <p:cNvSpPr/>
          <p:nvPr/>
        </p:nvSpPr>
        <p:spPr>
          <a:xfrm>
            <a:off x="7991856" y="1225296"/>
            <a:ext cx="3657600" cy="164592"/>
          </a:xfrm>
          <a:prstGeom prst="rect">
            <a:avLst/>
          </a:prstGeom>
          <a:noFill/>
          <a:ln/>
        </p:spPr>
        <p:txBody>
          <a:bodyPr wrap="square" lIns="0" tIns="0" rIns="0" bIns="0" rtlCol="0" anchor="ctr"/>
          <a:lstStyle/>
          <a:p>
            <a:pPr marL="0" indent="0">
              <a:buNone/>
            </a:pPr>
            <a:r>
              <a:rPr lang="en-US" sz="1500" b="1" dirty="0">
                <a:solidFill>
                  <a:srgbClr val="16324F"/>
                </a:solidFill>
              </a:rPr>
              <a:t>Population mortality crude rate</a:t>
            </a:r>
            <a:endParaRPr lang="en-US" sz="1500" dirty="0"/>
          </a:p>
        </p:txBody>
      </p:sp>
      <p:graphicFrame>
        <p:nvGraphicFramePr>
          <p:cNvPr id="11" name="Chart 2"/>
          <p:cNvGraphicFramePr/>
          <p:nvPr/>
        </p:nvGraphicFramePr>
        <p:xfrm>
          <a:off x="7991856" y="1536192"/>
          <a:ext cx="3657600" cy="370332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7"/>
          <p:cNvSpPr/>
          <p:nvPr/>
        </p:nvSpPr>
        <p:spPr>
          <a:xfrm>
            <a:off x="749808" y="5504688"/>
            <a:ext cx="10972800" cy="731520"/>
          </a:xfrm>
          <a:prstGeom prst="rect">
            <a:avLst/>
          </a:prstGeom>
          <a:noFill/>
          <a:ln/>
        </p:spPr>
        <p:txBody>
          <a:bodyPr wrap="square" lIns="508" tIns="508" rIns="508" bIns="508" rtlCol="0" anchor="t"/>
          <a:lstStyle/>
          <a:p>
            <a:pPr marL="180340" indent="-180340">
              <a:buSzPct val="100000"/>
              <a:buChar char="•"/>
            </a:pPr>
            <a:r>
              <a:rPr lang="en-US" sz="1420" dirty="0">
                <a:solidFill>
                  <a:srgbClr val="243240"/>
                </a:solidFill>
                <a:latin typeface="Aptos" pitchFamily="34" charset="0"/>
                <a:ea typeface="Aptos" pitchFamily="34" charset="-122"/>
                <a:cs typeface="Aptos" pitchFamily="34" charset="-120"/>
              </a:rPr>
              <a:t>The South shows the highest average uninsured share and the highest average population mortality crude rate in this regional snapshot.</a:t>
            </a:r>
            <a:endParaRPr lang="en-US" sz="1420" dirty="0"/>
          </a:p>
          <a:p>
            <a:pPr marL="180340" indent="-180340">
              <a:buSzPct val="100000"/>
              <a:buChar char="•"/>
            </a:pPr>
            <a:r>
              <a:rPr lang="en-US" sz="1420" dirty="0">
                <a:solidFill>
                  <a:srgbClr val="243240"/>
                </a:solidFill>
                <a:latin typeface="Aptos" pitchFamily="34" charset="0"/>
                <a:ea typeface="Aptos" pitchFamily="34" charset="-122"/>
                <a:cs typeface="Aptos" pitchFamily="34" charset="-120"/>
              </a:rPr>
              <a:t>The Northeast leads on median income, suggesting a different socioeconomic context around access and continuity of care.</a:t>
            </a:r>
            <a:endParaRPr lang="en-US" sz="1420" dirty="0"/>
          </a:p>
          <a:p>
            <a:pPr marL="180340" indent="-180340">
              <a:buSzPct val="100000"/>
              <a:buChar char="•"/>
            </a:pPr>
            <a:r>
              <a:rPr lang="en-US" sz="1420" dirty="0">
                <a:solidFill>
                  <a:srgbClr val="243240"/>
                </a:solidFill>
                <a:latin typeface="Aptos" pitchFamily="34" charset="0"/>
                <a:ea typeface="Aptos" pitchFamily="34" charset="-122"/>
                <a:cs typeface="Aptos" pitchFamily="34" charset="-120"/>
              </a:rPr>
              <a:t>These variables are ecological covariates; they do not prove individual-level mechanisms.</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STATE-LEVEL VIEW</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Geographic hotspots show where burden concentrates</a:t>
            </a:r>
            <a:endParaRPr lang="en-US" sz="2500" dirty="0"/>
          </a:p>
        </p:txBody>
      </p:sp>
      <p:sp>
        <p:nvSpPr>
          <p:cNvPr id="6" name="Shape 4"/>
          <p:cNvSpPr/>
          <p:nvPr/>
        </p:nvSpPr>
        <p:spPr>
          <a:xfrm>
            <a:off x="658368" y="1572768"/>
            <a:ext cx="566928" cy="512064"/>
          </a:xfrm>
          <a:prstGeom prst="rect">
            <a:avLst/>
          </a:prstGeom>
          <a:solidFill>
            <a:srgbClr val="16324F"/>
          </a:solidFill>
          <a:ln w="12700">
            <a:solidFill>
              <a:srgbClr val="D9E0E6"/>
            </a:solidFill>
            <a:prstDash val="solid"/>
          </a:ln>
        </p:spPr>
        <p:txBody>
          <a:bodyPr/>
          <a:lstStyle/>
          <a:p>
            <a:endParaRPr lang="en-US"/>
          </a:p>
        </p:txBody>
      </p:sp>
      <p:sp>
        <p:nvSpPr>
          <p:cNvPr id="7" name="Text 5"/>
          <p:cNvSpPr/>
          <p:nvPr/>
        </p:nvSpPr>
        <p:spPr>
          <a:xfrm>
            <a:off x="713232" y="1618488"/>
            <a:ext cx="45720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Aptos" pitchFamily="34" charset="0"/>
                <a:ea typeface="Aptos" pitchFamily="34" charset="-122"/>
                <a:cs typeface="Aptos" pitchFamily="34" charset="-120"/>
              </a:rPr>
              <a:t>Rank</a:t>
            </a:r>
            <a:endParaRPr lang="en-US" sz="1150" dirty="0"/>
          </a:p>
        </p:txBody>
      </p:sp>
      <p:sp>
        <p:nvSpPr>
          <p:cNvPr id="8" name="Shape 6"/>
          <p:cNvSpPr/>
          <p:nvPr/>
        </p:nvSpPr>
        <p:spPr>
          <a:xfrm>
            <a:off x="1225296" y="1572768"/>
            <a:ext cx="2212848" cy="512064"/>
          </a:xfrm>
          <a:prstGeom prst="rect">
            <a:avLst/>
          </a:prstGeom>
          <a:solidFill>
            <a:srgbClr val="16324F"/>
          </a:solidFill>
          <a:ln w="12700">
            <a:solidFill>
              <a:srgbClr val="D9E0E6"/>
            </a:solidFill>
            <a:prstDash val="solid"/>
          </a:ln>
        </p:spPr>
        <p:txBody>
          <a:bodyPr/>
          <a:lstStyle/>
          <a:p>
            <a:endParaRPr lang="en-US"/>
          </a:p>
        </p:txBody>
      </p:sp>
      <p:sp>
        <p:nvSpPr>
          <p:cNvPr id="9" name="Text 7"/>
          <p:cNvSpPr/>
          <p:nvPr/>
        </p:nvSpPr>
        <p:spPr>
          <a:xfrm>
            <a:off x="1280160" y="1618488"/>
            <a:ext cx="2103120" cy="420624"/>
          </a:xfrm>
          <a:prstGeom prst="rect">
            <a:avLst/>
          </a:prstGeom>
          <a:noFill/>
          <a:ln/>
        </p:spPr>
        <p:txBody>
          <a:bodyPr wrap="square" lIns="0" tIns="0" rIns="0" bIns="0" rtlCol="0" anchor="ctr"/>
          <a:lstStyle/>
          <a:p>
            <a:pPr marL="0" indent="0" algn="l">
              <a:buNone/>
            </a:pPr>
            <a:r>
              <a:rPr lang="en-US" sz="1150" b="1" dirty="0">
                <a:solidFill>
                  <a:srgbClr val="FFFFFF"/>
                </a:solidFill>
                <a:latin typeface="Aptos" pitchFamily="34" charset="0"/>
                <a:ea typeface="Aptos" pitchFamily="34" charset="-122"/>
                <a:cs typeface="Aptos" pitchFamily="34" charset="-120"/>
              </a:rPr>
              <a:t>Heart</a:t>
            </a:r>
            <a:endParaRPr lang="en-US" sz="1150" dirty="0"/>
          </a:p>
        </p:txBody>
      </p:sp>
      <p:sp>
        <p:nvSpPr>
          <p:cNvPr id="10" name="Shape 8"/>
          <p:cNvSpPr/>
          <p:nvPr/>
        </p:nvSpPr>
        <p:spPr>
          <a:xfrm>
            <a:off x="3438144" y="1572768"/>
            <a:ext cx="2304288" cy="512064"/>
          </a:xfrm>
          <a:prstGeom prst="rect">
            <a:avLst/>
          </a:prstGeom>
          <a:solidFill>
            <a:srgbClr val="16324F"/>
          </a:solidFill>
          <a:ln w="12700">
            <a:solidFill>
              <a:srgbClr val="D9E0E6"/>
            </a:solidFill>
            <a:prstDash val="solid"/>
          </a:ln>
        </p:spPr>
        <p:txBody>
          <a:bodyPr/>
          <a:lstStyle/>
          <a:p>
            <a:endParaRPr lang="en-US"/>
          </a:p>
        </p:txBody>
      </p:sp>
      <p:sp>
        <p:nvSpPr>
          <p:cNvPr id="11" name="Text 9"/>
          <p:cNvSpPr/>
          <p:nvPr/>
        </p:nvSpPr>
        <p:spPr>
          <a:xfrm>
            <a:off x="3493008" y="1618488"/>
            <a:ext cx="2194560" cy="420624"/>
          </a:xfrm>
          <a:prstGeom prst="rect">
            <a:avLst/>
          </a:prstGeom>
          <a:noFill/>
          <a:ln/>
        </p:spPr>
        <p:txBody>
          <a:bodyPr wrap="square" lIns="0" tIns="0" rIns="0" bIns="0" rtlCol="0" anchor="ctr"/>
          <a:lstStyle/>
          <a:p>
            <a:pPr marL="0" indent="0" algn="l">
              <a:buNone/>
            </a:pPr>
            <a:r>
              <a:rPr lang="en-US" sz="1150" b="1" dirty="0">
                <a:solidFill>
                  <a:srgbClr val="FFFFFF"/>
                </a:solidFill>
                <a:latin typeface="Aptos" pitchFamily="34" charset="0"/>
                <a:ea typeface="Aptos" pitchFamily="34" charset="-122"/>
                <a:cs typeface="Aptos" pitchFamily="34" charset="-120"/>
              </a:rPr>
              <a:t>Kidney</a:t>
            </a:r>
            <a:endParaRPr lang="en-US" sz="1150" dirty="0"/>
          </a:p>
        </p:txBody>
      </p:sp>
      <p:sp>
        <p:nvSpPr>
          <p:cNvPr id="12" name="Shape 10"/>
          <p:cNvSpPr/>
          <p:nvPr/>
        </p:nvSpPr>
        <p:spPr>
          <a:xfrm>
            <a:off x="5742432" y="1572768"/>
            <a:ext cx="2103120" cy="512064"/>
          </a:xfrm>
          <a:prstGeom prst="rect">
            <a:avLst/>
          </a:prstGeom>
          <a:solidFill>
            <a:srgbClr val="16324F"/>
          </a:solidFill>
          <a:ln w="12700">
            <a:solidFill>
              <a:srgbClr val="D9E0E6"/>
            </a:solidFill>
            <a:prstDash val="solid"/>
          </a:ln>
        </p:spPr>
        <p:txBody>
          <a:bodyPr/>
          <a:lstStyle/>
          <a:p>
            <a:endParaRPr lang="en-US"/>
          </a:p>
        </p:txBody>
      </p:sp>
      <p:sp>
        <p:nvSpPr>
          <p:cNvPr id="13" name="Text 11"/>
          <p:cNvSpPr/>
          <p:nvPr/>
        </p:nvSpPr>
        <p:spPr>
          <a:xfrm>
            <a:off x="5797296" y="1618488"/>
            <a:ext cx="1993392" cy="420624"/>
          </a:xfrm>
          <a:prstGeom prst="rect">
            <a:avLst/>
          </a:prstGeom>
          <a:noFill/>
          <a:ln/>
        </p:spPr>
        <p:txBody>
          <a:bodyPr wrap="square" lIns="0" tIns="0" rIns="0" bIns="0" rtlCol="0" anchor="ctr"/>
          <a:lstStyle/>
          <a:p>
            <a:pPr marL="0" indent="0" algn="l">
              <a:buNone/>
            </a:pPr>
            <a:r>
              <a:rPr lang="en-US" sz="1150" b="1" dirty="0">
                <a:solidFill>
                  <a:srgbClr val="FFFFFF"/>
                </a:solidFill>
                <a:latin typeface="Aptos" pitchFamily="34" charset="0"/>
                <a:ea typeface="Aptos" pitchFamily="34" charset="-122"/>
                <a:cs typeface="Aptos" pitchFamily="34" charset="-120"/>
              </a:rPr>
              <a:t>Lung</a:t>
            </a:r>
            <a:endParaRPr lang="en-US" sz="1150" dirty="0"/>
          </a:p>
        </p:txBody>
      </p:sp>
      <p:sp>
        <p:nvSpPr>
          <p:cNvPr id="14" name="Shape 12"/>
          <p:cNvSpPr/>
          <p:nvPr/>
        </p:nvSpPr>
        <p:spPr>
          <a:xfrm>
            <a:off x="658368" y="2084832"/>
            <a:ext cx="566928" cy="512064"/>
          </a:xfrm>
          <a:prstGeom prst="rect">
            <a:avLst/>
          </a:prstGeom>
          <a:solidFill>
            <a:srgbClr val="FFFFFF"/>
          </a:solidFill>
          <a:ln w="12700">
            <a:solidFill>
              <a:srgbClr val="D9E0E6"/>
            </a:solidFill>
            <a:prstDash val="solid"/>
          </a:ln>
        </p:spPr>
        <p:txBody>
          <a:bodyPr/>
          <a:lstStyle/>
          <a:p>
            <a:endParaRPr lang="en-US"/>
          </a:p>
        </p:txBody>
      </p:sp>
      <p:sp>
        <p:nvSpPr>
          <p:cNvPr id="15" name="Text 13"/>
          <p:cNvSpPr/>
          <p:nvPr/>
        </p:nvSpPr>
        <p:spPr>
          <a:xfrm>
            <a:off x="713232" y="2130552"/>
            <a:ext cx="457200" cy="420624"/>
          </a:xfrm>
          <a:prstGeom prst="rect">
            <a:avLst/>
          </a:prstGeom>
          <a:noFill/>
          <a:ln/>
        </p:spPr>
        <p:txBody>
          <a:bodyPr wrap="square" lIns="0" tIns="0" rIns="0" bIns="0" rtlCol="0" anchor="ctr"/>
          <a:lstStyle/>
          <a:p>
            <a:pPr marL="0" indent="0" algn="ctr">
              <a:buNone/>
            </a:pPr>
            <a:r>
              <a:rPr lang="en-US" sz="1100" dirty="0">
                <a:solidFill>
                  <a:srgbClr val="243240"/>
                </a:solidFill>
                <a:latin typeface="Aptos" pitchFamily="34" charset="0"/>
                <a:ea typeface="Aptos" pitchFamily="34" charset="-122"/>
                <a:cs typeface="Aptos" pitchFamily="34" charset="-120"/>
              </a:rPr>
              <a:t>1</a:t>
            </a:r>
            <a:endParaRPr lang="en-US" sz="1100" dirty="0"/>
          </a:p>
        </p:txBody>
      </p:sp>
      <p:sp>
        <p:nvSpPr>
          <p:cNvPr id="16" name="Shape 14"/>
          <p:cNvSpPr/>
          <p:nvPr/>
        </p:nvSpPr>
        <p:spPr>
          <a:xfrm>
            <a:off x="1225296" y="2084832"/>
            <a:ext cx="2212848" cy="512064"/>
          </a:xfrm>
          <a:prstGeom prst="rect">
            <a:avLst/>
          </a:prstGeom>
          <a:solidFill>
            <a:srgbClr val="FFFFFF"/>
          </a:solidFill>
          <a:ln w="12700">
            <a:solidFill>
              <a:srgbClr val="D9E0E6"/>
            </a:solidFill>
            <a:prstDash val="solid"/>
          </a:ln>
        </p:spPr>
        <p:txBody>
          <a:bodyPr/>
          <a:lstStyle/>
          <a:p>
            <a:endParaRPr lang="en-US"/>
          </a:p>
        </p:txBody>
      </p:sp>
      <p:sp>
        <p:nvSpPr>
          <p:cNvPr id="17" name="Text 15"/>
          <p:cNvSpPr/>
          <p:nvPr/>
        </p:nvSpPr>
        <p:spPr>
          <a:xfrm>
            <a:off x="1280160" y="2130552"/>
            <a:ext cx="210312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District of Columbia (7.4)</a:t>
            </a:r>
            <a:endParaRPr lang="en-US" sz="1100" dirty="0"/>
          </a:p>
        </p:txBody>
      </p:sp>
      <p:sp>
        <p:nvSpPr>
          <p:cNvPr id="18" name="Shape 16"/>
          <p:cNvSpPr/>
          <p:nvPr/>
        </p:nvSpPr>
        <p:spPr>
          <a:xfrm>
            <a:off x="3438144" y="2084832"/>
            <a:ext cx="2304288" cy="512064"/>
          </a:xfrm>
          <a:prstGeom prst="rect">
            <a:avLst/>
          </a:prstGeom>
          <a:solidFill>
            <a:srgbClr val="FFFFFF"/>
          </a:solidFill>
          <a:ln w="12700">
            <a:solidFill>
              <a:srgbClr val="D9E0E6"/>
            </a:solidFill>
            <a:prstDash val="solid"/>
          </a:ln>
        </p:spPr>
        <p:txBody>
          <a:bodyPr/>
          <a:lstStyle/>
          <a:p>
            <a:endParaRPr lang="en-US"/>
          </a:p>
        </p:txBody>
      </p:sp>
      <p:sp>
        <p:nvSpPr>
          <p:cNvPr id="19" name="Text 17"/>
          <p:cNvSpPr/>
          <p:nvPr/>
        </p:nvSpPr>
        <p:spPr>
          <a:xfrm>
            <a:off x="3493008" y="2130552"/>
            <a:ext cx="219456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District of Columbia (159.2)</a:t>
            </a:r>
            <a:endParaRPr lang="en-US" sz="1100" dirty="0"/>
          </a:p>
        </p:txBody>
      </p:sp>
      <p:sp>
        <p:nvSpPr>
          <p:cNvPr id="20" name="Shape 18"/>
          <p:cNvSpPr/>
          <p:nvPr/>
        </p:nvSpPr>
        <p:spPr>
          <a:xfrm>
            <a:off x="5742432" y="2084832"/>
            <a:ext cx="2103120" cy="512064"/>
          </a:xfrm>
          <a:prstGeom prst="rect">
            <a:avLst/>
          </a:prstGeom>
          <a:solidFill>
            <a:srgbClr val="FFFFFF"/>
          </a:solidFill>
          <a:ln w="12700">
            <a:solidFill>
              <a:srgbClr val="D9E0E6"/>
            </a:solidFill>
            <a:prstDash val="solid"/>
          </a:ln>
        </p:spPr>
        <p:txBody>
          <a:bodyPr/>
          <a:lstStyle/>
          <a:p>
            <a:endParaRPr lang="en-US"/>
          </a:p>
        </p:txBody>
      </p:sp>
      <p:sp>
        <p:nvSpPr>
          <p:cNvPr id="21" name="Text 19"/>
          <p:cNvSpPr/>
          <p:nvPr/>
        </p:nvSpPr>
        <p:spPr>
          <a:xfrm>
            <a:off x="5797296" y="2130552"/>
            <a:ext cx="1993392"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Pennsylvania (0.9)</a:t>
            </a:r>
            <a:endParaRPr lang="en-US" sz="1100" dirty="0"/>
          </a:p>
        </p:txBody>
      </p:sp>
      <p:sp>
        <p:nvSpPr>
          <p:cNvPr id="22" name="Shape 20"/>
          <p:cNvSpPr/>
          <p:nvPr/>
        </p:nvSpPr>
        <p:spPr>
          <a:xfrm>
            <a:off x="658368" y="2596896"/>
            <a:ext cx="566928" cy="512064"/>
          </a:xfrm>
          <a:prstGeom prst="rect">
            <a:avLst/>
          </a:prstGeom>
          <a:solidFill>
            <a:srgbClr val="FFFFFF"/>
          </a:solidFill>
          <a:ln w="12700">
            <a:solidFill>
              <a:srgbClr val="D9E0E6"/>
            </a:solidFill>
            <a:prstDash val="solid"/>
          </a:ln>
        </p:spPr>
        <p:txBody>
          <a:bodyPr/>
          <a:lstStyle/>
          <a:p>
            <a:endParaRPr lang="en-US"/>
          </a:p>
        </p:txBody>
      </p:sp>
      <p:sp>
        <p:nvSpPr>
          <p:cNvPr id="23" name="Text 21"/>
          <p:cNvSpPr/>
          <p:nvPr/>
        </p:nvSpPr>
        <p:spPr>
          <a:xfrm>
            <a:off x="713232" y="2642616"/>
            <a:ext cx="457200" cy="420624"/>
          </a:xfrm>
          <a:prstGeom prst="rect">
            <a:avLst/>
          </a:prstGeom>
          <a:noFill/>
          <a:ln/>
        </p:spPr>
        <p:txBody>
          <a:bodyPr wrap="square" lIns="0" tIns="0" rIns="0" bIns="0" rtlCol="0" anchor="ctr"/>
          <a:lstStyle/>
          <a:p>
            <a:pPr marL="0" indent="0" algn="ctr">
              <a:buNone/>
            </a:pPr>
            <a:r>
              <a:rPr lang="en-US" sz="1100" dirty="0">
                <a:solidFill>
                  <a:srgbClr val="243240"/>
                </a:solidFill>
                <a:latin typeface="Aptos" pitchFamily="34" charset="0"/>
                <a:ea typeface="Aptos" pitchFamily="34" charset="-122"/>
                <a:cs typeface="Aptos" pitchFamily="34" charset="-120"/>
              </a:rPr>
              <a:t>2</a:t>
            </a:r>
            <a:endParaRPr lang="en-US" sz="1100" dirty="0"/>
          </a:p>
        </p:txBody>
      </p:sp>
      <p:sp>
        <p:nvSpPr>
          <p:cNvPr id="24" name="Shape 22"/>
          <p:cNvSpPr/>
          <p:nvPr/>
        </p:nvSpPr>
        <p:spPr>
          <a:xfrm>
            <a:off x="1225296" y="2596896"/>
            <a:ext cx="2212848" cy="512064"/>
          </a:xfrm>
          <a:prstGeom prst="rect">
            <a:avLst/>
          </a:prstGeom>
          <a:solidFill>
            <a:srgbClr val="FFFFFF"/>
          </a:solidFill>
          <a:ln w="12700">
            <a:solidFill>
              <a:srgbClr val="D9E0E6"/>
            </a:solidFill>
            <a:prstDash val="solid"/>
          </a:ln>
        </p:spPr>
        <p:txBody>
          <a:bodyPr/>
          <a:lstStyle/>
          <a:p>
            <a:endParaRPr lang="en-US"/>
          </a:p>
        </p:txBody>
      </p:sp>
      <p:sp>
        <p:nvSpPr>
          <p:cNvPr id="25" name="Text 23"/>
          <p:cNvSpPr/>
          <p:nvPr/>
        </p:nvSpPr>
        <p:spPr>
          <a:xfrm>
            <a:off x="1280160" y="2642616"/>
            <a:ext cx="210312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Ohio (2.5)</a:t>
            </a:r>
            <a:endParaRPr lang="en-US" sz="1100" dirty="0"/>
          </a:p>
        </p:txBody>
      </p:sp>
      <p:sp>
        <p:nvSpPr>
          <p:cNvPr id="26" name="Shape 24"/>
          <p:cNvSpPr/>
          <p:nvPr/>
        </p:nvSpPr>
        <p:spPr>
          <a:xfrm>
            <a:off x="3438144" y="2596896"/>
            <a:ext cx="2304288" cy="512064"/>
          </a:xfrm>
          <a:prstGeom prst="rect">
            <a:avLst/>
          </a:prstGeom>
          <a:solidFill>
            <a:srgbClr val="FFFFFF"/>
          </a:solidFill>
          <a:ln w="12700">
            <a:solidFill>
              <a:srgbClr val="D9E0E6"/>
            </a:solidFill>
            <a:prstDash val="solid"/>
          </a:ln>
        </p:spPr>
        <p:txBody>
          <a:bodyPr/>
          <a:lstStyle/>
          <a:p>
            <a:endParaRPr lang="en-US"/>
          </a:p>
        </p:txBody>
      </p:sp>
      <p:sp>
        <p:nvSpPr>
          <p:cNvPr id="27" name="Text 25"/>
          <p:cNvSpPr/>
          <p:nvPr/>
        </p:nvSpPr>
        <p:spPr>
          <a:xfrm>
            <a:off x="3493008" y="2642616"/>
            <a:ext cx="219456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Massachusetts (49.1)</a:t>
            </a:r>
            <a:endParaRPr lang="en-US" sz="1100" dirty="0"/>
          </a:p>
        </p:txBody>
      </p:sp>
      <p:sp>
        <p:nvSpPr>
          <p:cNvPr id="28" name="Shape 26"/>
          <p:cNvSpPr/>
          <p:nvPr/>
        </p:nvSpPr>
        <p:spPr>
          <a:xfrm>
            <a:off x="5742432" y="2596896"/>
            <a:ext cx="2103120" cy="512064"/>
          </a:xfrm>
          <a:prstGeom prst="rect">
            <a:avLst/>
          </a:prstGeom>
          <a:solidFill>
            <a:srgbClr val="FFFFFF"/>
          </a:solidFill>
          <a:ln w="12700">
            <a:solidFill>
              <a:srgbClr val="D9E0E6"/>
            </a:solidFill>
            <a:prstDash val="solid"/>
          </a:ln>
        </p:spPr>
        <p:txBody>
          <a:bodyPr/>
          <a:lstStyle/>
          <a:p>
            <a:endParaRPr lang="en-US"/>
          </a:p>
        </p:txBody>
      </p:sp>
      <p:sp>
        <p:nvSpPr>
          <p:cNvPr id="29" name="Text 27"/>
          <p:cNvSpPr/>
          <p:nvPr/>
        </p:nvSpPr>
        <p:spPr>
          <a:xfrm>
            <a:off x="5797296" y="2642616"/>
            <a:ext cx="1993392"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Michigan (0.7)</a:t>
            </a:r>
            <a:endParaRPr lang="en-US" sz="1100" dirty="0"/>
          </a:p>
        </p:txBody>
      </p:sp>
      <p:sp>
        <p:nvSpPr>
          <p:cNvPr id="30" name="Shape 28"/>
          <p:cNvSpPr/>
          <p:nvPr/>
        </p:nvSpPr>
        <p:spPr>
          <a:xfrm>
            <a:off x="658368" y="3108960"/>
            <a:ext cx="566928" cy="512064"/>
          </a:xfrm>
          <a:prstGeom prst="rect">
            <a:avLst/>
          </a:prstGeom>
          <a:solidFill>
            <a:srgbClr val="FFFFFF"/>
          </a:solidFill>
          <a:ln w="12700">
            <a:solidFill>
              <a:srgbClr val="D9E0E6"/>
            </a:solidFill>
            <a:prstDash val="solid"/>
          </a:ln>
        </p:spPr>
        <p:txBody>
          <a:bodyPr/>
          <a:lstStyle/>
          <a:p>
            <a:endParaRPr lang="en-US"/>
          </a:p>
        </p:txBody>
      </p:sp>
      <p:sp>
        <p:nvSpPr>
          <p:cNvPr id="31" name="Text 29"/>
          <p:cNvSpPr/>
          <p:nvPr/>
        </p:nvSpPr>
        <p:spPr>
          <a:xfrm>
            <a:off x="713232" y="3154680"/>
            <a:ext cx="457200" cy="420624"/>
          </a:xfrm>
          <a:prstGeom prst="rect">
            <a:avLst/>
          </a:prstGeom>
          <a:noFill/>
          <a:ln/>
        </p:spPr>
        <p:txBody>
          <a:bodyPr wrap="square" lIns="0" tIns="0" rIns="0" bIns="0" rtlCol="0" anchor="ctr"/>
          <a:lstStyle/>
          <a:p>
            <a:pPr marL="0" indent="0" algn="ctr">
              <a:buNone/>
            </a:pPr>
            <a:r>
              <a:rPr lang="en-US" sz="1100" dirty="0">
                <a:solidFill>
                  <a:srgbClr val="243240"/>
                </a:solidFill>
                <a:latin typeface="Aptos" pitchFamily="34" charset="0"/>
                <a:ea typeface="Aptos" pitchFamily="34" charset="-122"/>
                <a:cs typeface="Aptos" pitchFamily="34" charset="-120"/>
              </a:rPr>
              <a:t>3</a:t>
            </a:r>
            <a:endParaRPr lang="en-US" sz="1100" dirty="0"/>
          </a:p>
        </p:txBody>
      </p:sp>
      <p:sp>
        <p:nvSpPr>
          <p:cNvPr id="32" name="Shape 30"/>
          <p:cNvSpPr/>
          <p:nvPr/>
        </p:nvSpPr>
        <p:spPr>
          <a:xfrm>
            <a:off x="1225296" y="3108960"/>
            <a:ext cx="2212848" cy="512064"/>
          </a:xfrm>
          <a:prstGeom prst="rect">
            <a:avLst/>
          </a:prstGeom>
          <a:solidFill>
            <a:srgbClr val="FFFFFF"/>
          </a:solidFill>
          <a:ln w="12700">
            <a:solidFill>
              <a:srgbClr val="D9E0E6"/>
            </a:solidFill>
            <a:prstDash val="solid"/>
          </a:ln>
        </p:spPr>
        <p:txBody>
          <a:bodyPr/>
          <a:lstStyle/>
          <a:p>
            <a:endParaRPr lang="en-US"/>
          </a:p>
        </p:txBody>
      </p:sp>
      <p:sp>
        <p:nvSpPr>
          <p:cNvPr id="33" name="Text 31"/>
          <p:cNvSpPr/>
          <p:nvPr/>
        </p:nvSpPr>
        <p:spPr>
          <a:xfrm>
            <a:off x="1280160" y="3154680"/>
            <a:ext cx="210312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Nebraska (2.1)</a:t>
            </a:r>
            <a:endParaRPr lang="en-US" sz="1100" dirty="0"/>
          </a:p>
        </p:txBody>
      </p:sp>
      <p:sp>
        <p:nvSpPr>
          <p:cNvPr id="34" name="Shape 32"/>
          <p:cNvSpPr/>
          <p:nvPr/>
        </p:nvSpPr>
        <p:spPr>
          <a:xfrm>
            <a:off x="3438144" y="3108960"/>
            <a:ext cx="2304288" cy="512064"/>
          </a:xfrm>
          <a:prstGeom prst="rect">
            <a:avLst/>
          </a:prstGeom>
          <a:solidFill>
            <a:srgbClr val="FFFFFF"/>
          </a:solidFill>
          <a:ln w="12700">
            <a:solidFill>
              <a:srgbClr val="D9E0E6"/>
            </a:solidFill>
            <a:prstDash val="solid"/>
          </a:ln>
        </p:spPr>
        <p:txBody>
          <a:bodyPr/>
          <a:lstStyle/>
          <a:p>
            <a:endParaRPr lang="en-US"/>
          </a:p>
        </p:txBody>
      </p:sp>
      <p:sp>
        <p:nvSpPr>
          <p:cNvPr id="35" name="Text 33"/>
          <p:cNvSpPr/>
          <p:nvPr/>
        </p:nvSpPr>
        <p:spPr>
          <a:xfrm>
            <a:off x="3493008" y="3154680"/>
            <a:ext cx="219456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California (45.3)</a:t>
            </a:r>
            <a:endParaRPr lang="en-US" sz="1100" dirty="0"/>
          </a:p>
        </p:txBody>
      </p:sp>
      <p:sp>
        <p:nvSpPr>
          <p:cNvPr id="36" name="Shape 34"/>
          <p:cNvSpPr/>
          <p:nvPr/>
        </p:nvSpPr>
        <p:spPr>
          <a:xfrm>
            <a:off x="5742432" y="3108960"/>
            <a:ext cx="2103120" cy="512064"/>
          </a:xfrm>
          <a:prstGeom prst="rect">
            <a:avLst/>
          </a:prstGeom>
          <a:solidFill>
            <a:srgbClr val="FFFFFF"/>
          </a:solidFill>
          <a:ln w="12700">
            <a:solidFill>
              <a:srgbClr val="D9E0E6"/>
            </a:solidFill>
            <a:prstDash val="solid"/>
          </a:ln>
        </p:spPr>
        <p:txBody>
          <a:bodyPr/>
          <a:lstStyle/>
          <a:p>
            <a:endParaRPr lang="en-US"/>
          </a:p>
        </p:txBody>
      </p:sp>
      <p:sp>
        <p:nvSpPr>
          <p:cNvPr id="37" name="Text 35"/>
          <p:cNvSpPr/>
          <p:nvPr/>
        </p:nvSpPr>
        <p:spPr>
          <a:xfrm>
            <a:off x="5797296" y="3154680"/>
            <a:ext cx="1993392"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Washington (0.7)</a:t>
            </a:r>
            <a:endParaRPr lang="en-US" sz="1100" dirty="0"/>
          </a:p>
        </p:txBody>
      </p:sp>
      <p:sp>
        <p:nvSpPr>
          <p:cNvPr id="38" name="Shape 36"/>
          <p:cNvSpPr/>
          <p:nvPr/>
        </p:nvSpPr>
        <p:spPr>
          <a:xfrm>
            <a:off x="658368" y="3621024"/>
            <a:ext cx="566928" cy="512064"/>
          </a:xfrm>
          <a:prstGeom prst="rect">
            <a:avLst/>
          </a:prstGeom>
          <a:solidFill>
            <a:srgbClr val="FFFFFF"/>
          </a:solidFill>
          <a:ln w="12700">
            <a:solidFill>
              <a:srgbClr val="D9E0E6"/>
            </a:solidFill>
            <a:prstDash val="solid"/>
          </a:ln>
        </p:spPr>
        <p:txBody>
          <a:bodyPr/>
          <a:lstStyle/>
          <a:p>
            <a:endParaRPr lang="en-US"/>
          </a:p>
        </p:txBody>
      </p:sp>
      <p:sp>
        <p:nvSpPr>
          <p:cNvPr id="39" name="Text 37"/>
          <p:cNvSpPr/>
          <p:nvPr/>
        </p:nvSpPr>
        <p:spPr>
          <a:xfrm>
            <a:off x="713232" y="3666744"/>
            <a:ext cx="457200" cy="420624"/>
          </a:xfrm>
          <a:prstGeom prst="rect">
            <a:avLst/>
          </a:prstGeom>
          <a:noFill/>
          <a:ln/>
        </p:spPr>
        <p:txBody>
          <a:bodyPr wrap="square" lIns="0" tIns="0" rIns="0" bIns="0" rtlCol="0" anchor="ctr"/>
          <a:lstStyle/>
          <a:p>
            <a:pPr marL="0" indent="0" algn="ctr">
              <a:buNone/>
            </a:pPr>
            <a:r>
              <a:rPr lang="en-US" sz="1100" dirty="0">
                <a:solidFill>
                  <a:srgbClr val="243240"/>
                </a:solidFill>
                <a:latin typeface="Aptos" pitchFamily="34" charset="0"/>
                <a:ea typeface="Aptos" pitchFamily="34" charset="-122"/>
                <a:cs typeface="Aptos" pitchFamily="34" charset="-120"/>
              </a:rPr>
              <a:t>4</a:t>
            </a:r>
            <a:endParaRPr lang="en-US" sz="1100" dirty="0"/>
          </a:p>
        </p:txBody>
      </p:sp>
      <p:sp>
        <p:nvSpPr>
          <p:cNvPr id="40" name="Shape 38"/>
          <p:cNvSpPr/>
          <p:nvPr/>
        </p:nvSpPr>
        <p:spPr>
          <a:xfrm>
            <a:off x="1225296" y="3621024"/>
            <a:ext cx="2212848" cy="512064"/>
          </a:xfrm>
          <a:prstGeom prst="rect">
            <a:avLst/>
          </a:prstGeom>
          <a:solidFill>
            <a:srgbClr val="FFFFFF"/>
          </a:solidFill>
          <a:ln w="12700">
            <a:solidFill>
              <a:srgbClr val="D9E0E6"/>
            </a:solidFill>
            <a:prstDash val="solid"/>
          </a:ln>
        </p:spPr>
        <p:txBody>
          <a:bodyPr/>
          <a:lstStyle/>
          <a:p>
            <a:endParaRPr lang="en-US"/>
          </a:p>
        </p:txBody>
      </p:sp>
      <p:sp>
        <p:nvSpPr>
          <p:cNvPr id="41" name="Text 39"/>
          <p:cNvSpPr/>
          <p:nvPr/>
        </p:nvSpPr>
        <p:spPr>
          <a:xfrm>
            <a:off x="1280160" y="3666744"/>
            <a:ext cx="210312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Utah (2.1)</a:t>
            </a:r>
            <a:endParaRPr lang="en-US" sz="1100" dirty="0"/>
          </a:p>
        </p:txBody>
      </p:sp>
      <p:sp>
        <p:nvSpPr>
          <p:cNvPr id="42" name="Shape 40"/>
          <p:cNvSpPr/>
          <p:nvPr/>
        </p:nvSpPr>
        <p:spPr>
          <a:xfrm>
            <a:off x="3438144" y="3621024"/>
            <a:ext cx="2304288" cy="512064"/>
          </a:xfrm>
          <a:prstGeom prst="rect">
            <a:avLst/>
          </a:prstGeom>
          <a:solidFill>
            <a:srgbClr val="FFFFFF"/>
          </a:solidFill>
          <a:ln w="12700">
            <a:solidFill>
              <a:srgbClr val="D9E0E6"/>
            </a:solidFill>
            <a:prstDash val="solid"/>
          </a:ln>
        </p:spPr>
        <p:txBody>
          <a:bodyPr/>
          <a:lstStyle/>
          <a:p>
            <a:endParaRPr lang="en-US"/>
          </a:p>
        </p:txBody>
      </p:sp>
      <p:sp>
        <p:nvSpPr>
          <p:cNvPr id="43" name="Text 41"/>
          <p:cNvSpPr/>
          <p:nvPr/>
        </p:nvSpPr>
        <p:spPr>
          <a:xfrm>
            <a:off x="3493008" y="3666744"/>
            <a:ext cx="219456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South Dakota (42.3)</a:t>
            </a:r>
            <a:endParaRPr lang="en-US" sz="1100" dirty="0"/>
          </a:p>
        </p:txBody>
      </p:sp>
      <p:sp>
        <p:nvSpPr>
          <p:cNvPr id="44" name="Shape 42"/>
          <p:cNvSpPr/>
          <p:nvPr/>
        </p:nvSpPr>
        <p:spPr>
          <a:xfrm>
            <a:off x="5742432" y="3621024"/>
            <a:ext cx="2103120" cy="512064"/>
          </a:xfrm>
          <a:prstGeom prst="rect">
            <a:avLst/>
          </a:prstGeom>
          <a:solidFill>
            <a:srgbClr val="FFFFFF"/>
          </a:solidFill>
          <a:ln w="12700">
            <a:solidFill>
              <a:srgbClr val="D9E0E6"/>
            </a:solidFill>
            <a:prstDash val="solid"/>
          </a:ln>
        </p:spPr>
        <p:txBody>
          <a:bodyPr/>
          <a:lstStyle/>
          <a:p>
            <a:endParaRPr lang="en-US"/>
          </a:p>
        </p:txBody>
      </p:sp>
      <p:sp>
        <p:nvSpPr>
          <p:cNvPr id="45" name="Text 43"/>
          <p:cNvSpPr/>
          <p:nvPr/>
        </p:nvSpPr>
        <p:spPr>
          <a:xfrm>
            <a:off x="5797296" y="3666744"/>
            <a:ext cx="1993392"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Ohio (0.6)</a:t>
            </a:r>
            <a:endParaRPr lang="en-US" sz="1100" dirty="0"/>
          </a:p>
        </p:txBody>
      </p:sp>
      <p:sp>
        <p:nvSpPr>
          <p:cNvPr id="46" name="Shape 44"/>
          <p:cNvSpPr/>
          <p:nvPr/>
        </p:nvSpPr>
        <p:spPr>
          <a:xfrm>
            <a:off x="658368" y="4133088"/>
            <a:ext cx="566928" cy="512064"/>
          </a:xfrm>
          <a:prstGeom prst="rect">
            <a:avLst/>
          </a:prstGeom>
          <a:solidFill>
            <a:srgbClr val="FFFFFF"/>
          </a:solidFill>
          <a:ln w="12700">
            <a:solidFill>
              <a:srgbClr val="D9E0E6"/>
            </a:solidFill>
            <a:prstDash val="solid"/>
          </a:ln>
        </p:spPr>
        <p:txBody>
          <a:bodyPr/>
          <a:lstStyle/>
          <a:p>
            <a:endParaRPr lang="en-US"/>
          </a:p>
        </p:txBody>
      </p:sp>
      <p:sp>
        <p:nvSpPr>
          <p:cNvPr id="47" name="Text 45"/>
          <p:cNvSpPr/>
          <p:nvPr/>
        </p:nvSpPr>
        <p:spPr>
          <a:xfrm>
            <a:off x="713232" y="4178808"/>
            <a:ext cx="457200" cy="420624"/>
          </a:xfrm>
          <a:prstGeom prst="rect">
            <a:avLst/>
          </a:prstGeom>
          <a:noFill/>
          <a:ln/>
        </p:spPr>
        <p:txBody>
          <a:bodyPr wrap="square" lIns="0" tIns="0" rIns="0" bIns="0" rtlCol="0" anchor="ctr"/>
          <a:lstStyle/>
          <a:p>
            <a:pPr marL="0" indent="0" algn="ctr">
              <a:buNone/>
            </a:pPr>
            <a:r>
              <a:rPr lang="en-US" sz="1100" dirty="0">
                <a:solidFill>
                  <a:srgbClr val="243240"/>
                </a:solidFill>
                <a:latin typeface="Aptos" pitchFamily="34" charset="0"/>
                <a:ea typeface="Aptos" pitchFamily="34" charset="-122"/>
                <a:cs typeface="Aptos" pitchFamily="34" charset="-120"/>
              </a:rPr>
              <a:t>5</a:t>
            </a:r>
            <a:endParaRPr lang="en-US" sz="1100" dirty="0"/>
          </a:p>
        </p:txBody>
      </p:sp>
      <p:sp>
        <p:nvSpPr>
          <p:cNvPr id="48" name="Shape 46"/>
          <p:cNvSpPr/>
          <p:nvPr/>
        </p:nvSpPr>
        <p:spPr>
          <a:xfrm>
            <a:off x="1225296" y="4133088"/>
            <a:ext cx="2212848" cy="512064"/>
          </a:xfrm>
          <a:prstGeom prst="rect">
            <a:avLst/>
          </a:prstGeom>
          <a:solidFill>
            <a:srgbClr val="FFFFFF"/>
          </a:solidFill>
          <a:ln w="12700">
            <a:solidFill>
              <a:srgbClr val="D9E0E6"/>
            </a:solidFill>
            <a:prstDash val="solid"/>
          </a:ln>
        </p:spPr>
        <p:txBody>
          <a:bodyPr/>
          <a:lstStyle/>
          <a:p>
            <a:endParaRPr lang="en-US"/>
          </a:p>
        </p:txBody>
      </p:sp>
      <p:sp>
        <p:nvSpPr>
          <p:cNvPr id="49" name="Text 47"/>
          <p:cNvSpPr/>
          <p:nvPr/>
        </p:nvSpPr>
        <p:spPr>
          <a:xfrm>
            <a:off x="1280160" y="4178808"/>
            <a:ext cx="210312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Massachusetts (1.9)</a:t>
            </a:r>
            <a:endParaRPr lang="en-US" sz="1100" dirty="0"/>
          </a:p>
        </p:txBody>
      </p:sp>
      <p:sp>
        <p:nvSpPr>
          <p:cNvPr id="50" name="Shape 48"/>
          <p:cNvSpPr/>
          <p:nvPr/>
        </p:nvSpPr>
        <p:spPr>
          <a:xfrm>
            <a:off x="3438144" y="4133088"/>
            <a:ext cx="2304288" cy="512064"/>
          </a:xfrm>
          <a:prstGeom prst="rect">
            <a:avLst/>
          </a:prstGeom>
          <a:solidFill>
            <a:srgbClr val="FFFFFF"/>
          </a:solidFill>
          <a:ln w="12700">
            <a:solidFill>
              <a:srgbClr val="D9E0E6"/>
            </a:solidFill>
            <a:prstDash val="solid"/>
          </a:ln>
        </p:spPr>
        <p:txBody>
          <a:bodyPr/>
          <a:lstStyle/>
          <a:p>
            <a:endParaRPr lang="en-US"/>
          </a:p>
        </p:txBody>
      </p:sp>
      <p:sp>
        <p:nvSpPr>
          <p:cNvPr id="51" name="Text 49"/>
          <p:cNvSpPr/>
          <p:nvPr/>
        </p:nvSpPr>
        <p:spPr>
          <a:xfrm>
            <a:off x="3493008" y="4178808"/>
            <a:ext cx="2194560"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Pennsylvania (38.2)</a:t>
            </a:r>
            <a:endParaRPr lang="en-US" sz="1100" dirty="0"/>
          </a:p>
        </p:txBody>
      </p:sp>
      <p:sp>
        <p:nvSpPr>
          <p:cNvPr id="52" name="Shape 50"/>
          <p:cNvSpPr/>
          <p:nvPr/>
        </p:nvSpPr>
        <p:spPr>
          <a:xfrm>
            <a:off x="5742432" y="4133088"/>
            <a:ext cx="2103120" cy="512064"/>
          </a:xfrm>
          <a:prstGeom prst="rect">
            <a:avLst/>
          </a:prstGeom>
          <a:solidFill>
            <a:srgbClr val="FFFFFF"/>
          </a:solidFill>
          <a:ln w="12700">
            <a:solidFill>
              <a:srgbClr val="D9E0E6"/>
            </a:solidFill>
            <a:prstDash val="solid"/>
          </a:ln>
        </p:spPr>
        <p:txBody>
          <a:bodyPr/>
          <a:lstStyle/>
          <a:p>
            <a:endParaRPr lang="en-US"/>
          </a:p>
        </p:txBody>
      </p:sp>
      <p:sp>
        <p:nvSpPr>
          <p:cNvPr id="53" name="Text 51"/>
          <p:cNvSpPr/>
          <p:nvPr/>
        </p:nvSpPr>
        <p:spPr>
          <a:xfrm>
            <a:off x="5797296" y="4178808"/>
            <a:ext cx="1993392" cy="420624"/>
          </a:xfrm>
          <a:prstGeom prst="rect">
            <a:avLst/>
          </a:prstGeom>
          <a:noFill/>
          <a:ln/>
        </p:spPr>
        <p:txBody>
          <a:bodyPr wrap="square" lIns="0" tIns="0" rIns="0" bIns="0" rtlCol="0" anchor="ctr"/>
          <a:lstStyle/>
          <a:p>
            <a:pPr marL="0" indent="0" algn="l">
              <a:buNone/>
            </a:pPr>
            <a:r>
              <a:rPr lang="en-US" sz="1100" dirty="0">
                <a:solidFill>
                  <a:srgbClr val="243240"/>
                </a:solidFill>
                <a:latin typeface="Aptos" pitchFamily="34" charset="0"/>
                <a:ea typeface="Aptos" pitchFamily="34" charset="-122"/>
                <a:cs typeface="Aptos" pitchFamily="34" charset="-120"/>
              </a:rPr>
              <a:t>Minnesota (0.5)</a:t>
            </a:r>
            <a:endParaRPr lang="en-US" sz="1100" dirty="0"/>
          </a:p>
        </p:txBody>
      </p:sp>
      <p:sp>
        <p:nvSpPr>
          <p:cNvPr id="54" name="Shape 52"/>
          <p:cNvSpPr/>
          <p:nvPr/>
        </p:nvSpPr>
        <p:spPr>
          <a:xfrm>
            <a:off x="8549640" y="1828800"/>
            <a:ext cx="2743200" cy="1234440"/>
          </a:xfrm>
          <a:prstGeom prst="roundRect">
            <a:avLst>
              <a:gd name="adj" fmla="val 5926"/>
            </a:avLst>
          </a:prstGeom>
          <a:solidFill>
            <a:srgbClr val="FFFFFF"/>
          </a:solidFill>
          <a:ln w="12700">
            <a:solidFill>
              <a:srgbClr val="B84A62"/>
            </a:solidFill>
            <a:prstDash val="solid"/>
          </a:ln>
        </p:spPr>
        <p:txBody>
          <a:bodyPr/>
          <a:lstStyle/>
          <a:p>
            <a:endParaRPr lang="en-US"/>
          </a:p>
        </p:txBody>
      </p:sp>
      <p:sp>
        <p:nvSpPr>
          <p:cNvPr id="55" name="Shape 53"/>
          <p:cNvSpPr/>
          <p:nvPr/>
        </p:nvSpPr>
        <p:spPr>
          <a:xfrm>
            <a:off x="8549640" y="1828800"/>
            <a:ext cx="109728" cy="1234440"/>
          </a:xfrm>
          <a:prstGeom prst="rect">
            <a:avLst/>
          </a:prstGeom>
          <a:solidFill>
            <a:srgbClr val="B84A62"/>
          </a:solidFill>
          <a:ln w="12700">
            <a:solidFill>
              <a:srgbClr val="B84A62">
                <a:alpha val="0"/>
              </a:srgbClr>
            </a:solidFill>
            <a:prstDash val="solid"/>
          </a:ln>
        </p:spPr>
        <p:txBody>
          <a:bodyPr/>
          <a:lstStyle/>
          <a:p>
            <a:endParaRPr lang="en-US"/>
          </a:p>
        </p:txBody>
      </p:sp>
      <p:sp>
        <p:nvSpPr>
          <p:cNvPr id="56" name="Text 54"/>
          <p:cNvSpPr/>
          <p:nvPr/>
        </p:nvSpPr>
        <p:spPr>
          <a:xfrm>
            <a:off x="8750808" y="195681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Interpretation</a:t>
            </a:r>
            <a:endParaRPr lang="en-US" sz="1400" dirty="0"/>
          </a:p>
        </p:txBody>
      </p:sp>
      <p:sp>
        <p:nvSpPr>
          <p:cNvPr id="57" name="Text 55"/>
          <p:cNvSpPr/>
          <p:nvPr/>
        </p:nvSpPr>
        <p:spPr>
          <a:xfrm>
            <a:off x="8750808" y="2212848"/>
            <a:ext cx="2432304" cy="740664"/>
          </a:xfrm>
          <a:prstGeom prst="rect">
            <a:avLst/>
          </a:prstGeom>
          <a:noFill/>
          <a:ln/>
        </p:spPr>
        <p:txBody>
          <a:bodyPr wrap="square" lIns="0" tIns="0" rIns="0" bIns="0" rtlCol="0" anchor="t"/>
          <a:lstStyle/>
          <a:p>
            <a:pPr marL="0" indent="0">
              <a:buNone/>
            </a:pPr>
            <a:r>
              <a:rPr lang="en-US" sz="1150" dirty="0">
                <a:solidFill>
                  <a:srgbClr val="243240"/>
                </a:solidFill>
              </a:rPr>
              <a:t>D.C. is an obvious outlier in both heart and kidney waitlist burden per 100k. Lung hotspots are smaller in magnitude and more dispersed across states.</a:t>
            </a:r>
            <a:endParaRPr lang="en-US" sz="1150" dirty="0"/>
          </a:p>
        </p:txBody>
      </p:sp>
      <p:sp>
        <p:nvSpPr>
          <p:cNvPr id="58" name="Text 56"/>
          <p:cNvSpPr/>
          <p:nvPr/>
        </p:nvSpPr>
        <p:spPr>
          <a:xfrm>
            <a:off x="8595360" y="3611880"/>
            <a:ext cx="2651760" cy="1417320"/>
          </a:xfrm>
          <a:prstGeom prst="rect">
            <a:avLst/>
          </a:prstGeom>
          <a:noFill/>
          <a:ln/>
        </p:spPr>
        <p:txBody>
          <a:bodyPr wrap="square" lIns="508" tIns="508" rIns="508" bIns="508" rtlCol="0" anchor="t"/>
          <a:lstStyle/>
          <a:p>
            <a:pPr marL="171450" indent="-171450">
              <a:buSzPct val="100000"/>
              <a:buChar char="•"/>
            </a:pPr>
            <a:r>
              <a:rPr lang="en-US" sz="1350" dirty="0">
                <a:solidFill>
                  <a:srgbClr val="243240"/>
                </a:solidFill>
                <a:latin typeface="Aptos" pitchFamily="34" charset="0"/>
                <a:ea typeface="Aptos" pitchFamily="34" charset="-122"/>
                <a:cs typeface="Aptos" pitchFamily="34" charset="-120"/>
              </a:rPr>
              <a:t>The state table helps prioritize where to examine center capacity, referral patterns, and policy variation next.</a:t>
            </a:r>
            <a:endParaRPr lang="en-US" sz="1350" dirty="0"/>
          </a:p>
          <a:p>
            <a:pPr marL="171450" indent="-171450">
              <a:buSzPct val="100000"/>
              <a:buChar char="•"/>
            </a:pPr>
            <a:r>
              <a:rPr lang="en-US" sz="1350" dirty="0">
                <a:solidFill>
                  <a:srgbClr val="243240"/>
                </a:solidFill>
                <a:latin typeface="Aptos" pitchFamily="34" charset="0"/>
                <a:ea typeface="Aptos" pitchFamily="34" charset="-122"/>
                <a:cs typeface="Aptos" pitchFamily="34" charset="-120"/>
              </a:rPr>
              <a:t>These rankings are descriptive and should be paired with population denominators and patient-level case mix in the next phase.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SYNTHESIS</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Key findings</a:t>
            </a:r>
            <a:endParaRPr lang="en-US" sz="2500" dirty="0"/>
          </a:p>
        </p:txBody>
      </p:sp>
      <p:sp>
        <p:nvSpPr>
          <p:cNvPr id="6" name="Shape 4"/>
          <p:cNvSpPr/>
          <p:nvPr/>
        </p:nvSpPr>
        <p:spPr>
          <a:xfrm>
            <a:off x="658368" y="1508760"/>
            <a:ext cx="2743200" cy="1234440"/>
          </a:xfrm>
          <a:prstGeom prst="roundRect">
            <a:avLst>
              <a:gd name="adj" fmla="val 5926"/>
            </a:avLst>
          </a:prstGeom>
          <a:solidFill>
            <a:srgbClr val="FFFFFF"/>
          </a:solidFill>
          <a:ln w="12700">
            <a:solidFill>
              <a:srgbClr val="345995"/>
            </a:solidFill>
            <a:prstDash val="solid"/>
          </a:ln>
        </p:spPr>
        <p:txBody>
          <a:bodyPr/>
          <a:lstStyle/>
          <a:p>
            <a:endParaRPr lang="en-US"/>
          </a:p>
        </p:txBody>
      </p:sp>
      <p:sp>
        <p:nvSpPr>
          <p:cNvPr id="7" name="Shape 5"/>
          <p:cNvSpPr/>
          <p:nvPr/>
        </p:nvSpPr>
        <p:spPr>
          <a:xfrm>
            <a:off x="658368" y="1508760"/>
            <a:ext cx="109728" cy="1234440"/>
          </a:xfrm>
          <a:prstGeom prst="rect">
            <a:avLst/>
          </a:prstGeom>
          <a:solidFill>
            <a:srgbClr val="345995"/>
          </a:solidFill>
          <a:ln w="12700">
            <a:solidFill>
              <a:srgbClr val="345995">
                <a:alpha val="0"/>
              </a:srgbClr>
            </a:solidFill>
            <a:prstDash val="solid"/>
          </a:ln>
        </p:spPr>
        <p:txBody>
          <a:bodyPr/>
          <a:lstStyle/>
          <a:p>
            <a:endParaRPr lang="en-US"/>
          </a:p>
        </p:txBody>
      </p:sp>
      <p:sp>
        <p:nvSpPr>
          <p:cNvPr id="8" name="Text 6"/>
          <p:cNvSpPr/>
          <p:nvPr/>
        </p:nvSpPr>
        <p:spPr>
          <a:xfrm>
            <a:off x="859536" y="163677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1. Access burden is not evenly distributed</a:t>
            </a:r>
            <a:endParaRPr lang="en-US" sz="1400" dirty="0"/>
          </a:p>
        </p:txBody>
      </p:sp>
      <p:sp>
        <p:nvSpPr>
          <p:cNvPr id="9" name="Text 7"/>
          <p:cNvSpPr/>
          <p:nvPr/>
        </p:nvSpPr>
        <p:spPr>
          <a:xfrm>
            <a:off x="859536" y="1892808"/>
            <a:ext cx="2432304" cy="740664"/>
          </a:xfrm>
          <a:prstGeom prst="rect">
            <a:avLst/>
          </a:prstGeom>
          <a:noFill/>
          <a:ln/>
        </p:spPr>
        <p:txBody>
          <a:bodyPr wrap="square" lIns="0" tIns="0" rIns="0" bIns="0" rtlCol="0" anchor="t"/>
          <a:lstStyle/>
          <a:p>
            <a:pPr marL="0" indent="0">
              <a:buNone/>
            </a:pPr>
            <a:r>
              <a:rPr lang="en-US" sz="1150" dirty="0">
                <a:solidFill>
                  <a:srgbClr val="243240"/>
                </a:solidFill>
              </a:rPr>
              <a:t>Across the uploaded waitlist file, kidney consistently shows the highest burden per 100k and the highest long-wait share.</a:t>
            </a:r>
            <a:endParaRPr lang="en-US" sz="1150" dirty="0"/>
          </a:p>
        </p:txBody>
      </p:sp>
      <p:sp>
        <p:nvSpPr>
          <p:cNvPr id="10" name="Shape 8"/>
          <p:cNvSpPr/>
          <p:nvPr/>
        </p:nvSpPr>
        <p:spPr>
          <a:xfrm>
            <a:off x="3639312" y="1508760"/>
            <a:ext cx="2743200" cy="1234440"/>
          </a:xfrm>
          <a:prstGeom prst="roundRect">
            <a:avLst>
              <a:gd name="adj" fmla="val 5926"/>
            </a:avLst>
          </a:prstGeom>
          <a:solidFill>
            <a:srgbClr val="FFFFFF"/>
          </a:solidFill>
          <a:ln w="12700">
            <a:solidFill>
              <a:srgbClr val="3A7D44"/>
            </a:solidFill>
            <a:prstDash val="solid"/>
          </a:ln>
        </p:spPr>
        <p:txBody>
          <a:bodyPr/>
          <a:lstStyle/>
          <a:p>
            <a:endParaRPr lang="en-US"/>
          </a:p>
        </p:txBody>
      </p:sp>
      <p:sp>
        <p:nvSpPr>
          <p:cNvPr id="11" name="Shape 9"/>
          <p:cNvSpPr/>
          <p:nvPr/>
        </p:nvSpPr>
        <p:spPr>
          <a:xfrm>
            <a:off x="3639312" y="1508760"/>
            <a:ext cx="109728" cy="1234440"/>
          </a:xfrm>
          <a:prstGeom prst="rect">
            <a:avLst/>
          </a:prstGeom>
          <a:solidFill>
            <a:srgbClr val="3A7D44"/>
          </a:solidFill>
          <a:ln w="12700">
            <a:solidFill>
              <a:srgbClr val="3A7D44">
                <a:alpha val="0"/>
              </a:srgbClr>
            </a:solidFill>
            <a:prstDash val="solid"/>
          </a:ln>
        </p:spPr>
        <p:txBody>
          <a:bodyPr/>
          <a:lstStyle/>
          <a:p>
            <a:endParaRPr lang="en-US"/>
          </a:p>
        </p:txBody>
      </p:sp>
      <p:sp>
        <p:nvSpPr>
          <p:cNvPr id="12" name="Text 10"/>
          <p:cNvSpPr/>
          <p:nvPr/>
        </p:nvSpPr>
        <p:spPr>
          <a:xfrm>
            <a:off x="3840480" y="163677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2. Region matters</a:t>
            </a:r>
            <a:endParaRPr lang="en-US" sz="1400" dirty="0"/>
          </a:p>
        </p:txBody>
      </p:sp>
      <p:sp>
        <p:nvSpPr>
          <p:cNvPr id="13" name="Text 11"/>
          <p:cNvSpPr/>
          <p:nvPr/>
        </p:nvSpPr>
        <p:spPr>
          <a:xfrm>
            <a:off x="3840480" y="1892808"/>
            <a:ext cx="2432304" cy="740664"/>
          </a:xfrm>
          <a:prstGeom prst="rect">
            <a:avLst/>
          </a:prstGeom>
          <a:noFill/>
          <a:ln/>
        </p:spPr>
        <p:txBody>
          <a:bodyPr wrap="square" lIns="0" tIns="0" rIns="0" bIns="0" rtlCol="0" anchor="t"/>
          <a:lstStyle/>
          <a:p>
            <a:pPr marL="0" indent="0">
              <a:buNone/>
            </a:pPr>
            <a:r>
              <a:rPr lang="en-US" sz="1150" dirty="0">
                <a:solidFill>
                  <a:srgbClr val="243240"/>
                </a:solidFill>
              </a:rPr>
              <a:t>The South tends to sit higher on heart waitlist burden and social risk context, while long-wait shares also vary across standard regions.</a:t>
            </a:r>
            <a:endParaRPr lang="en-US" sz="1150" dirty="0"/>
          </a:p>
        </p:txBody>
      </p:sp>
      <p:sp>
        <p:nvSpPr>
          <p:cNvPr id="14" name="Shape 12"/>
          <p:cNvSpPr/>
          <p:nvPr/>
        </p:nvSpPr>
        <p:spPr>
          <a:xfrm>
            <a:off x="6620256" y="1508760"/>
            <a:ext cx="2743200" cy="1234440"/>
          </a:xfrm>
          <a:prstGeom prst="roundRect">
            <a:avLst>
              <a:gd name="adj" fmla="val 5926"/>
            </a:avLst>
          </a:prstGeom>
          <a:solidFill>
            <a:srgbClr val="FFFFFF"/>
          </a:solidFill>
          <a:ln w="12700">
            <a:solidFill>
              <a:srgbClr val="C17C29"/>
            </a:solidFill>
            <a:prstDash val="solid"/>
          </a:ln>
        </p:spPr>
        <p:txBody>
          <a:bodyPr/>
          <a:lstStyle/>
          <a:p>
            <a:endParaRPr lang="en-US"/>
          </a:p>
        </p:txBody>
      </p:sp>
      <p:sp>
        <p:nvSpPr>
          <p:cNvPr id="15" name="Shape 13"/>
          <p:cNvSpPr/>
          <p:nvPr/>
        </p:nvSpPr>
        <p:spPr>
          <a:xfrm>
            <a:off x="6620256" y="1508760"/>
            <a:ext cx="109728" cy="1234440"/>
          </a:xfrm>
          <a:prstGeom prst="rect">
            <a:avLst/>
          </a:prstGeom>
          <a:solidFill>
            <a:srgbClr val="C17C29"/>
          </a:solidFill>
          <a:ln w="12700">
            <a:solidFill>
              <a:srgbClr val="C17C29">
                <a:alpha val="0"/>
              </a:srgbClr>
            </a:solidFill>
            <a:prstDash val="solid"/>
          </a:ln>
        </p:spPr>
        <p:txBody>
          <a:bodyPr/>
          <a:lstStyle/>
          <a:p>
            <a:endParaRPr lang="en-US"/>
          </a:p>
        </p:txBody>
      </p:sp>
      <p:sp>
        <p:nvSpPr>
          <p:cNvPr id="16" name="Text 14"/>
          <p:cNvSpPr/>
          <p:nvPr/>
        </p:nvSpPr>
        <p:spPr>
          <a:xfrm>
            <a:off x="6821424" y="163677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3. Demographic differences are visible</a:t>
            </a:r>
            <a:endParaRPr lang="en-US" sz="1400" dirty="0"/>
          </a:p>
        </p:txBody>
      </p:sp>
      <p:sp>
        <p:nvSpPr>
          <p:cNvPr id="17" name="Text 15"/>
          <p:cNvSpPr/>
          <p:nvPr/>
        </p:nvSpPr>
        <p:spPr>
          <a:xfrm>
            <a:off x="6821424" y="1892808"/>
            <a:ext cx="2432304" cy="740664"/>
          </a:xfrm>
          <a:prstGeom prst="rect">
            <a:avLst/>
          </a:prstGeom>
          <a:noFill/>
          <a:ln/>
        </p:spPr>
        <p:txBody>
          <a:bodyPr wrap="square" lIns="0" tIns="0" rIns="0" bIns="0" rtlCol="0" anchor="t"/>
          <a:lstStyle/>
          <a:p>
            <a:pPr marL="0" indent="0">
              <a:buNone/>
            </a:pPr>
            <a:r>
              <a:rPr lang="en-US" sz="1150" dirty="0">
                <a:solidFill>
                  <a:srgbClr val="243240"/>
                </a:solidFill>
              </a:rPr>
              <a:t>Candidate wait-time buckets show that race/ethnicity groups do not share the same exposure to waits of at least one year.</a:t>
            </a:r>
            <a:endParaRPr lang="en-US" sz="1150" dirty="0"/>
          </a:p>
        </p:txBody>
      </p:sp>
      <p:sp>
        <p:nvSpPr>
          <p:cNvPr id="18" name="Shape 16"/>
          <p:cNvSpPr/>
          <p:nvPr/>
        </p:nvSpPr>
        <p:spPr>
          <a:xfrm>
            <a:off x="9601200" y="1508760"/>
            <a:ext cx="1965960" cy="1234440"/>
          </a:xfrm>
          <a:prstGeom prst="roundRect">
            <a:avLst>
              <a:gd name="adj" fmla="val 5926"/>
            </a:avLst>
          </a:prstGeom>
          <a:solidFill>
            <a:srgbClr val="FFFFFF"/>
          </a:solidFill>
          <a:ln w="12700">
            <a:solidFill>
              <a:srgbClr val="B84A62"/>
            </a:solidFill>
            <a:prstDash val="solid"/>
          </a:ln>
        </p:spPr>
        <p:txBody>
          <a:bodyPr/>
          <a:lstStyle/>
          <a:p>
            <a:endParaRPr lang="en-US"/>
          </a:p>
        </p:txBody>
      </p:sp>
      <p:sp>
        <p:nvSpPr>
          <p:cNvPr id="19" name="Shape 17"/>
          <p:cNvSpPr/>
          <p:nvPr/>
        </p:nvSpPr>
        <p:spPr>
          <a:xfrm>
            <a:off x="9601200" y="1508760"/>
            <a:ext cx="109728" cy="1234440"/>
          </a:xfrm>
          <a:prstGeom prst="rect">
            <a:avLst/>
          </a:prstGeom>
          <a:solidFill>
            <a:srgbClr val="B84A62"/>
          </a:solidFill>
          <a:ln w="12700">
            <a:solidFill>
              <a:srgbClr val="B84A62">
                <a:alpha val="0"/>
              </a:srgbClr>
            </a:solidFill>
            <a:prstDash val="solid"/>
          </a:ln>
        </p:spPr>
        <p:txBody>
          <a:bodyPr/>
          <a:lstStyle/>
          <a:p>
            <a:endParaRPr lang="en-US"/>
          </a:p>
        </p:txBody>
      </p:sp>
      <p:sp>
        <p:nvSpPr>
          <p:cNvPr id="20" name="Text 18"/>
          <p:cNvSpPr/>
          <p:nvPr/>
        </p:nvSpPr>
        <p:spPr>
          <a:xfrm>
            <a:off x="9802368" y="1636776"/>
            <a:ext cx="1655064" cy="201168"/>
          </a:xfrm>
          <a:prstGeom prst="rect">
            <a:avLst/>
          </a:prstGeom>
          <a:noFill/>
          <a:ln/>
        </p:spPr>
        <p:txBody>
          <a:bodyPr wrap="square" lIns="0" tIns="0" rIns="0" bIns="0" rtlCol="0" anchor="ctr"/>
          <a:lstStyle/>
          <a:p>
            <a:pPr marL="0" indent="0">
              <a:buNone/>
            </a:pPr>
            <a:r>
              <a:rPr lang="en-US" sz="1400" b="1" dirty="0">
                <a:solidFill>
                  <a:srgbClr val="16324F"/>
                </a:solidFill>
              </a:rPr>
              <a:t>4. Geography is concentrated</a:t>
            </a:r>
            <a:endParaRPr lang="en-US" sz="1400" dirty="0"/>
          </a:p>
        </p:txBody>
      </p:sp>
      <p:sp>
        <p:nvSpPr>
          <p:cNvPr id="21" name="Text 19"/>
          <p:cNvSpPr/>
          <p:nvPr/>
        </p:nvSpPr>
        <p:spPr>
          <a:xfrm>
            <a:off x="9802368" y="1892808"/>
            <a:ext cx="1655064" cy="740664"/>
          </a:xfrm>
          <a:prstGeom prst="rect">
            <a:avLst/>
          </a:prstGeom>
          <a:noFill/>
          <a:ln/>
        </p:spPr>
        <p:txBody>
          <a:bodyPr wrap="square" lIns="0" tIns="0" rIns="0" bIns="0" rtlCol="0" anchor="t"/>
          <a:lstStyle/>
          <a:p>
            <a:pPr marL="0" indent="0">
              <a:buNone/>
            </a:pPr>
            <a:r>
              <a:rPr lang="en-US" sz="1150" dirty="0">
                <a:solidFill>
                  <a:srgbClr val="243240"/>
                </a:solidFill>
              </a:rPr>
              <a:t>A short list of states accounts for the highest observed burden within each organ, especially for kidney.</a:t>
            </a:r>
            <a:endParaRPr lang="en-US" sz="1150" dirty="0"/>
          </a:p>
        </p:txBody>
      </p:sp>
      <p:sp>
        <p:nvSpPr>
          <p:cNvPr id="22" name="Text 20"/>
          <p:cNvSpPr/>
          <p:nvPr/>
        </p:nvSpPr>
        <p:spPr>
          <a:xfrm>
            <a:off x="713232" y="3182112"/>
            <a:ext cx="2011680" cy="201168"/>
          </a:xfrm>
          <a:prstGeom prst="rect">
            <a:avLst/>
          </a:prstGeom>
          <a:noFill/>
          <a:ln/>
        </p:spPr>
        <p:txBody>
          <a:bodyPr wrap="square" lIns="0" tIns="0" rIns="0" bIns="0" rtlCol="0" anchor="ctr"/>
          <a:lstStyle/>
          <a:p>
            <a:pPr marL="0" indent="0">
              <a:buNone/>
            </a:pPr>
            <a:r>
              <a:rPr lang="en-US" sz="2000" b="1" dirty="0">
                <a:solidFill>
                  <a:srgbClr val="16324F"/>
                </a:solidFill>
              </a:rPr>
              <a:t>Bottom line</a:t>
            </a:r>
            <a:endParaRPr lang="en-US" sz="2000" dirty="0"/>
          </a:p>
        </p:txBody>
      </p:sp>
      <p:sp>
        <p:nvSpPr>
          <p:cNvPr id="23" name="Text 21"/>
          <p:cNvSpPr/>
          <p:nvPr/>
        </p:nvSpPr>
        <p:spPr>
          <a:xfrm>
            <a:off x="713232" y="3547872"/>
            <a:ext cx="10835640" cy="1097280"/>
          </a:xfrm>
          <a:prstGeom prst="rect">
            <a:avLst/>
          </a:prstGeom>
          <a:noFill/>
          <a:ln/>
        </p:spPr>
        <p:txBody>
          <a:bodyPr wrap="square" lIns="0" tIns="0" rIns="0" bIns="0" rtlCol="0" anchor="ctr"/>
          <a:lstStyle/>
          <a:p>
            <a:pPr marL="0" indent="0">
              <a:buNone/>
            </a:pPr>
            <a:r>
              <a:rPr lang="en-US" sz="2200" b="1" dirty="0">
                <a:solidFill>
                  <a:srgbClr val="29435C"/>
                </a:solidFill>
                <a:latin typeface="Aptos Display" pitchFamily="34" charset="0"/>
                <a:ea typeface="Aptos Display" pitchFamily="34" charset="-122"/>
                <a:cs typeface="Aptos Display" pitchFamily="34" charset="-120"/>
              </a:rPr>
              <a:t>The uploaded data support the conclusion that transplant access is unevenly distributed across geography, organ type, and candidate subgroups — but the strongest evidence here is about disparity patterns, not causal drivers.</a:t>
            </a:r>
            <a:endParaRPr lang="en-US" sz="2200" dirty="0"/>
          </a:p>
        </p:txBody>
      </p:sp>
      <p:sp>
        <p:nvSpPr>
          <p:cNvPr id="24" name="Text 22"/>
          <p:cNvSpPr/>
          <p:nvPr/>
        </p:nvSpPr>
        <p:spPr>
          <a:xfrm>
            <a:off x="749808" y="5138928"/>
            <a:ext cx="10972800" cy="868680"/>
          </a:xfrm>
          <a:prstGeom prst="rect">
            <a:avLst/>
          </a:prstGeom>
          <a:noFill/>
          <a:ln/>
        </p:spPr>
        <p:txBody>
          <a:bodyPr wrap="square" lIns="508" tIns="508" rIns="508" bIns="508" rtlCol="0" anchor="t"/>
          <a:lstStyle/>
          <a:p>
            <a:pPr marL="190500" indent="-190500">
              <a:buSzPct val="100000"/>
              <a:buChar char="•"/>
            </a:pPr>
            <a:r>
              <a:rPr lang="en-US" sz="1500" dirty="0">
                <a:solidFill>
                  <a:srgbClr val="243240"/>
                </a:solidFill>
                <a:latin typeface="Aptos" pitchFamily="34" charset="0"/>
                <a:ea typeface="Aptos" pitchFamily="34" charset="-122"/>
                <a:cs typeface="Aptos" pitchFamily="34" charset="-120"/>
              </a:rPr>
              <a:t>Use this deck as a defensible descriptive capstone and as justification for a patient-level follow-on study.</a:t>
            </a:r>
            <a:endParaRPr lang="en-US" sz="1500" dirty="0"/>
          </a:p>
          <a:p>
            <a:pPr marL="190500" indent="-190500">
              <a:buSzPct val="100000"/>
              <a:buChar char="•"/>
            </a:pPr>
            <a:r>
              <a:rPr lang="en-US" sz="1500" dirty="0">
                <a:solidFill>
                  <a:srgbClr val="243240"/>
                </a:solidFill>
                <a:latin typeface="Aptos" pitchFamily="34" charset="0"/>
                <a:ea typeface="Aptos" pitchFamily="34" charset="-122"/>
                <a:cs typeface="Aptos" pitchFamily="34" charset="-120"/>
              </a:rPr>
              <a:t>Keep the language precise: “access burden” and “long waits” are measured directly here; “likelihood of transplant” is only approximated.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LIMITATIONS</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Limitations to say out loud in the presentation</a:t>
            </a:r>
            <a:endParaRPr lang="en-US" sz="2500" dirty="0"/>
          </a:p>
        </p:txBody>
      </p:sp>
      <p:sp>
        <p:nvSpPr>
          <p:cNvPr id="6" name="Text 4"/>
          <p:cNvSpPr/>
          <p:nvPr/>
        </p:nvSpPr>
        <p:spPr>
          <a:xfrm>
            <a:off x="841248" y="1572768"/>
            <a:ext cx="6812280" cy="4480560"/>
          </a:xfrm>
          <a:prstGeom prst="rect">
            <a:avLst/>
          </a:prstGeom>
          <a:noFill/>
          <a:ln/>
        </p:spPr>
        <p:txBody>
          <a:bodyPr wrap="square" lIns="508" tIns="508" rIns="508" bIns="508" rtlCol="0" anchor="t"/>
          <a:lstStyle/>
          <a:p>
            <a:pPr marL="228600" indent="-228600">
              <a:buSzPct val="100000"/>
              <a:buChar char="•"/>
            </a:pPr>
            <a:r>
              <a:rPr lang="en-US" sz="1800" dirty="0">
                <a:solidFill>
                  <a:srgbClr val="243240"/>
                </a:solidFill>
                <a:latin typeface="Aptos" pitchFamily="34" charset="0"/>
                <a:ea typeface="Aptos" pitchFamily="34" charset="-122"/>
                <a:cs typeface="Aptos" pitchFamily="34" charset="-120"/>
              </a:rPr>
              <a:t>The files are aggregated, so they cannot estimate patient-level receipt of transplant, time-to-transplant, or death while waiting.</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Several summary wait-time fields are constant within an organ, which is why the analysis leans on long-wait share rather than mean wait days.</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The mortality crude rate field appears to be a population mortality context, not organ-specific waitlist mortality.</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Socioeconomic variables here are ecological measures. They are useful for context but do not identify individual causal pathways.</a:t>
            </a:r>
            <a:endParaRPr lang="en-US" sz="1800" dirty="0"/>
          </a:p>
          <a:p>
            <a:pPr marL="228600" indent="-228600">
              <a:buSzPct val="100000"/>
              <a:buChar char="•"/>
            </a:pPr>
            <a:r>
              <a:rPr lang="en-US" sz="1800" dirty="0">
                <a:solidFill>
                  <a:srgbClr val="243240"/>
                </a:solidFill>
                <a:latin typeface="Aptos" pitchFamily="34" charset="0"/>
                <a:ea typeface="Aptos" pitchFamily="34" charset="-122"/>
                <a:cs typeface="Aptos" pitchFamily="34" charset="-120"/>
              </a:rPr>
              <a:t>Sex and age differences are part of the research frame, but the current files do not support a clean sex-by-age disparity model.</a:t>
            </a:r>
            <a:endParaRPr lang="en-US" sz="1800" dirty="0"/>
          </a:p>
        </p:txBody>
      </p:sp>
      <p:sp>
        <p:nvSpPr>
          <p:cNvPr id="7" name="Shape 5"/>
          <p:cNvSpPr/>
          <p:nvPr/>
        </p:nvSpPr>
        <p:spPr>
          <a:xfrm>
            <a:off x="8046720" y="1828800"/>
            <a:ext cx="3246120" cy="1965960"/>
          </a:xfrm>
          <a:prstGeom prst="roundRect">
            <a:avLst>
              <a:gd name="adj" fmla="val 3721"/>
            </a:avLst>
          </a:prstGeom>
          <a:solidFill>
            <a:srgbClr val="FFFFFF"/>
          </a:solidFill>
          <a:ln w="12700">
            <a:solidFill>
              <a:srgbClr val="345995"/>
            </a:solidFill>
            <a:prstDash val="solid"/>
          </a:ln>
        </p:spPr>
        <p:txBody>
          <a:bodyPr/>
          <a:lstStyle/>
          <a:p>
            <a:endParaRPr lang="en-US"/>
          </a:p>
        </p:txBody>
      </p:sp>
      <p:sp>
        <p:nvSpPr>
          <p:cNvPr id="8" name="Shape 6"/>
          <p:cNvSpPr/>
          <p:nvPr/>
        </p:nvSpPr>
        <p:spPr>
          <a:xfrm>
            <a:off x="8046720" y="1828800"/>
            <a:ext cx="109728" cy="1965960"/>
          </a:xfrm>
          <a:prstGeom prst="rect">
            <a:avLst/>
          </a:prstGeom>
          <a:solidFill>
            <a:srgbClr val="345995"/>
          </a:solidFill>
          <a:ln w="12700">
            <a:solidFill>
              <a:srgbClr val="345995">
                <a:alpha val="0"/>
              </a:srgbClr>
            </a:solidFill>
            <a:prstDash val="solid"/>
          </a:ln>
        </p:spPr>
        <p:txBody>
          <a:bodyPr/>
          <a:lstStyle/>
          <a:p>
            <a:endParaRPr lang="en-US"/>
          </a:p>
        </p:txBody>
      </p:sp>
      <p:sp>
        <p:nvSpPr>
          <p:cNvPr id="9" name="Text 7"/>
          <p:cNvSpPr/>
          <p:nvPr/>
        </p:nvSpPr>
        <p:spPr>
          <a:xfrm>
            <a:off x="8247888" y="1956816"/>
            <a:ext cx="2935224" cy="201168"/>
          </a:xfrm>
          <a:prstGeom prst="rect">
            <a:avLst/>
          </a:prstGeom>
          <a:noFill/>
          <a:ln/>
        </p:spPr>
        <p:txBody>
          <a:bodyPr wrap="square" lIns="0" tIns="0" rIns="0" bIns="0" rtlCol="0" anchor="ctr"/>
          <a:lstStyle/>
          <a:p>
            <a:pPr marL="0" indent="0">
              <a:buNone/>
            </a:pPr>
            <a:r>
              <a:rPr lang="en-US" sz="1400" b="1" dirty="0">
                <a:solidFill>
                  <a:srgbClr val="16324F"/>
                </a:solidFill>
              </a:rPr>
              <a:t>Why this still works as a capstone</a:t>
            </a:r>
            <a:endParaRPr lang="en-US" sz="1400" dirty="0"/>
          </a:p>
        </p:txBody>
      </p:sp>
      <p:sp>
        <p:nvSpPr>
          <p:cNvPr id="10" name="Text 8"/>
          <p:cNvSpPr/>
          <p:nvPr/>
        </p:nvSpPr>
        <p:spPr>
          <a:xfrm>
            <a:off x="8247888" y="2212848"/>
            <a:ext cx="2935224" cy="1472184"/>
          </a:xfrm>
          <a:prstGeom prst="rect">
            <a:avLst/>
          </a:prstGeom>
          <a:noFill/>
          <a:ln/>
        </p:spPr>
        <p:txBody>
          <a:bodyPr wrap="square" lIns="0" tIns="0" rIns="0" bIns="0" rtlCol="0" anchor="t"/>
          <a:lstStyle/>
          <a:p>
            <a:pPr marL="0" indent="0">
              <a:buNone/>
            </a:pPr>
            <a:r>
              <a:rPr lang="en-US" sz="1150" dirty="0">
                <a:solidFill>
                  <a:srgbClr val="243240"/>
                </a:solidFill>
              </a:rPr>
              <a:t>A capstone does not need to solve every causal question. It needs to demonstrate rigorous data cleaning, defensible measurement choices, transparent caveats, and a clear next-step research design.</a:t>
            </a:r>
            <a:endParaRPr lang="en-US" sz="1150" dirty="0"/>
          </a:p>
        </p:txBody>
      </p:sp>
      <p:sp>
        <p:nvSpPr>
          <p:cNvPr id="11" name="Shape 9"/>
          <p:cNvSpPr/>
          <p:nvPr/>
        </p:nvSpPr>
        <p:spPr>
          <a:xfrm>
            <a:off x="8046720" y="4160520"/>
            <a:ext cx="3246120" cy="1188720"/>
          </a:xfrm>
          <a:prstGeom prst="roundRect">
            <a:avLst>
              <a:gd name="adj" fmla="val 6154"/>
            </a:avLst>
          </a:prstGeom>
          <a:solidFill>
            <a:srgbClr val="FFFFFF"/>
          </a:solidFill>
          <a:ln w="12700">
            <a:solidFill>
              <a:srgbClr val="C17C29"/>
            </a:solidFill>
            <a:prstDash val="solid"/>
          </a:ln>
        </p:spPr>
        <p:txBody>
          <a:bodyPr/>
          <a:lstStyle/>
          <a:p>
            <a:endParaRPr lang="en-US"/>
          </a:p>
        </p:txBody>
      </p:sp>
      <p:sp>
        <p:nvSpPr>
          <p:cNvPr id="12" name="Shape 10"/>
          <p:cNvSpPr/>
          <p:nvPr/>
        </p:nvSpPr>
        <p:spPr>
          <a:xfrm>
            <a:off x="8046720" y="4160520"/>
            <a:ext cx="109728" cy="1188720"/>
          </a:xfrm>
          <a:prstGeom prst="rect">
            <a:avLst/>
          </a:prstGeom>
          <a:solidFill>
            <a:srgbClr val="C17C29"/>
          </a:solidFill>
          <a:ln w="12700">
            <a:solidFill>
              <a:srgbClr val="C17C29">
                <a:alpha val="0"/>
              </a:srgbClr>
            </a:solidFill>
            <a:prstDash val="solid"/>
          </a:ln>
        </p:spPr>
        <p:txBody>
          <a:bodyPr/>
          <a:lstStyle/>
          <a:p>
            <a:endParaRPr lang="en-US"/>
          </a:p>
        </p:txBody>
      </p:sp>
      <p:sp>
        <p:nvSpPr>
          <p:cNvPr id="13" name="Text 11"/>
          <p:cNvSpPr/>
          <p:nvPr/>
        </p:nvSpPr>
        <p:spPr>
          <a:xfrm>
            <a:off x="8247888" y="4288536"/>
            <a:ext cx="2935224" cy="201168"/>
          </a:xfrm>
          <a:prstGeom prst="rect">
            <a:avLst/>
          </a:prstGeom>
          <a:noFill/>
          <a:ln/>
        </p:spPr>
        <p:txBody>
          <a:bodyPr wrap="square" lIns="0" tIns="0" rIns="0" bIns="0" rtlCol="0" anchor="ctr"/>
          <a:lstStyle/>
          <a:p>
            <a:pPr marL="0" indent="0">
              <a:buNone/>
            </a:pPr>
            <a:r>
              <a:rPr lang="en-US" sz="1400" b="1" dirty="0">
                <a:solidFill>
                  <a:srgbClr val="16324F"/>
                </a:solidFill>
              </a:rPr>
              <a:t>Safe wording</a:t>
            </a:r>
            <a:endParaRPr lang="en-US" sz="1400" dirty="0"/>
          </a:p>
        </p:txBody>
      </p:sp>
      <p:sp>
        <p:nvSpPr>
          <p:cNvPr id="14" name="Text 12"/>
          <p:cNvSpPr/>
          <p:nvPr/>
        </p:nvSpPr>
        <p:spPr>
          <a:xfrm>
            <a:off x="8247888" y="4544568"/>
            <a:ext cx="2935224" cy="694944"/>
          </a:xfrm>
          <a:prstGeom prst="rect">
            <a:avLst/>
          </a:prstGeom>
          <a:noFill/>
          <a:ln/>
        </p:spPr>
        <p:txBody>
          <a:bodyPr wrap="square" lIns="0" tIns="0" rIns="0" bIns="0" rtlCol="0" anchor="t"/>
          <a:lstStyle/>
          <a:p>
            <a:pPr marL="0" indent="0">
              <a:buNone/>
            </a:pPr>
            <a:r>
              <a:rPr lang="en-US" sz="1150" dirty="0">
                <a:solidFill>
                  <a:srgbClr val="243240"/>
                </a:solidFill>
              </a:rPr>
              <a:t>Use phrases such as “suggests”, “appears associated with”, “descriptive disparity”, and “requires patient-level follow-up”.</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6324F"/>
          </a:solidFill>
          <a:ln w="12700">
            <a:solidFill>
              <a:srgbClr val="16324F">
                <a:alpha val="0"/>
              </a:srgbClr>
            </a:solidFill>
            <a:prstDash val="solid"/>
          </a:ln>
        </p:spPr>
        <p:txBody>
          <a:bodyPr/>
          <a:lstStyle/>
          <a:p>
            <a:endParaRPr lang="en-US"/>
          </a:p>
        </p:txBody>
      </p:sp>
      <p:sp>
        <p:nvSpPr>
          <p:cNvPr id="3" name="Shape 1"/>
          <p:cNvSpPr/>
          <p:nvPr/>
        </p:nvSpPr>
        <p:spPr>
          <a:xfrm>
            <a:off x="0" y="6748272"/>
            <a:ext cx="12191695" cy="109728"/>
          </a:xfrm>
          <a:prstGeom prst="rect">
            <a:avLst/>
          </a:prstGeom>
          <a:solidFill>
            <a:srgbClr val="345995"/>
          </a:solidFill>
          <a:ln w="12700">
            <a:solidFill>
              <a:srgbClr val="345995">
                <a:alpha val="0"/>
              </a:srgbClr>
            </a:solidFill>
            <a:prstDash val="solid"/>
          </a:ln>
        </p:spPr>
        <p:txBody>
          <a:bodyPr/>
          <a:lstStyle/>
          <a:p>
            <a:endParaRPr lang="en-US"/>
          </a:p>
        </p:txBody>
      </p:sp>
      <p:sp>
        <p:nvSpPr>
          <p:cNvPr id="4" name="Text 2"/>
          <p:cNvSpPr/>
          <p:nvPr/>
        </p:nvSpPr>
        <p:spPr>
          <a:xfrm>
            <a:off x="502920" y="320040"/>
            <a:ext cx="3108960" cy="228600"/>
          </a:xfrm>
          <a:prstGeom prst="rect">
            <a:avLst/>
          </a:prstGeom>
          <a:noFill/>
          <a:ln/>
        </p:spPr>
        <p:txBody>
          <a:bodyPr wrap="square" lIns="0" tIns="0" rIns="0" bIns="0" rtlCol="0" anchor="ctr"/>
          <a:lstStyle/>
          <a:p>
            <a:pPr marL="0" indent="0">
              <a:buNone/>
            </a:pPr>
            <a:r>
              <a:rPr lang="en-US" sz="1100" b="1" dirty="0">
                <a:solidFill>
                  <a:srgbClr val="345995"/>
                </a:solidFill>
                <a:latin typeface="Aptos" pitchFamily="34" charset="0"/>
                <a:ea typeface="Aptos" pitchFamily="34" charset="-122"/>
                <a:cs typeface="Aptos" pitchFamily="34" charset="-120"/>
              </a:rPr>
              <a:t>NEXT STEPS</a:t>
            </a:r>
            <a:endParaRPr lang="en-US" sz="1100" dirty="0"/>
          </a:p>
        </p:txBody>
      </p:sp>
      <p:sp>
        <p:nvSpPr>
          <p:cNvPr id="5" name="Text 3"/>
          <p:cNvSpPr/>
          <p:nvPr/>
        </p:nvSpPr>
        <p:spPr>
          <a:xfrm>
            <a:off x="502920" y="621792"/>
            <a:ext cx="8961120" cy="457200"/>
          </a:xfrm>
          <a:prstGeom prst="rect">
            <a:avLst/>
          </a:prstGeom>
          <a:noFill/>
          <a:ln/>
        </p:spPr>
        <p:txBody>
          <a:bodyPr wrap="square" lIns="0" tIns="0" rIns="0" bIns="0" rtlCol="0" anchor="ctr"/>
          <a:lstStyle/>
          <a:p>
            <a:pPr marL="0" indent="0">
              <a:buNone/>
            </a:pPr>
            <a:r>
              <a:rPr lang="en-US" sz="2500" b="1" dirty="0">
                <a:solidFill>
                  <a:srgbClr val="16324F"/>
                </a:solidFill>
                <a:latin typeface="Aptos Display" pitchFamily="34" charset="0"/>
                <a:ea typeface="Aptos Display" pitchFamily="34" charset="-122"/>
                <a:cs typeface="Aptos Display" pitchFamily="34" charset="-120"/>
              </a:rPr>
              <a:t>What the next study should do</a:t>
            </a:r>
            <a:endParaRPr lang="en-US" sz="2500" dirty="0"/>
          </a:p>
        </p:txBody>
      </p:sp>
      <p:sp>
        <p:nvSpPr>
          <p:cNvPr id="6" name="Shape 4"/>
          <p:cNvSpPr/>
          <p:nvPr/>
        </p:nvSpPr>
        <p:spPr>
          <a:xfrm>
            <a:off x="685800" y="1554480"/>
            <a:ext cx="2743200" cy="1417320"/>
          </a:xfrm>
          <a:prstGeom prst="roundRect">
            <a:avLst>
              <a:gd name="adj" fmla="val 5161"/>
            </a:avLst>
          </a:prstGeom>
          <a:solidFill>
            <a:srgbClr val="FFFFFF"/>
          </a:solidFill>
          <a:ln w="12700">
            <a:solidFill>
              <a:srgbClr val="345995"/>
            </a:solidFill>
            <a:prstDash val="solid"/>
          </a:ln>
        </p:spPr>
        <p:txBody>
          <a:bodyPr/>
          <a:lstStyle/>
          <a:p>
            <a:endParaRPr lang="en-US"/>
          </a:p>
        </p:txBody>
      </p:sp>
      <p:sp>
        <p:nvSpPr>
          <p:cNvPr id="7" name="Shape 5"/>
          <p:cNvSpPr/>
          <p:nvPr/>
        </p:nvSpPr>
        <p:spPr>
          <a:xfrm>
            <a:off x="685800" y="1554480"/>
            <a:ext cx="109728" cy="1417320"/>
          </a:xfrm>
          <a:prstGeom prst="rect">
            <a:avLst/>
          </a:prstGeom>
          <a:solidFill>
            <a:srgbClr val="345995"/>
          </a:solidFill>
          <a:ln w="12700">
            <a:solidFill>
              <a:srgbClr val="345995">
                <a:alpha val="0"/>
              </a:srgbClr>
            </a:solidFill>
            <a:prstDash val="solid"/>
          </a:ln>
        </p:spPr>
        <p:txBody>
          <a:bodyPr/>
          <a:lstStyle/>
          <a:p>
            <a:endParaRPr lang="en-US"/>
          </a:p>
        </p:txBody>
      </p:sp>
      <p:sp>
        <p:nvSpPr>
          <p:cNvPr id="8" name="Text 6"/>
          <p:cNvSpPr/>
          <p:nvPr/>
        </p:nvSpPr>
        <p:spPr>
          <a:xfrm>
            <a:off x="886968" y="168249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1. Acquire patient-level data</a:t>
            </a:r>
            <a:endParaRPr lang="en-US" sz="1400" dirty="0"/>
          </a:p>
        </p:txBody>
      </p:sp>
      <p:sp>
        <p:nvSpPr>
          <p:cNvPr id="9" name="Text 7"/>
          <p:cNvSpPr/>
          <p:nvPr/>
        </p:nvSpPr>
        <p:spPr>
          <a:xfrm>
            <a:off x="886968" y="1938528"/>
            <a:ext cx="2432304" cy="923544"/>
          </a:xfrm>
          <a:prstGeom prst="rect">
            <a:avLst/>
          </a:prstGeom>
          <a:noFill/>
          <a:ln/>
        </p:spPr>
        <p:txBody>
          <a:bodyPr wrap="square" lIns="0" tIns="0" rIns="0" bIns="0" rtlCol="0" anchor="t"/>
          <a:lstStyle/>
          <a:p>
            <a:pPr marL="0" indent="0">
              <a:buNone/>
            </a:pPr>
            <a:r>
              <a:rPr lang="en-US" sz="1150" dirty="0">
                <a:solidFill>
                  <a:srgbClr val="243240"/>
                </a:solidFill>
              </a:rPr>
              <a:t>Request OPTN STAR or SRTR standard analysis files with candidate ID, listing date, transplant date, removal date, death date, organ, and payer information.</a:t>
            </a:r>
            <a:endParaRPr lang="en-US" sz="1150" dirty="0"/>
          </a:p>
        </p:txBody>
      </p:sp>
      <p:sp>
        <p:nvSpPr>
          <p:cNvPr id="10" name="Shape 8"/>
          <p:cNvSpPr/>
          <p:nvPr/>
        </p:nvSpPr>
        <p:spPr>
          <a:xfrm>
            <a:off x="3639312" y="1554480"/>
            <a:ext cx="2743200" cy="1417320"/>
          </a:xfrm>
          <a:prstGeom prst="roundRect">
            <a:avLst>
              <a:gd name="adj" fmla="val 5161"/>
            </a:avLst>
          </a:prstGeom>
          <a:solidFill>
            <a:srgbClr val="FFFFFF"/>
          </a:solidFill>
          <a:ln w="12700">
            <a:solidFill>
              <a:srgbClr val="3A7D44"/>
            </a:solidFill>
            <a:prstDash val="solid"/>
          </a:ln>
        </p:spPr>
        <p:txBody>
          <a:bodyPr/>
          <a:lstStyle/>
          <a:p>
            <a:endParaRPr lang="en-US"/>
          </a:p>
        </p:txBody>
      </p:sp>
      <p:sp>
        <p:nvSpPr>
          <p:cNvPr id="11" name="Shape 9"/>
          <p:cNvSpPr/>
          <p:nvPr/>
        </p:nvSpPr>
        <p:spPr>
          <a:xfrm>
            <a:off x="3639312" y="1554480"/>
            <a:ext cx="109728" cy="1417320"/>
          </a:xfrm>
          <a:prstGeom prst="rect">
            <a:avLst/>
          </a:prstGeom>
          <a:solidFill>
            <a:srgbClr val="3A7D44"/>
          </a:solidFill>
          <a:ln w="12700">
            <a:solidFill>
              <a:srgbClr val="3A7D44">
                <a:alpha val="0"/>
              </a:srgbClr>
            </a:solidFill>
            <a:prstDash val="solid"/>
          </a:ln>
        </p:spPr>
        <p:txBody>
          <a:bodyPr/>
          <a:lstStyle/>
          <a:p>
            <a:endParaRPr lang="en-US"/>
          </a:p>
        </p:txBody>
      </p:sp>
      <p:sp>
        <p:nvSpPr>
          <p:cNvPr id="12" name="Text 10"/>
          <p:cNvSpPr/>
          <p:nvPr/>
        </p:nvSpPr>
        <p:spPr>
          <a:xfrm>
            <a:off x="3840480" y="168249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2. Estimate time-to-transplant</a:t>
            </a:r>
            <a:endParaRPr lang="en-US" sz="1400" dirty="0"/>
          </a:p>
        </p:txBody>
      </p:sp>
      <p:sp>
        <p:nvSpPr>
          <p:cNvPr id="13" name="Text 11"/>
          <p:cNvSpPr/>
          <p:nvPr/>
        </p:nvSpPr>
        <p:spPr>
          <a:xfrm>
            <a:off x="3840480" y="1938528"/>
            <a:ext cx="2432304" cy="923544"/>
          </a:xfrm>
          <a:prstGeom prst="rect">
            <a:avLst/>
          </a:prstGeom>
          <a:noFill/>
          <a:ln/>
        </p:spPr>
        <p:txBody>
          <a:bodyPr wrap="square" lIns="0" tIns="0" rIns="0" bIns="0" rtlCol="0" anchor="t"/>
          <a:lstStyle/>
          <a:p>
            <a:pPr marL="0" indent="0">
              <a:buNone/>
            </a:pPr>
            <a:r>
              <a:rPr lang="en-US" sz="1150" dirty="0">
                <a:solidFill>
                  <a:srgbClr val="243240"/>
                </a:solidFill>
              </a:rPr>
              <a:t>Build Kaplan–Meier or cumulative-incidence curves and then a Cox or competing-risks model for receipt of transplant.</a:t>
            </a:r>
            <a:endParaRPr lang="en-US" sz="1150" dirty="0"/>
          </a:p>
        </p:txBody>
      </p:sp>
      <p:sp>
        <p:nvSpPr>
          <p:cNvPr id="14" name="Shape 12"/>
          <p:cNvSpPr/>
          <p:nvPr/>
        </p:nvSpPr>
        <p:spPr>
          <a:xfrm>
            <a:off x="6592824" y="1554480"/>
            <a:ext cx="2743200" cy="1417320"/>
          </a:xfrm>
          <a:prstGeom prst="roundRect">
            <a:avLst>
              <a:gd name="adj" fmla="val 5161"/>
            </a:avLst>
          </a:prstGeom>
          <a:solidFill>
            <a:srgbClr val="FFFFFF"/>
          </a:solidFill>
          <a:ln w="12700">
            <a:solidFill>
              <a:srgbClr val="C17C29"/>
            </a:solidFill>
            <a:prstDash val="solid"/>
          </a:ln>
        </p:spPr>
        <p:txBody>
          <a:bodyPr/>
          <a:lstStyle/>
          <a:p>
            <a:endParaRPr lang="en-US"/>
          </a:p>
        </p:txBody>
      </p:sp>
      <p:sp>
        <p:nvSpPr>
          <p:cNvPr id="15" name="Shape 13"/>
          <p:cNvSpPr/>
          <p:nvPr/>
        </p:nvSpPr>
        <p:spPr>
          <a:xfrm>
            <a:off x="6592824" y="1554480"/>
            <a:ext cx="109728" cy="1417320"/>
          </a:xfrm>
          <a:prstGeom prst="rect">
            <a:avLst/>
          </a:prstGeom>
          <a:solidFill>
            <a:srgbClr val="C17C29"/>
          </a:solidFill>
          <a:ln w="12700">
            <a:solidFill>
              <a:srgbClr val="C17C29">
                <a:alpha val="0"/>
              </a:srgbClr>
            </a:solidFill>
            <a:prstDash val="solid"/>
          </a:ln>
        </p:spPr>
        <p:txBody>
          <a:bodyPr/>
          <a:lstStyle/>
          <a:p>
            <a:endParaRPr lang="en-US"/>
          </a:p>
        </p:txBody>
      </p:sp>
      <p:sp>
        <p:nvSpPr>
          <p:cNvPr id="16" name="Text 14"/>
          <p:cNvSpPr/>
          <p:nvPr/>
        </p:nvSpPr>
        <p:spPr>
          <a:xfrm>
            <a:off x="6793992" y="1682496"/>
            <a:ext cx="2432304" cy="201168"/>
          </a:xfrm>
          <a:prstGeom prst="rect">
            <a:avLst/>
          </a:prstGeom>
          <a:noFill/>
          <a:ln/>
        </p:spPr>
        <p:txBody>
          <a:bodyPr wrap="square" lIns="0" tIns="0" rIns="0" bIns="0" rtlCol="0" anchor="ctr"/>
          <a:lstStyle/>
          <a:p>
            <a:pPr marL="0" indent="0">
              <a:buNone/>
            </a:pPr>
            <a:r>
              <a:rPr lang="en-US" sz="1400" b="1" dirty="0">
                <a:solidFill>
                  <a:srgbClr val="16324F"/>
                </a:solidFill>
              </a:rPr>
              <a:t>3. Link deeper context</a:t>
            </a:r>
            <a:endParaRPr lang="en-US" sz="1400" dirty="0"/>
          </a:p>
        </p:txBody>
      </p:sp>
      <p:sp>
        <p:nvSpPr>
          <p:cNvPr id="17" name="Text 15"/>
          <p:cNvSpPr/>
          <p:nvPr/>
        </p:nvSpPr>
        <p:spPr>
          <a:xfrm>
            <a:off x="6793992" y="1938528"/>
            <a:ext cx="2432304" cy="923544"/>
          </a:xfrm>
          <a:prstGeom prst="rect">
            <a:avLst/>
          </a:prstGeom>
          <a:noFill/>
          <a:ln/>
        </p:spPr>
        <p:txBody>
          <a:bodyPr wrap="square" lIns="0" tIns="0" rIns="0" bIns="0" rtlCol="0" anchor="t"/>
          <a:lstStyle/>
          <a:p>
            <a:pPr marL="0" indent="0">
              <a:buNone/>
            </a:pPr>
            <a:r>
              <a:rPr lang="en-US" sz="1150" dirty="0">
                <a:solidFill>
                  <a:srgbClr val="243240"/>
                </a:solidFill>
              </a:rPr>
              <a:t>Join ZIP, county, or center-level attributes to study how region, insurance, and social context combine inside the same candidate pathway.</a:t>
            </a:r>
            <a:endParaRPr lang="en-US" sz="1150" dirty="0"/>
          </a:p>
        </p:txBody>
      </p:sp>
      <p:sp>
        <p:nvSpPr>
          <p:cNvPr id="18" name="Shape 16"/>
          <p:cNvSpPr/>
          <p:nvPr/>
        </p:nvSpPr>
        <p:spPr>
          <a:xfrm>
            <a:off x="9546336" y="1554480"/>
            <a:ext cx="1965960" cy="1417320"/>
          </a:xfrm>
          <a:prstGeom prst="roundRect">
            <a:avLst>
              <a:gd name="adj" fmla="val 5161"/>
            </a:avLst>
          </a:prstGeom>
          <a:solidFill>
            <a:srgbClr val="FFFFFF"/>
          </a:solidFill>
          <a:ln w="12700">
            <a:solidFill>
              <a:srgbClr val="B84A62"/>
            </a:solidFill>
            <a:prstDash val="solid"/>
          </a:ln>
        </p:spPr>
        <p:txBody>
          <a:bodyPr/>
          <a:lstStyle/>
          <a:p>
            <a:endParaRPr lang="en-US"/>
          </a:p>
        </p:txBody>
      </p:sp>
      <p:sp>
        <p:nvSpPr>
          <p:cNvPr id="19" name="Shape 17"/>
          <p:cNvSpPr/>
          <p:nvPr/>
        </p:nvSpPr>
        <p:spPr>
          <a:xfrm>
            <a:off x="9546336" y="1554480"/>
            <a:ext cx="109728" cy="1417320"/>
          </a:xfrm>
          <a:prstGeom prst="rect">
            <a:avLst/>
          </a:prstGeom>
          <a:solidFill>
            <a:srgbClr val="B84A62"/>
          </a:solidFill>
          <a:ln w="12700">
            <a:solidFill>
              <a:srgbClr val="B84A62">
                <a:alpha val="0"/>
              </a:srgbClr>
            </a:solidFill>
            <a:prstDash val="solid"/>
          </a:ln>
        </p:spPr>
        <p:txBody>
          <a:bodyPr/>
          <a:lstStyle/>
          <a:p>
            <a:endParaRPr lang="en-US"/>
          </a:p>
        </p:txBody>
      </p:sp>
      <p:sp>
        <p:nvSpPr>
          <p:cNvPr id="20" name="Text 18"/>
          <p:cNvSpPr/>
          <p:nvPr/>
        </p:nvSpPr>
        <p:spPr>
          <a:xfrm>
            <a:off x="9747504" y="1682496"/>
            <a:ext cx="1655064" cy="201168"/>
          </a:xfrm>
          <a:prstGeom prst="rect">
            <a:avLst/>
          </a:prstGeom>
          <a:noFill/>
          <a:ln/>
        </p:spPr>
        <p:txBody>
          <a:bodyPr wrap="square" lIns="0" tIns="0" rIns="0" bIns="0" rtlCol="0" anchor="ctr"/>
          <a:lstStyle/>
          <a:p>
            <a:pPr marL="0" indent="0">
              <a:buNone/>
            </a:pPr>
            <a:r>
              <a:rPr lang="en-US" sz="1400" b="1" dirty="0">
                <a:solidFill>
                  <a:srgbClr val="16324F"/>
                </a:solidFill>
              </a:rPr>
              <a:t>4. Translate to action</a:t>
            </a:r>
            <a:endParaRPr lang="en-US" sz="1400" dirty="0"/>
          </a:p>
        </p:txBody>
      </p:sp>
      <p:sp>
        <p:nvSpPr>
          <p:cNvPr id="21" name="Text 19"/>
          <p:cNvSpPr/>
          <p:nvPr/>
        </p:nvSpPr>
        <p:spPr>
          <a:xfrm>
            <a:off x="9747504" y="1938528"/>
            <a:ext cx="1655064" cy="923544"/>
          </a:xfrm>
          <a:prstGeom prst="rect">
            <a:avLst/>
          </a:prstGeom>
          <a:noFill/>
          <a:ln/>
        </p:spPr>
        <p:txBody>
          <a:bodyPr wrap="square" lIns="0" tIns="0" rIns="0" bIns="0" rtlCol="0" anchor="t"/>
          <a:lstStyle/>
          <a:p>
            <a:pPr marL="0" indent="0">
              <a:buNone/>
            </a:pPr>
            <a:r>
              <a:rPr lang="en-US" sz="1150" dirty="0">
                <a:solidFill>
                  <a:srgbClr val="243240"/>
                </a:solidFill>
              </a:rPr>
              <a:t>Use hotspot states and high-risk subgroups to frame policy recommendations around referral, listing, coverage, and center capacity.</a:t>
            </a:r>
            <a:endParaRPr lang="en-US" sz="1150" dirty="0"/>
          </a:p>
        </p:txBody>
      </p:sp>
      <p:sp>
        <p:nvSpPr>
          <p:cNvPr id="22" name="Text 20"/>
          <p:cNvSpPr/>
          <p:nvPr/>
        </p:nvSpPr>
        <p:spPr>
          <a:xfrm>
            <a:off x="749808" y="3703320"/>
            <a:ext cx="3840480" cy="201168"/>
          </a:xfrm>
          <a:prstGeom prst="rect">
            <a:avLst/>
          </a:prstGeom>
          <a:noFill/>
          <a:ln/>
        </p:spPr>
        <p:txBody>
          <a:bodyPr wrap="square" lIns="0" tIns="0" rIns="0" bIns="0" rtlCol="0" anchor="ctr"/>
          <a:lstStyle/>
          <a:p>
            <a:pPr marL="0" indent="0">
              <a:buNone/>
            </a:pPr>
            <a:r>
              <a:rPr lang="en-US" sz="1800" b="1" dirty="0">
                <a:solidFill>
                  <a:srgbClr val="16324F"/>
                </a:solidFill>
              </a:rPr>
              <a:t>If asked for a one-line takeaway:</a:t>
            </a:r>
            <a:endParaRPr lang="en-US" sz="1800" dirty="0"/>
          </a:p>
        </p:txBody>
      </p:sp>
      <p:sp>
        <p:nvSpPr>
          <p:cNvPr id="23" name="Text 21"/>
          <p:cNvSpPr/>
          <p:nvPr/>
        </p:nvSpPr>
        <p:spPr>
          <a:xfrm>
            <a:off x="749808" y="4069080"/>
            <a:ext cx="10789920" cy="731520"/>
          </a:xfrm>
          <a:prstGeom prst="rect">
            <a:avLst/>
          </a:prstGeom>
          <a:noFill/>
          <a:ln/>
        </p:spPr>
        <p:txBody>
          <a:bodyPr wrap="square" lIns="0" tIns="0" rIns="0" bIns="0" rtlCol="0" anchor="ctr"/>
          <a:lstStyle/>
          <a:p>
            <a:pPr marL="0" indent="0">
              <a:buNone/>
            </a:pPr>
            <a:r>
              <a:rPr lang="en-US" sz="2200" i="1" dirty="0">
                <a:solidFill>
                  <a:srgbClr val="29435C"/>
                </a:solidFill>
                <a:latin typeface="Aptos Display" pitchFamily="34" charset="0"/>
                <a:ea typeface="Aptos Display" pitchFamily="34" charset="-122"/>
                <a:cs typeface="Aptos Display" pitchFamily="34" charset="-120"/>
              </a:rPr>
              <a:t>“The current evidence shows meaningful descriptive disparities in transplant access, and the next step is to test them at the patient-event level.”</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1761</TotalTime>
  <Words>2285</Words>
  <Application>Microsoft Office PowerPoint</Application>
  <PresentationFormat>Widescreen</PresentationFormat>
  <Paragraphs>230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Transplant Equity in the United States</dc:title>
  <dc:subject>Transplant Equity Capstone</dc:subject>
  <dc:creator>OpenAI</dc:creator>
  <cp:lastModifiedBy>Anson Boameh Richard</cp:lastModifiedBy>
  <cp:revision>34</cp:revision>
  <dcterms:created xsi:type="dcterms:W3CDTF">2026-03-02T18:39:58Z</dcterms:created>
  <dcterms:modified xsi:type="dcterms:W3CDTF">2026-03-04T03:21:19Z</dcterms:modified>
</cp:coreProperties>
</file>