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rts/chart1.xml" ContentType="application/vnd.openxmlformats-officedocument.drawingml.chart+xml"/>
  <Override PartName="/ppt/notesSlides/notesSlide5.xml" ContentType="application/vnd.openxmlformats-officedocument.presentationml.notesSlide+xml"/>
  <Override PartName="/ppt/charts/chart2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6.xml" ContentType="application/vnd.openxmlformats-officedocument.presentationml.notesSlide+xml"/>
  <Override PartName="/ppt/charts/chart3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7.xml" ContentType="application/vnd.openxmlformats-officedocument.presentationml.notes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Slides/notesSlide8.xml" ContentType="application/vnd.openxmlformats-officedocument.presentationml.notesSlide+xml"/>
  <Override PartName="/ppt/charts/chart7.xml" ContentType="application/vnd.openxmlformats-officedocument.drawingml.chart+xml"/>
  <Override PartName="/ppt/notesSlides/notesSlide9.xml" ContentType="application/vnd.openxmlformats-officedocument.presentationml.notesSlide+xml"/>
  <Override PartName="/ppt/charts/chart8.xml" ContentType="application/vnd.openxmlformats-officedocument.drawingml.chart+xml"/>
  <Override PartName="/ppt/notesSlides/notesSlide10.xml" ContentType="application/vnd.openxmlformats-officedocument.presentationml.notes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87" r:id="rId6"/>
    <p:sldId id="288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85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7" d="100"/>
          <a:sy n="67" d="100"/>
        </p:scale>
        <p:origin x="370" y="2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D:\NEW%20DATA\New%20folder\All_Organ_Transplant_Rate_per_100k_by_Sex_Chart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file:///D:\NEW%20DATA\New%20folder\All_Organ_Transplant_Race_Ethnicity_Chart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1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1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Total U.S. transplants</c:v>
                </c:pt>
              </c:strCache>
            </c:strRef>
          </c:tx>
          <c:spPr>
            <a:ln w="31750" cap="flat">
              <a:solidFill>
                <a:srgbClr val="345995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345995"/>
              </a:solidFill>
              <a:ln w="9525" cap="flat">
                <a:solidFill>
                  <a:srgbClr val="345995"/>
                </a:solidFill>
                <a:prstDash val="solid"/>
                <a:round/>
              </a:ln>
              <a:effectLst/>
            </c:spPr>
          </c:marker>
          <c:cat>
            <c:strRef>
              <c:f>Sheet1!$A$2:$A$17</c:f>
              <c:strCache>
                <c:ptCount val="16"/>
                <c:pt idx="0">
                  <c:v>2010</c:v>
                </c:pt>
                <c:pt idx="1">
                  <c:v>2011</c:v>
                </c:pt>
                <c:pt idx="2">
                  <c:v>2012</c:v>
                </c:pt>
                <c:pt idx="3">
                  <c:v>2013</c:v>
                </c:pt>
                <c:pt idx="4">
                  <c:v>2014</c:v>
                </c:pt>
                <c:pt idx="5">
                  <c:v>2015</c:v>
                </c:pt>
                <c:pt idx="6">
                  <c:v>2016</c:v>
                </c:pt>
                <c:pt idx="7">
                  <c:v>2017</c:v>
                </c:pt>
                <c:pt idx="8">
                  <c:v>2018</c:v>
                </c:pt>
                <c:pt idx="9">
                  <c:v>2019</c:v>
                </c:pt>
                <c:pt idx="10">
                  <c:v>2020</c:v>
                </c:pt>
                <c:pt idx="11">
                  <c:v>2021</c:v>
                </c:pt>
                <c:pt idx="12">
                  <c:v>2022</c:v>
                </c:pt>
                <c:pt idx="13">
                  <c:v>2023</c:v>
                </c:pt>
                <c:pt idx="14">
                  <c:v>2024</c:v>
                </c:pt>
                <c:pt idx="15">
                  <c:v>2025</c:v>
                </c:pt>
              </c:strCache>
            </c:strRef>
          </c:cat>
          <c:val>
            <c:numRef>
              <c:f>Sheet1!$B$2:$B$17</c:f>
              <c:numCache>
                <c:formatCode>General</c:formatCode>
                <c:ptCount val="16"/>
                <c:pt idx="0">
                  <c:v>28668</c:v>
                </c:pt>
                <c:pt idx="1">
                  <c:v>28553</c:v>
                </c:pt>
                <c:pt idx="2">
                  <c:v>28059</c:v>
                </c:pt>
                <c:pt idx="3">
                  <c:v>28956</c:v>
                </c:pt>
                <c:pt idx="4">
                  <c:v>29540</c:v>
                </c:pt>
                <c:pt idx="5">
                  <c:v>30974</c:v>
                </c:pt>
                <c:pt idx="6">
                  <c:v>33610</c:v>
                </c:pt>
                <c:pt idx="7">
                  <c:v>34770</c:v>
                </c:pt>
                <c:pt idx="8">
                  <c:v>36530</c:v>
                </c:pt>
                <c:pt idx="9">
                  <c:v>39719</c:v>
                </c:pt>
                <c:pt idx="10">
                  <c:v>39036</c:v>
                </c:pt>
                <c:pt idx="11">
                  <c:v>41356</c:v>
                </c:pt>
                <c:pt idx="12">
                  <c:v>42889</c:v>
                </c:pt>
                <c:pt idx="13">
                  <c:v>46634</c:v>
                </c:pt>
                <c:pt idx="14">
                  <c:v>48150</c:v>
                </c:pt>
                <c:pt idx="15">
                  <c:v>49065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048-4DDC-9EA9-F51D320E834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5E6C79"/>
                    </a:solidFill>
                    <a:latin typeface="Arial"/>
                  </a:defRPr>
                </a:pPr>
                <a:r>
                  <a:rPr lang="en-US" b="0" i="0" u="none" strike="noStrike">
                    <a:solidFill>
                      <a:srgbClr val="5E6C79"/>
                    </a:solidFill>
                    <a:latin typeface="Arial"/>
                  </a:rPr>
                  <a:t>Year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9E0E6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24324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D9E0E6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5E6C79"/>
                    </a:solidFill>
                    <a:latin typeface="Arial"/>
                  </a:defRPr>
                </a:pPr>
                <a:r>
                  <a:rPr lang="en-US" b="0" i="0" u="none" strike="noStrike">
                    <a:solidFill>
                      <a:srgbClr val="5E6C79"/>
                    </a:solidFill>
                    <a:latin typeface="Arial"/>
                  </a:rPr>
                  <a:t>Transplants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D9E0E6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24324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751638888888889"/>
          <c:y val="0.12437989742807573"/>
          <c:w val="0.79896574074074056"/>
          <c:h val="0.75979231409633119"/>
        </c:manualLayout>
      </c:layout>
      <c:barChart>
        <c:barDir val="col"/>
        <c:grouping val="clustered"/>
        <c:varyColors val="1"/>
        <c:ser>
          <c:idx val="0"/>
          <c:order val="0"/>
          <c:tx>
            <c:strRef>
              <c:f>All_Organs_Sex_Rate!$B$4</c:f>
              <c:strCache>
                <c:ptCount val="1"/>
                <c:pt idx="0">
                  <c:v>Rate_per_100k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CB9D-4CC1-B09F-A6C4BBE0B3A9}"/>
              </c:ext>
            </c:extLst>
          </c:dPt>
          <c:dPt>
            <c:idx val="1"/>
            <c:invertIfNegative val="1"/>
            <c:bubble3D val="0"/>
            <c:spPr>
              <a:solidFill>
                <a:schemeClr val="accent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CB9D-4CC1-B09F-A6C4BBE0B3A9}"/>
              </c:ext>
            </c:extLst>
          </c:dPt>
          <c:dLbls>
            <c:delete val="1"/>
          </c:dLbls>
          <c:cat>
            <c:strRef>
              <c:f>All_Organs_Sex_Rate!$A$5:$A$6</c:f>
              <c:strCache>
                <c:ptCount val="2"/>
                <c:pt idx="0">
                  <c:v>Male</c:v>
                </c:pt>
                <c:pt idx="1">
                  <c:v>Female</c:v>
                </c:pt>
              </c:strCache>
            </c:strRef>
          </c:cat>
          <c:val>
            <c:numRef>
              <c:f>All_Organs_Sex_Rate!$B$5:$B$6</c:f>
              <c:numCache>
                <c:formatCode>0.0</c:formatCode>
                <c:ptCount val="2"/>
                <c:pt idx="0">
                  <c:v>29857</c:v>
                </c:pt>
                <c:pt idx="1">
                  <c:v>19208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CB9D-4CC1-B09F-A6C4BBE0B3A9}"/>
            </c:ext>
          </c:extLst>
        </c:ser>
        <c:dLbls>
          <c:showLegendKey val="1"/>
          <c:showVal val="1"/>
          <c:showCatName val="1"/>
          <c:showSerName val="1"/>
          <c:showPercent val="1"/>
          <c:showBubbleSize val="1"/>
        </c:dLbls>
        <c:gapWidth val="219"/>
        <c:overlap val="-27"/>
        <c:axId val="10"/>
        <c:axId val="100"/>
      </c:barChart>
      <c:catAx>
        <c:axId val="10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400" b="1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sz="1400" b="1"/>
                  <a:t>Sex</a:t>
                </a:r>
              </a:p>
            </c:rich>
          </c:tx>
          <c:layout>
            <c:manualLayout>
              <c:xMode val="edge"/>
              <c:yMode val="edge"/>
              <c:x val="0.5018568518518518"/>
              <c:y val="0.93460436089556598"/>
            </c:manualLayout>
          </c:layout>
          <c:overlay val="1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400" b="1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50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400" b="1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sz="1400" b="1" dirty="0"/>
                  <a:t>Rate per 100k</a:t>
                </a:r>
              </a:p>
            </c:rich>
          </c:tx>
          <c:layout>
            <c:manualLayout>
              <c:xMode val="edge"/>
              <c:yMode val="edge"/>
              <c:x val="3.7125205350480833E-2"/>
              <c:y val="0.39332949327553512"/>
            </c:manualLayout>
          </c:layout>
          <c:overlay val="1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400" b="1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0.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78826417331954191"/>
          <c:y val="0.10492293891917551"/>
          <c:w val="0.18678621026821787"/>
          <c:h val="0.29126648673036154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1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1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0443203703703703"/>
          <c:y val="0.18891687657430731"/>
          <c:w val="0.70506796296296292"/>
          <c:h val="0.69532748897571683"/>
        </c:manualLayout>
      </c:layout>
      <c:barChart>
        <c:barDir val="col"/>
        <c:grouping val="clustered"/>
        <c:varyColors val="1"/>
        <c:ser>
          <c:idx val="0"/>
          <c:order val="0"/>
          <c:tx>
            <c:strRef>
              <c:f>All_Organs_Race!$C$4</c:f>
              <c:strCache>
                <c:ptCount val="1"/>
                <c:pt idx="0">
                  <c:v>Share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gradFill rotWithShape="1">
                <a:gsLst>
                  <a:gs pos="0">
                    <a:schemeClr val="accent1">
                      <a:shade val="51000"/>
                      <a:satMod val="130000"/>
                    </a:schemeClr>
                  </a:gs>
                  <a:gs pos="80000">
                    <a:schemeClr val="accent1">
                      <a:shade val="93000"/>
                      <a:satMod val="130000"/>
                    </a:schemeClr>
                  </a:gs>
                  <a:gs pos="100000">
                    <a:schemeClr val="accent1">
                      <a:shade val="94000"/>
                      <a:satMod val="135000"/>
                    </a:schemeClr>
                  </a:gs>
                </a:gsLst>
                <a:lin ang="16200000" scaled="0"/>
              </a:gradFill>
              <a:ln>
                <a:noFill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1-C8D9-4A69-9E81-55FD417E9EBB}"/>
              </c:ext>
            </c:extLst>
          </c:dPt>
          <c:dPt>
            <c:idx val="1"/>
            <c:invertIfNegative val="1"/>
            <c:bubble3D val="0"/>
            <c:spPr>
              <a:gradFill rotWithShape="1">
                <a:gsLst>
                  <a:gs pos="0">
                    <a:schemeClr val="accent2">
                      <a:shade val="51000"/>
                      <a:satMod val="130000"/>
                    </a:schemeClr>
                  </a:gs>
                  <a:gs pos="80000">
                    <a:schemeClr val="accent2">
                      <a:shade val="93000"/>
                      <a:satMod val="130000"/>
                    </a:schemeClr>
                  </a:gs>
                  <a:gs pos="100000">
                    <a:schemeClr val="accent2">
                      <a:shade val="94000"/>
                      <a:satMod val="135000"/>
                    </a:schemeClr>
                  </a:gs>
                </a:gsLst>
                <a:lin ang="16200000" scaled="0"/>
              </a:gradFill>
              <a:ln>
                <a:noFill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3-C8D9-4A69-9E81-55FD417E9EBB}"/>
              </c:ext>
            </c:extLst>
          </c:dPt>
          <c:dPt>
            <c:idx val="2"/>
            <c:invertIfNegative val="1"/>
            <c:bubble3D val="0"/>
            <c:spPr>
              <a:gradFill rotWithShape="1">
                <a:gsLst>
                  <a:gs pos="0">
                    <a:schemeClr val="accent3">
                      <a:shade val="51000"/>
                      <a:satMod val="130000"/>
                    </a:schemeClr>
                  </a:gs>
                  <a:gs pos="80000">
                    <a:schemeClr val="accent3">
                      <a:shade val="93000"/>
                      <a:satMod val="130000"/>
                    </a:schemeClr>
                  </a:gs>
                  <a:gs pos="100000">
                    <a:schemeClr val="accent3">
                      <a:shade val="94000"/>
                      <a:satMod val="135000"/>
                    </a:schemeClr>
                  </a:gs>
                </a:gsLst>
                <a:lin ang="16200000" scaled="0"/>
              </a:gradFill>
              <a:ln>
                <a:noFill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5-C8D9-4A69-9E81-55FD417E9EBB}"/>
              </c:ext>
            </c:extLst>
          </c:dPt>
          <c:dPt>
            <c:idx val="3"/>
            <c:invertIfNegative val="1"/>
            <c:bubble3D val="0"/>
            <c:spPr>
              <a:gradFill rotWithShape="1">
                <a:gsLst>
                  <a:gs pos="0">
                    <a:schemeClr val="accent4">
                      <a:shade val="51000"/>
                      <a:satMod val="130000"/>
                    </a:schemeClr>
                  </a:gs>
                  <a:gs pos="80000">
                    <a:schemeClr val="accent4">
                      <a:shade val="93000"/>
                      <a:satMod val="130000"/>
                    </a:schemeClr>
                  </a:gs>
                  <a:gs pos="100000">
                    <a:schemeClr val="accent4">
                      <a:shade val="94000"/>
                      <a:satMod val="135000"/>
                    </a:schemeClr>
                  </a:gs>
                </a:gsLst>
                <a:lin ang="16200000" scaled="0"/>
              </a:gradFill>
              <a:ln>
                <a:noFill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7-C8D9-4A69-9E81-55FD417E9EBB}"/>
              </c:ext>
            </c:extLst>
          </c:dPt>
          <c:dPt>
            <c:idx val="4"/>
            <c:invertIfNegative val="1"/>
            <c:bubble3D val="0"/>
            <c:spPr>
              <a:gradFill rotWithShape="1">
                <a:gsLst>
                  <a:gs pos="0">
                    <a:schemeClr val="accent5">
                      <a:shade val="51000"/>
                      <a:satMod val="130000"/>
                    </a:schemeClr>
                  </a:gs>
                  <a:gs pos="80000">
                    <a:schemeClr val="accent5">
                      <a:shade val="93000"/>
                      <a:satMod val="130000"/>
                    </a:schemeClr>
                  </a:gs>
                  <a:gs pos="100000">
                    <a:schemeClr val="accent5">
                      <a:shade val="94000"/>
                      <a:satMod val="135000"/>
                    </a:schemeClr>
                  </a:gs>
                </a:gsLst>
                <a:lin ang="16200000" scaled="0"/>
              </a:gradFill>
              <a:ln>
                <a:noFill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9-C8D9-4A69-9E81-55FD417E9EBB}"/>
              </c:ext>
            </c:extLst>
          </c:dPt>
          <c:dPt>
            <c:idx val="5"/>
            <c:invertIfNegative val="1"/>
            <c:bubble3D val="0"/>
            <c:spPr>
              <a:gradFill rotWithShape="1">
                <a:gsLst>
                  <a:gs pos="0">
                    <a:schemeClr val="accent6">
                      <a:shade val="51000"/>
                      <a:satMod val="130000"/>
                    </a:schemeClr>
                  </a:gs>
                  <a:gs pos="80000">
                    <a:schemeClr val="accent6">
                      <a:shade val="93000"/>
                      <a:satMod val="130000"/>
                    </a:schemeClr>
                  </a:gs>
                  <a:gs pos="100000">
                    <a:schemeClr val="accent6">
                      <a:shade val="94000"/>
                      <a:satMod val="135000"/>
                    </a:schemeClr>
                  </a:gs>
                </a:gsLst>
                <a:lin ang="16200000" scaled="0"/>
              </a:gradFill>
              <a:ln>
                <a:noFill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B-C8D9-4A69-9E81-55FD417E9EBB}"/>
              </c:ext>
            </c:extLst>
          </c:dPt>
          <c:dPt>
            <c:idx val="6"/>
            <c:invertIfNegative val="1"/>
            <c:bubble3D val="0"/>
            <c:spPr>
              <a:gradFill rotWithShape="1">
                <a:gsLst>
                  <a:gs pos="0">
                    <a:schemeClr val="accent1">
                      <a:lumMod val="60000"/>
                      <a:shade val="51000"/>
                      <a:satMod val="130000"/>
                    </a:schemeClr>
                  </a:gs>
                  <a:gs pos="80000">
                    <a:schemeClr val="accent1">
                      <a:lumMod val="60000"/>
                      <a:shade val="93000"/>
                      <a:satMod val="130000"/>
                    </a:schemeClr>
                  </a:gs>
                  <a:gs pos="100000">
                    <a:schemeClr val="accent1">
                      <a:lumMod val="60000"/>
                      <a:shade val="94000"/>
                      <a:satMod val="135000"/>
                    </a:schemeClr>
                  </a:gs>
                </a:gsLst>
                <a:lin ang="16200000" scaled="0"/>
              </a:gradFill>
              <a:ln>
                <a:noFill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D-C8D9-4A69-9E81-55FD417E9EBB}"/>
              </c:ext>
            </c:extLst>
          </c:dPt>
          <c:dPt>
            <c:idx val="7"/>
            <c:invertIfNegative val="1"/>
            <c:bubble3D val="0"/>
            <c:spPr>
              <a:gradFill rotWithShape="1">
                <a:gsLst>
                  <a:gs pos="0">
                    <a:schemeClr val="accent2">
                      <a:lumMod val="60000"/>
                      <a:shade val="51000"/>
                      <a:satMod val="130000"/>
                    </a:schemeClr>
                  </a:gs>
                  <a:gs pos="80000">
                    <a:schemeClr val="accent2">
                      <a:lumMod val="60000"/>
                      <a:shade val="93000"/>
                      <a:satMod val="130000"/>
                    </a:schemeClr>
                  </a:gs>
                  <a:gs pos="100000">
                    <a:schemeClr val="accent2">
                      <a:lumMod val="60000"/>
                      <a:shade val="94000"/>
                      <a:satMod val="135000"/>
                    </a:schemeClr>
                  </a:gs>
                </a:gsLst>
                <a:lin ang="16200000" scaled="0"/>
              </a:gradFill>
              <a:ln>
                <a:noFill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F-C8D9-4A69-9E81-55FD417E9EBB}"/>
              </c:ext>
            </c:extLst>
          </c:dPt>
          <c:dLbls>
            <c:delete val="1"/>
          </c:dLbls>
          <c:cat>
            <c:strRef>
              <c:f>All_Organs_Race!$A$5:$A$12</c:f>
              <c:strCache>
                <c:ptCount val="8"/>
                <c:pt idx="0">
                  <c:v>White</c:v>
                </c:pt>
                <c:pt idx="1">
                  <c:v>Black</c:v>
                </c:pt>
                <c:pt idx="2">
                  <c:v>Hispanic/Latino</c:v>
                </c:pt>
                <c:pt idx="3">
                  <c:v>Asian</c:v>
                </c:pt>
                <c:pt idx="4">
                  <c:v>Unknown</c:v>
                </c:pt>
                <c:pt idx="5">
                  <c:v>Multiracial</c:v>
                </c:pt>
                <c:pt idx="6">
                  <c:v>American Indian/Alaska Native</c:v>
                </c:pt>
                <c:pt idx="7">
                  <c:v>Pacific Islander, Non-Hispanic</c:v>
                </c:pt>
              </c:strCache>
            </c:strRef>
          </c:cat>
          <c:val>
            <c:numRef>
              <c:f>All_Organs_Race!$C$5:$C$12</c:f>
              <c:numCache>
                <c:formatCode>0.0%</c:formatCode>
                <c:ptCount val="8"/>
                <c:pt idx="0">
                  <c:v>0.49191888311423621</c:v>
                </c:pt>
                <c:pt idx="1">
                  <c:v>0.22142056455722001</c:v>
                </c:pt>
                <c:pt idx="2">
                  <c:v>0.1901355344950576</c:v>
                </c:pt>
                <c:pt idx="3">
                  <c:v>5.8901457250585959E-2</c:v>
                </c:pt>
                <c:pt idx="4">
                  <c:v>1.777234281055742E-2</c:v>
                </c:pt>
                <c:pt idx="5">
                  <c:v>7.7448282890043817E-3</c:v>
                </c:pt>
                <c:pt idx="6">
                  <c:v>7.7244471619280549E-3</c:v>
                </c:pt>
                <c:pt idx="7">
                  <c:v>4.3819423214103738E-3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C8D9-4A69-9E81-55FD417E9EBB}"/>
            </c:ext>
          </c:extLst>
        </c:ser>
        <c:dLbls>
          <c:showLegendKey val="1"/>
          <c:showVal val="1"/>
          <c:showCatName val="1"/>
          <c:showSerName val="1"/>
          <c:showPercent val="1"/>
          <c:showBubbleSize val="1"/>
        </c:dLbls>
        <c:gapWidth val="100"/>
        <c:overlap val="-24"/>
        <c:axId val="10"/>
        <c:axId val="100"/>
      </c:barChart>
      <c:catAx>
        <c:axId val="10"/>
        <c:scaling>
          <c:orientation val="minMax"/>
        </c:scaling>
        <c:delete val="1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400" b="1" i="0" u="none" strike="noStrike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sz="1400"/>
                  <a:t>Race/Ethnicity</a:t>
                </a:r>
              </a:p>
            </c:rich>
          </c:tx>
          <c:layout>
            <c:manualLayout>
              <c:xMode val="edge"/>
              <c:yMode val="edge"/>
              <c:x val="0.24778129629629631"/>
              <c:y val="0.93616692120034095"/>
            </c:manualLayout>
          </c:layout>
          <c:overlay val="1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400" b="1" i="0" u="none" strike="noStrike" kern="1200" baseline="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2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100" b="1" i="0" u="none" strike="noStrike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sz="1100"/>
                  <a:t>Share</a:t>
                </a:r>
              </a:p>
            </c:rich>
          </c:tx>
          <c:layout>
            <c:manualLayout>
              <c:xMode val="edge"/>
              <c:yMode val="edge"/>
              <c:x val="7.0555555555555554E-3"/>
              <c:y val="0.52179866055785851"/>
            </c:manualLayout>
          </c:layout>
          <c:overlay val="1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100" b="1" i="0" u="none" strike="noStrike" kern="1200" baseline="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0%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81827518518518516"/>
          <c:y val="8.7096795520207361E-3"/>
          <c:w val="0.17954222222222221"/>
          <c:h val="0.97869586200969216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1" i="0" u="none" strike="noStrike" kern="1200" baseline="0">
              <a:solidFill>
                <a:schemeClr val="tx2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1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Heart</c:v>
                </c:pt>
              </c:strCache>
            </c:strRef>
          </c:tx>
          <c:spPr>
            <a:solidFill>
              <a:srgbClr val="345995"/>
            </a:solidFill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Northeast</c:v>
                </c:pt>
                <c:pt idx="1">
                  <c:v>Midwest</c:v>
                </c:pt>
                <c:pt idx="2">
                  <c:v>South</c:v>
                </c:pt>
                <c:pt idx="3">
                  <c:v>West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0.80559727275000004</c:v>
                </c:pt>
                <c:pt idx="1">
                  <c:v>1.1960606663333333</c:v>
                </c:pt>
                <c:pt idx="2">
                  <c:v>1.3584843945882352</c:v>
                </c:pt>
                <c:pt idx="3">
                  <c:v>0.6397716911111111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D39-4A39-A4F0-0182F94BC77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9E0E6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24324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D9E0E6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5E6C79"/>
                    </a:solidFill>
                    <a:latin typeface="Arial"/>
                  </a:defRPr>
                </a:pPr>
                <a:r>
                  <a:rPr lang="en-US" b="0" i="0" u="none" strike="noStrike">
                    <a:solidFill>
                      <a:srgbClr val="5E6C79"/>
                    </a:solidFill>
                    <a:latin typeface="Arial"/>
                  </a:rPr>
                  <a:t>Waitlist per 100k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D9E0E6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24324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Kidney</c:v>
                </c:pt>
              </c:strCache>
            </c:strRef>
          </c:tx>
          <c:spPr>
            <a:solidFill>
              <a:srgbClr val="3A7D44"/>
            </a:solidFill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Northeast</c:v>
                </c:pt>
                <c:pt idx="1">
                  <c:v>Midwest</c:v>
                </c:pt>
                <c:pt idx="2">
                  <c:v>South</c:v>
                </c:pt>
                <c:pt idx="3">
                  <c:v>West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30.332225810000001</c:v>
                </c:pt>
                <c:pt idx="1">
                  <c:v>23.157624389166667</c:v>
                </c:pt>
                <c:pt idx="2">
                  <c:v>31.770209799882355</c:v>
                </c:pt>
                <c:pt idx="3">
                  <c:v>23.916339267777779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CC4-45B1-84A6-129516D0512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9E0E6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24324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D9E0E6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5E6C79"/>
                    </a:solidFill>
                    <a:latin typeface="Arial"/>
                  </a:defRPr>
                </a:pPr>
                <a:r>
                  <a:rPr lang="en-US" b="0" i="0" u="none" strike="noStrike">
                    <a:solidFill>
                      <a:srgbClr val="5E6C79"/>
                    </a:solidFill>
                    <a:latin typeface="Arial"/>
                  </a:rPr>
                  <a:t>Waitlist per 100k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D9E0E6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24324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Lung</c:v>
                </c:pt>
              </c:strCache>
            </c:strRef>
          </c:tx>
          <c:spPr>
            <a:solidFill>
              <a:srgbClr val="C17C29"/>
            </a:solidFill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Northeast</c:v>
                </c:pt>
                <c:pt idx="1">
                  <c:v>Midwest</c:v>
                </c:pt>
                <c:pt idx="2">
                  <c:v>South</c:v>
                </c:pt>
                <c:pt idx="3">
                  <c:v>West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0.228193088125</c:v>
                </c:pt>
                <c:pt idx="1">
                  <c:v>0.28616290808333333</c:v>
                </c:pt>
                <c:pt idx="2">
                  <c:v>0.15913748811764705</c:v>
                </c:pt>
                <c:pt idx="3">
                  <c:v>0.16020555655555554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DB8-49D4-8A36-828D618464A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9E0E6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24324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D9E0E6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5E6C79"/>
                    </a:solidFill>
                    <a:latin typeface="Arial"/>
                  </a:defRPr>
                </a:pPr>
                <a:r>
                  <a:rPr lang="en-US" b="0" i="0" u="none" strike="noStrike">
                    <a:solidFill>
                      <a:srgbClr val="5E6C79"/>
                    </a:solidFill>
                    <a:latin typeface="Arial"/>
                  </a:rPr>
                  <a:t>Waitlist per 100k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D9E0E6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24324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Heart</c:v>
                </c:pt>
              </c:strCache>
            </c:strRef>
          </c:tx>
          <c:spPr>
            <a:solidFill>
              <a:srgbClr val="345995"/>
            </a:solidFill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Northeast</c:v>
                </c:pt>
                <c:pt idx="1">
                  <c:v>Midwest</c:v>
                </c:pt>
                <c:pt idx="2">
                  <c:v>South</c:v>
                </c:pt>
                <c:pt idx="3">
                  <c:v>West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45.3</c:v>
                </c:pt>
                <c:pt idx="1">
                  <c:v>47.8</c:v>
                </c:pt>
                <c:pt idx="2">
                  <c:v>43.8</c:v>
                </c:pt>
                <c:pt idx="3">
                  <c:v>43.2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CC1-4E5C-8D60-28F641028AA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Kidney</c:v>
                </c:pt>
              </c:strCache>
            </c:strRef>
          </c:tx>
          <c:spPr>
            <a:solidFill>
              <a:srgbClr val="3A7D44"/>
            </a:solidFill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Northeast</c:v>
                </c:pt>
                <c:pt idx="1">
                  <c:v>Midwest</c:v>
                </c:pt>
                <c:pt idx="2">
                  <c:v>South</c:v>
                </c:pt>
                <c:pt idx="3">
                  <c:v>West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68.599999999999994</c:v>
                </c:pt>
                <c:pt idx="1">
                  <c:v>56.8</c:v>
                </c:pt>
                <c:pt idx="2">
                  <c:v>57</c:v>
                </c:pt>
                <c:pt idx="3">
                  <c:v>56.5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ECC1-4E5C-8D60-28F641028AA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Lung</c:v>
                </c:pt>
              </c:strCache>
            </c:strRef>
          </c:tx>
          <c:spPr>
            <a:solidFill>
              <a:srgbClr val="C17C29"/>
            </a:solidFill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Northeast</c:v>
                </c:pt>
                <c:pt idx="1">
                  <c:v>Midwest</c:v>
                </c:pt>
                <c:pt idx="2">
                  <c:v>South</c:v>
                </c:pt>
                <c:pt idx="3">
                  <c:v>West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12.4</c:v>
                </c:pt>
                <c:pt idx="1">
                  <c:v>17.600000000000001</c:v>
                </c:pt>
                <c:pt idx="2">
                  <c:v>12.1</c:v>
                </c:pt>
                <c:pt idx="3">
                  <c:v>9.5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ECC1-4E5C-8D60-28F641028AA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5E6C79"/>
                    </a:solidFill>
                    <a:latin typeface="Arial"/>
                  </a:defRPr>
                </a:pPr>
                <a:r>
                  <a:rPr lang="en-US" b="0" i="0" u="none" strike="noStrike">
                    <a:solidFill>
                      <a:srgbClr val="5E6C79"/>
                    </a:solidFill>
                    <a:latin typeface="Arial"/>
                  </a:rPr>
                  <a:t>Region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9E0E6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24324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D9E0E6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5E6C79"/>
                    </a:solidFill>
                    <a:latin typeface="Arial"/>
                  </a:defRPr>
                </a:pPr>
                <a:r>
                  <a:rPr lang="en-US" b="0" i="0" u="none" strike="noStrike">
                    <a:solidFill>
                      <a:srgbClr val="5E6C79"/>
                    </a:solidFill>
                    <a:latin typeface="Arial"/>
                  </a:rPr>
                  <a:t>Share waiting ≥1 year (%)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D9E0E6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24324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000"/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Heart</c:v>
                </c:pt>
              </c:strCache>
            </c:strRef>
          </c:tx>
          <c:spPr>
            <a:solidFill>
              <a:srgbClr val="345995"/>
            </a:solidFill>
            <a:effectLst/>
          </c:spPr>
          <c:invertIfNegative val="0"/>
          <c:cat>
            <c:strRef>
              <c:f>Sheet1!$A$2:$A$10</c:f>
              <c:strCache>
                <c:ptCount val="9"/>
                <c:pt idx="0">
                  <c:v>AI/AN</c:v>
                </c:pt>
                <c:pt idx="1">
                  <c:v>Asian</c:v>
                </c:pt>
                <c:pt idx="2">
                  <c:v>Black</c:v>
                </c:pt>
                <c:pt idx="3">
                  <c:v>Hispanic</c:v>
                </c:pt>
                <c:pt idx="4">
                  <c:v>All Races</c:v>
                </c:pt>
                <c:pt idx="5">
                  <c:v>White</c:v>
                </c:pt>
                <c:pt idx="6">
                  <c:v>PI</c:v>
                </c:pt>
                <c:pt idx="7">
                  <c:v>Multiracial</c:v>
                </c:pt>
                <c:pt idx="8">
                  <c:v>Unknown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47.8</c:v>
                </c:pt>
                <c:pt idx="1">
                  <c:v>38</c:v>
                </c:pt>
                <c:pt idx="2">
                  <c:v>46.9</c:v>
                </c:pt>
                <c:pt idx="3">
                  <c:v>47.2</c:v>
                </c:pt>
                <c:pt idx="4">
                  <c:v>46.7</c:v>
                </c:pt>
                <c:pt idx="5">
                  <c:v>48</c:v>
                </c:pt>
                <c:pt idx="6">
                  <c:v>50</c:v>
                </c:pt>
                <c:pt idx="7">
                  <c:v>29.4</c:v>
                </c:pt>
                <c:pt idx="8">
                  <c:v>24.6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810-4D89-9C2A-6F3FBF0977C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Kidney</c:v>
                </c:pt>
              </c:strCache>
            </c:strRef>
          </c:tx>
          <c:spPr>
            <a:solidFill>
              <a:srgbClr val="3A7D44"/>
            </a:solidFill>
            <a:effectLst/>
          </c:spPr>
          <c:invertIfNegative val="0"/>
          <c:cat>
            <c:strRef>
              <c:f>Sheet1!$A$2:$A$10</c:f>
              <c:strCache>
                <c:ptCount val="9"/>
                <c:pt idx="0">
                  <c:v>AI/AN</c:v>
                </c:pt>
                <c:pt idx="1">
                  <c:v>Asian</c:v>
                </c:pt>
                <c:pt idx="2">
                  <c:v>Black</c:v>
                </c:pt>
                <c:pt idx="3">
                  <c:v>Hispanic</c:v>
                </c:pt>
                <c:pt idx="4">
                  <c:v>All Races</c:v>
                </c:pt>
                <c:pt idx="5">
                  <c:v>White</c:v>
                </c:pt>
                <c:pt idx="6">
                  <c:v>PI</c:v>
                </c:pt>
                <c:pt idx="7">
                  <c:v>Multiracial</c:v>
                </c:pt>
                <c:pt idx="8">
                  <c:v>Unknown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64.8</c:v>
                </c:pt>
                <c:pt idx="1">
                  <c:v>64.900000000000006</c:v>
                </c:pt>
                <c:pt idx="2">
                  <c:v>60.8</c:v>
                </c:pt>
                <c:pt idx="3">
                  <c:v>64.099999999999994</c:v>
                </c:pt>
                <c:pt idx="4">
                  <c:v>61.3</c:v>
                </c:pt>
                <c:pt idx="5">
                  <c:v>59.6</c:v>
                </c:pt>
                <c:pt idx="6">
                  <c:v>63.9</c:v>
                </c:pt>
                <c:pt idx="7">
                  <c:v>62.5</c:v>
                </c:pt>
                <c:pt idx="8">
                  <c:v>31.5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810-4D89-9C2A-6F3FBF0977C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Lung</c:v>
                </c:pt>
              </c:strCache>
            </c:strRef>
          </c:tx>
          <c:spPr>
            <a:solidFill>
              <a:srgbClr val="C17C29"/>
            </a:solidFill>
            <a:effectLst/>
          </c:spPr>
          <c:invertIfNegative val="0"/>
          <c:cat>
            <c:strRef>
              <c:f>Sheet1!$A$2:$A$10</c:f>
              <c:strCache>
                <c:ptCount val="9"/>
                <c:pt idx="0">
                  <c:v>AI/AN</c:v>
                </c:pt>
                <c:pt idx="1">
                  <c:v>Asian</c:v>
                </c:pt>
                <c:pt idx="2">
                  <c:v>Black</c:v>
                </c:pt>
                <c:pt idx="3">
                  <c:v>Hispanic</c:v>
                </c:pt>
                <c:pt idx="4">
                  <c:v>All Races</c:v>
                </c:pt>
                <c:pt idx="5">
                  <c:v>White</c:v>
                </c:pt>
                <c:pt idx="6">
                  <c:v>PI</c:v>
                </c:pt>
                <c:pt idx="7">
                  <c:v>Multiracial</c:v>
                </c:pt>
                <c:pt idx="8">
                  <c:v>Unknown</c:v>
                </c:pt>
              </c:strCache>
            </c: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60</c:v>
                </c:pt>
                <c:pt idx="1">
                  <c:v>29</c:v>
                </c:pt>
                <c:pt idx="2">
                  <c:v>23.4</c:v>
                </c:pt>
                <c:pt idx="3">
                  <c:v>17.600000000000001</c:v>
                </c:pt>
                <c:pt idx="4">
                  <c:v>18.399999999999999</c:v>
                </c:pt>
                <c:pt idx="5">
                  <c:v>16.899999999999999</c:v>
                </c:pt>
                <c:pt idx="6">
                  <c:v>0</c:v>
                </c:pt>
                <c:pt idx="7">
                  <c:v>0</c:v>
                </c:pt>
                <c:pt idx="8">
                  <c:v>12.5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810-4D89-9C2A-6F3FBF0977C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5E6C79"/>
                    </a:solidFill>
                    <a:latin typeface="Arial"/>
                  </a:defRPr>
                </a:pPr>
                <a:r>
                  <a:rPr lang="en-US" b="0" i="0" u="none" strike="noStrike">
                    <a:solidFill>
                      <a:srgbClr val="5E6C79"/>
                    </a:solidFill>
                    <a:latin typeface="Arial"/>
                  </a:rPr>
                  <a:t>Race / ethnicity group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9E0E6"/>
            </a:solidFill>
            <a:prstDash val="solid"/>
            <a:round/>
          </a:ln>
        </c:spPr>
        <c:txPr>
          <a:bodyPr/>
          <a:lstStyle/>
          <a:p>
            <a:pPr>
              <a:defRPr sz="950" b="1" i="0" u="none" strike="noStrike">
                <a:solidFill>
                  <a:srgbClr val="24324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D9E0E6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1" i="0" u="none" strike="noStrike">
                    <a:solidFill>
                      <a:srgbClr val="5E6C79"/>
                    </a:solidFill>
                    <a:latin typeface="Arial"/>
                  </a:defRPr>
                </a:pPr>
                <a:r>
                  <a:rPr lang="en-US" sz="1100" b="1" i="0" u="none" strike="noStrike">
                    <a:solidFill>
                      <a:srgbClr val="5E6C79"/>
                    </a:solidFill>
                    <a:latin typeface="Arial"/>
                  </a:rPr>
                  <a:t>Share waiting ≥1 year (%)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D9E0E6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24324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000"/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Uninsured (%)</c:v>
                </c:pt>
              </c:strCache>
            </c:strRef>
          </c:tx>
          <c:spPr>
            <a:solidFill>
              <a:srgbClr val="345995"/>
            </a:solidFill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Northeast</c:v>
                </c:pt>
                <c:pt idx="1">
                  <c:v>Midwest</c:v>
                </c:pt>
                <c:pt idx="2">
                  <c:v>South</c:v>
                </c:pt>
                <c:pt idx="3">
                  <c:v>West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8.9834708125000002</c:v>
                </c:pt>
                <c:pt idx="1">
                  <c:v>10.099526691666666</c:v>
                </c:pt>
                <c:pt idx="2">
                  <c:v>13.192474052941177</c:v>
                </c:pt>
                <c:pt idx="3">
                  <c:v>13.088348411111111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19B-4107-B0F9-DA8B1BEDE77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9E0E6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24324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D9E0E6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5E6C79"/>
                    </a:solidFill>
                    <a:latin typeface="Arial"/>
                  </a:defRPr>
                </a:pPr>
                <a:r>
                  <a:rPr lang="en-US" b="0" i="0" u="none" strike="noStrike">
                    <a:solidFill>
                      <a:srgbClr val="5E6C79"/>
                    </a:solidFill>
                    <a:latin typeface="Arial"/>
                  </a:rPr>
                  <a:t>Uninsured (%)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D9E0E6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24324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Median income ($)</c:v>
                </c:pt>
              </c:strCache>
            </c:strRef>
          </c:tx>
          <c:spPr>
            <a:solidFill>
              <a:srgbClr val="3A7D44"/>
            </a:solidFill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Northeast</c:v>
                </c:pt>
                <c:pt idx="1">
                  <c:v>Midwest</c:v>
                </c:pt>
                <c:pt idx="2">
                  <c:v>South</c:v>
                </c:pt>
                <c:pt idx="3">
                  <c:v>West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91100.25</c:v>
                </c:pt>
                <c:pt idx="1">
                  <c:v>76200.583333333328</c:v>
                </c:pt>
                <c:pt idx="2">
                  <c:v>74336.705882352937</c:v>
                </c:pt>
                <c:pt idx="3">
                  <c:v>88175.777777777781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9D4-46E0-9419-B5B8F9D7D5E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9E0E6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24324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D9E0E6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5E6C79"/>
                    </a:solidFill>
                    <a:latin typeface="Arial"/>
                  </a:defRPr>
                </a:pPr>
                <a:r>
                  <a:rPr lang="en-US" b="0" i="0" u="none" strike="noStrike">
                    <a:solidFill>
                      <a:srgbClr val="5E6C79"/>
                    </a:solidFill>
                    <a:latin typeface="Arial"/>
                  </a:rPr>
                  <a:t>Median income ($)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D9E0E6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24324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Mortality crude rate</c:v>
                </c:pt>
              </c:strCache>
            </c:strRef>
          </c:tx>
          <c:spPr>
            <a:solidFill>
              <a:srgbClr val="C17C29"/>
            </a:solidFill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Northeast</c:v>
                </c:pt>
                <c:pt idx="1">
                  <c:v>Midwest</c:v>
                </c:pt>
                <c:pt idx="2">
                  <c:v>South</c:v>
                </c:pt>
                <c:pt idx="3">
                  <c:v>West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980.02499999999998</c:v>
                </c:pt>
                <c:pt idx="1">
                  <c:v>1001.6416666666668</c:v>
                </c:pt>
                <c:pt idx="2">
                  <c:v>1062.7058823529412</c:v>
                </c:pt>
                <c:pt idx="3">
                  <c:v>859.59999999999991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858-4C36-B81C-4ACFE7AC890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9E0E6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24324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D9E0E6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5E6C79"/>
                    </a:solidFill>
                    <a:latin typeface="Arial"/>
                  </a:defRPr>
                </a:pPr>
                <a:r>
                  <a:rPr lang="en-US" b="0" i="0" u="none" strike="noStrike">
                    <a:solidFill>
                      <a:srgbClr val="5E6C79"/>
                    </a:solidFill>
                    <a:latin typeface="Arial"/>
                  </a:rPr>
                  <a:t>Crude rate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D9E0E6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24324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7">
  <cs:axisTitle>
    <cs:lnRef idx="0"/>
    <cs:fillRef idx="0"/>
    <cs:effectRef idx="0"/>
    <cs:fontRef idx="minor">
      <a:schemeClr val="tx2"/>
    </cs:fontRef>
    <cs:defRPr sz="900" b="1" kern="1200"/>
  </cs:axisTitle>
  <cs:categoryAxis>
    <cs:lnRef idx="0"/>
    <cs:fillRef idx="0"/>
    <cs:effectRef idx="0"/>
    <cs:fontRef idx="minor">
      <a:schemeClr val="tx2"/>
    </cs:fontRef>
    <cs:spPr>
      <a:ln w="9525" cap="flat" cmpd="sng" algn="ctr">
        <a:solidFill>
          <a:schemeClr val="tx2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2"/>
    </cs:fontRef>
    <cs:spPr>
      <a:solidFill>
        <a:schemeClr val="bg1"/>
      </a:solidFill>
      <a:ln w="9525" cap="flat" cmpd="sng" algn="ctr">
        <a:solidFill>
          <a:schemeClr val="tx2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2"/>
    </cs:fontRef>
    <cs:defRPr sz="900" kern="1200"/>
  </cs:dataLabel>
  <cs:dataLabelCallout>
    <cs:lnRef idx="0"/>
    <cs:fillRef idx="0"/>
    <cs:effectRef idx="0"/>
    <cs:fontRef idx="minor">
      <a:schemeClr val="dk2">
        <a:lumMod val="7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2"/>
    <cs:fontRef idx="minor">
      <a:schemeClr val="tx2"/>
    </cs:fontRef>
  </cs:dataPoint>
  <cs:dataPoint3D>
    <cs:lnRef idx="0"/>
    <cs:fillRef idx="3">
      <cs:styleClr val="auto"/>
    </cs:fillRef>
    <cs:effectRef idx="2"/>
    <cs:fontRef idx="minor">
      <a:schemeClr val="tx2"/>
    </cs:fontRef>
  </cs:dataPoint3D>
  <cs:dataPointLine>
    <cs:lnRef idx="0">
      <cs:styleClr val="auto"/>
    </cs:lnRef>
    <cs:fillRef idx="3"/>
    <cs:effectRef idx="2"/>
    <cs:fontRef idx="minor">
      <a:schemeClr val="tx2"/>
    </cs:fontRef>
    <cs:spPr>
      <a:ln w="31750" cap="rnd">
        <a:solidFill>
          <a:schemeClr val="phClr"/>
        </a:solidFill>
        <a:round/>
      </a:ln>
    </cs:spPr>
  </cs:dataPointLine>
  <cs:dataPointMarker>
    <cs:lnRef idx="0"/>
    <cs:fillRef idx="3">
      <cs:styleClr val="auto"/>
    </cs:fillRef>
    <cs:effectRef idx="2"/>
    <cs:fontRef idx="minor">
      <a:schemeClr val="tx2"/>
    </cs:fontRef>
    <cs:spPr>
      <a:ln w="12700">
        <a:solidFill>
          <a:schemeClr val="lt2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2"/>
    <cs:fontRef idx="minor">
      <a:schemeClr val="tx2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2"/>
    </cs:fontRef>
    <cs:spPr>
      <a:ln w="9525">
        <a:solidFill>
          <a:schemeClr val="tx2">
            <a:lumMod val="15000"/>
            <a:lumOff val="85000"/>
          </a:schemeClr>
        </a:solidFill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2"/>
    </cs:fontRef>
    <cs:spPr>
      <a:ln w="9525">
        <a:solidFill>
          <a:schemeClr val="tx2">
            <a:lumMod val="60000"/>
            <a:lumOff val="40000"/>
          </a:schemeClr>
        </a:solidFill>
        <a:prstDash val="dash"/>
      </a:ln>
    </cs:spPr>
  </cs:dropLine>
  <cs:errorBar>
    <cs:lnRef idx="0"/>
    <cs:fillRef idx="0"/>
    <cs:effectRef idx="0"/>
    <cs:fontRef idx="minor">
      <a:schemeClr val="tx2"/>
    </cs:fontRef>
    <cs:spPr>
      <a:ln w="9525">
        <a:solidFill>
          <a:schemeClr val="tx2">
            <a:lumMod val="75000"/>
            <a:lumOff val="25000"/>
          </a:schemeClr>
        </a:solidFill>
        <a:round/>
      </a:ln>
    </cs:spPr>
  </cs:errorBar>
  <cs:floor>
    <cs:lnRef idx="0"/>
    <cs:fillRef idx="0"/>
    <cs:effectRef idx="0"/>
    <cs:fontRef idx="minor">
      <a:schemeClr val="tx2"/>
    </cs:fontRef>
  </cs:floor>
  <cs:gridlineMajor>
    <cs:lnRef idx="0"/>
    <cs:fillRef idx="0"/>
    <cs:effectRef idx="0"/>
    <cs:fontRef idx="minor">
      <a:schemeClr val="tx2"/>
    </cs:fontRef>
    <cs:spPr>
      <a:ln w="9525" cap="flat" cmpd="sng" algn="ctr">
        <a:solidFill>
          <a:schemeClr val="tx2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2"/>
    </cs:fontRef>
    <cs:spPr>
      <a:ln>
        <a:solidFill>
          <a:schemeClr val="tx2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tx2"/>
    </cs:fontRef>
    <cs:spPr>
      <a:ln w="9525">
        <a:solidFill>
          <a:schemeClr val="tx2">
            <a:lumMod val="60000"/>
            <a:lumOff val="40000"/>
          </a:schemeClr>
        </a:solidFill>
        <a:prstDash val="dash"/>
      </a:ln>
    </cs:spPr>
  </cs:hiLoLine>
  <cs:leaderLine>
    <cs:lnRef idx="0"/>
    <cs:fillRef idx="0"/>
    <cs:effectRef idx="0"/>
    <cs:fontRef idx="minor">
      <a:schemeClr val="tx2"/>
    </cs:fontRef>
    <cs:spPr>
      <a:ln w="9525">
        <a:solidFill>
          <a:schemeClr val="tx2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2"/>
    </cs:fontRef>
    <cs:defRPr sz="900" kern="1200"/>
  </cs:legend>
  <cs:plotArea>
    <cs:lnRef idx="0"/>
    <cs:fillRef idx="0"/>
    <cs:effectRef idx="0"/>
    <cs:fontRef idx="minor">
      <a:schemeClr val="tx2"/>
    </cs:fontRef>
  </cs:plotArea>
  <cs:plotArea3D>
    <cs:lnRef idx="0"/>
    <cs:fillRef idx="0"/>
    <cs:effectRef idx="0"/>
    <cs:fontRef idx="minor">
      <a:schemeClr val="tx2"/>
    </cs:fontRef>
  </cs:plotArea3D>
  <cs:seriesAxis>
    <cs:lnRef idx="0"/>
    <cs:fillRef idx="0"/>
    <cs:effectRef idx="0"/>
    <cs:fontRef idx="minor">
      <a:schemeClr val="tx2"/>
    </cs:fontRef>
    <cs:spPr>
      <a:ln w="9525" cap="flat" cmpd="sng" algn="ctr">
        <a:solidFill>
          <a:schemeClr val="tx2">
            <a:lumMod val="15000"/>
            <a:lumOff val="85000"/>
          </a:schemeClr>
        </a:solidFill>
        <a:round/>
      </a:ln>
    </cs:spPr>
    <cs:defRPr sz="900" kern="1200"/>
  </cs:seriesAxis>
  <cs:seriesLine>
    <cs:lnRef idx="0"/>
    <cs:fillRef idx="0"/>
    <cs:effectRef idx="0"/>
    <cs:fontRef idx="minor">
      <a:schemeClr val="tx2"/>
    </cs:fontRef>
    <cs:spPr>
      <a:ln w="9525">
        <a:solidFill>
          <a:schemeClr val="tx2">
            <a:lumMod val="60000"/>
            <a:lumOff val="40000"/>
          </a:schemeClr>
        </a:solidFill>
        <a:prstDash val="dash"/>
      </a:ln>
    </cs:spPr>
  </cs:seriesLine>
  <cs:title>
    <cs:lnRef idx="0"/>
    <cs:fillRef idx="0"/>
    <cs:effectRef idx="0"/>
    <cs:fontRef idx="minor">
      <a:schemeClr val="tx2"/>
    </cs:fontRef>
    <cs:defRPr sz="1600" b="1" kern="1200"/>
  </cs:title>
  <cs:trendline>
    <cs:lnRef idx="0">
      <cs:styleClr val="auto"/>
    </cs:lnRef>
    <cs:fillRef idx="0"/>
    <cs:effectRef idx="0"/>
    <cs:fontRef idx="minor">
      <a:schemeClr val="tx2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2"/>
    </cs:fontRef>
    <cs:defRPr sz="900" kern="1200"/>
  </cs:trendlineLabel>
  <cs:upBar>
    <cs:lnRef idx="0"/>
    <cs:fillRef idx="0"/>
    <cs:effectRef idx="0"/>
    <cs:fontRef idx="minor">
      <a:schemeClr val="tx2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2"/>
    </cs:fontRef>
    <cs:defRPr sz="900" kern="1200"/>
  </cs:valueAxis>
  <cs:wall>
    <cs:lnRef idx="0"/>
    <cs:fillRef idx="0"/>
    <cs:effectRef idx="0"/>
    <cs:fontRef idx="minor">
      <a:schemeClr val="tx2"/>
    </cs:fontRef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788069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36C03C-F8F1-7A99-9331-0D7819AD8F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5A1820-3CC5-56B9-829F-75CBB0F3CA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407C6D2-A7B8-77A2-B6A1-B772B5EC6B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B140CA-276D-1918-536D-9F4A8AFD15E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483127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96BFC6-F809-8E1E-CF55-8FBD8C6DB1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C7BA27D-CCBD-50BD-2ED6-CAC3256C15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E155E1-2D86-F753-A00F-14A173CFA6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94C28E-B10C-69BA-A765-F78EAE051F4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527519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chart" Target="../charts/chart6.xml"/><Relationship Id="rId4" Type="http://schemas.openxmlformats.org/officeDocument/2006/relationships/chart" Target="../charts/char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8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9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chart" Target="../charts/chart11.xml"/><Relationship Id="rId4" Type="http://schemas.openxmlformats.org/officeDocument/2006/relationships/chart" Target="../charts/chart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343400" cy="685800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343400" y="0"/>
            <a:ext cx="7848295" cy="6858000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31546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TRANSPLANT</a:t>
            </a:r>
            <a:endParaRPr lang="en-US" sz="2600" dirty="0"/>
          </a:p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EQUITY IN</a:t>
            </a:r>
            <a:endParaRPr lang="en-US" sz="2600" dirty="0"/>
          </a:p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U.S.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892040" y="1325880"/>
            <a:ext cx="6217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Disparities in access to heart, kidney, and lung transplants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919472" y="2240280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432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Capstone presentation built from the uploaded waitlist, candidate waiting-time, CDC mortality, and Census datasets.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919472" y="2926080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4599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Focus: access burden, long waits, regional context, and measurement limits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919472" y="3310128"/>
            <a:ext cx="1417320" cy="0"/>
          </a:xfrm>
          <a:prstGeom prst="line">
            <a:avLst/>
          </a:prstGeom>
          <a:noFill/>
          <a:ln w="12700">
            <a:solidFill>
              <a:srgbClr val="34599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919472" y="365760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9435C"/>
                </a:solidFill>
              </a:rPr>
              <a:t>Heart • Kidney • Lung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919472" y="6053328"/>
            <a:ext cx="4206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E6C79"/>
                </a:solidFill>
              </a:rPr>
              <a:t>Analytic framing adapted from the uploaded project outline.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345995"/>
          </a:solidFill>
          <a:ln w="12700">
            <a:solidFill>
              <a:srgbClr val="34599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32004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4599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PROJECT FRAME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621792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Research questions and scope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94360" y="1234440"/>
            <a:ext cx="544068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34599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94360" y="1234440"/>
            <a:ext cx="109728" cy="1051560"/>
          </a:xfrm>
          <a:prstGeom prst="rect">
            <a:avLst/>
          </a:prstGeom>
          <a:solidFill>
            <a:srgbClr val="345995"/>
          </a:solidFill>
          <a:ln w="12700">
            <a:solidFill>
              <a:srgbClr val="34599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95528" y="1362456"/>
            <a:ext cx="51297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324F"/>
                </a:solidFill>
              </a:rPr>
              <a:t>Primary question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95528" y="1618488"/>
            <a:ext cx="5129784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243240"/>
                </a:solidFill>
              </a:rPr>
              <a:t>Are there measurable disparities in access to heart, kidney, and lung transplants in the United States based on demographic, socioeconomic, and geographic factors?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22960" y="2578608"/>
            <a:ext cx="5120640" cy="22860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2432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 transplant access patterns differ by race, ethnicity, sex, or age?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2432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Are long waits uneven across demographic or geographic groups?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2432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do insurance status or region relate to the likelihood of reaching transplant?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2432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Are outcome-related measures distributed unevenly across groups?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217920" y="2011680"/>
            <a:ext cx="960120" cy="566928"/>
          </a:xfrm>
          <a:prstGeom prst="chevron">
            <a:avLst/>
          </a:prstGeom>
          <a:solidFill>
            <a:srgbClr val="345995"/>
          </a:solidFill>
          <a:ln w="12700">
            <a:solidFill>
              <a:srgbClr val="34599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7333488" y="1463040"/>
            <a:ext cx="416052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3A7D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7333488" y="1463040"/>
            <a:ext cx="109728" cy="1234440"/>
          </a:xfrm>
          <a:prstGeom prst="rect">
            <a:avLst/>
          </a:prstGeom>
          <a:solidFill>
            <a:srgbClr val="3A7D44"/>
          </a:solidFill>
          <a:ln w="12700">
            <a:solidFill>
              <a:srgbClr val="3A7D44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534656" y="1591056"/>
            <a:ext cx="38496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324F"/>
                </a:solidFill>
              </a:rPr>
              <a:t>What this deck can measure now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534656" y="1847088"/>
            <a:ext cx="3849624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243240"/>
                </a:solidFill>
              </a:rPr>
              <a:t>Aggregated differences in waitlist burden, long-wait shares, race/ethnicity wait-time distributions, and ecological regional context.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333488" y="2880360"/>
            <a:ext cx="416052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C17C2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7333488" y="2880360"/>
            <a:ext cx="109728" cy="1234440"/>
          </a:xfrm>
          <a:prstGeom prst="rect">
            <a:avLst/>
          </a:prstGeom>
          <a:solidFill>
            <a:srgbClr val="C17C29"/>
          </a:solidFill>
          <a:ln w="12700">
            <a:solidFill>
              <a:srgbClr val="C17C2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7534656" y="3008376"/>
            <a:ext cx="38496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324F"/>
                </a:solidFill>
              </a:rPr>
              <a:t>What it cannot measure yet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534656" y="3264408"/>
            <a:ext cx="3849624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243240"/>
                </a:solidFill>
              </a:rPr>
              <a:t>Patient-level receipt of transplant, time-to-transplant, or mortality while waiting. Those require candidate-level IDs plus listing and event dates.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333488" y="4297680"/>
            <a:ext cx="416052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B84A6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7333488" y="4297680"/>
            <a:ext cx="109728" cy="1051560"/>
          </a:xfrm>
          <a:prstGeom prst="rect">
            <a:avLst/>
          </a:prstGeom>
          <a:solidFill>
            <a:srgbClr val="B84A62"/>
          </a:solidFill>
          <a:ln w="12700">
            <a:solidFill>
              <a:srgbClr val="B84A62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7534656" y="4425696"/>
            <a:ext cx="38496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324F"/>
                </a:solidFill>
              </a:rPr>
              <a:t>Practical implication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534656" y="4681728"/>
            <a:ext cx="3849624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243240"/>
                </a:solidFill>
              </a:rPr>
              <a:t>This is an equity-screening presentation: it identifies where disparities appear largest and where deeper causal analysis should go next.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345995"/>
          </a:solidFill>
          <a:ln w="12700">
            <a:solidFill>
              <a:srgbClr val="34599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32004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4599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 + METHOD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621792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Data inputs and analytic workflow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94360" y="1965960"/>
            <a:ext cx="233172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34599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94360" y="1965960"/>
            <a:ext cx="109728" cy="1874520"/>
          </a:xfrm>
          <a:prstGeom prst="rect">
            <a:avLst/>
          </a:prstGeom>
          <a:solidFill>
            <a:srgbClr val="345995"/>
          </a:solidFill>
          <a:ln w="12700">
            <a:solidFill>
              <a:srgbClr val="34599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95528" y="2093976"/>
            <a:ext cx="20208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324F"/>
                </a:solidFill>
              </a:rPr>
              <a:t>1. Source files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95528" y="2350008"/>
            <a:ext cx="2020824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243240"/>
                </a:solidFill>
              </a:rPr>
              <a:t>uno_waitlist.csv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243240"/>
                </a:solidFill>
              </a:rPr>
              <a:t>Cand+reg_Organ_by_Waiting._Time.csv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243240"/>
                </a:solidFill>
              </a:rPr>
              <a:t>uno_transplant.csv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243240"/>
                </a:solidFill>
              </a:rPr>
              <a:t>CDC_MORTALITY_cleaned_joined_long.csv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243240"/>
                </a:solidFill>
              </a:rPr>
              <a:t>census_cleaned.csv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547872" y="1965960"/>
            <a:ext cx="233172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3A7D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547872" y="1965960"/>
            <a:ext cx="109728" cy="1874520"/>
          </a:xfrm>
          <a:prstGeom prst="rect">
            <a:avLst/>
          </a:prstGeom>
          <a:solidFill>
            <a:srgbClr val="3A7D44"/>
          </a:solidFill>
          <a:ln w="12700">
            <a:solidFill>
              <a:srgbClr val="3A7D44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749040" y="2093976"/>
            <a:ext cx="20208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324F"/>
                </a:solidFill>
              </a:rPr>
              <a:t>2. Standardize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749040" y="2350008"/>
            <a:ext cx="2020824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243240"/>
                </a:solidFill>
              </a:rPr>
              <a:t>Clean numeric fields, harmonize geography, forward-fill organ labels, and reshape wait-time buckets into comparable long-wait shares.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73952" y="1965960"/>
            <a:ext cx="233172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C17C2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6473952" y="1965960"/>
            <a:ext cx="109728" cy="1874520"/>
          </a:xfrm>
          <a:prstGeom prst="rect">
            <a:avLst/>
          </a:prstGeom>
          <a:solidFill>
            <a:srgbClr val="C17C29"/>
          </a:solidFill>
          <a:ln w="12700">
            <a:solidFill>
              <a:srgbClr val="C17C2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675120" y="2093976"/>
            <a:ext cx="20208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324F"/>
                </a:solidFill>
              </a:rPr>
              <a:t>3. Build measures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675120" y="2350008"/>
            <a:ext cx="2020824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243240"/>
                </a:solidFill>
              </a:rPr>
              <a:t>Waitlist per 100k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243240"/>
                </a:solidFill>
              </a:rPr>
              <a:t>Share waiting at least 1 year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243240"/>
                </a:solidFill>
              </a:rPr>
              <a:t>Race/ethnicity long-wait share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243240"/>
                </a:solidFill>
              </a:rPr>
              <a:t>Regional uninsured and income context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243240"/>
                </a:solidFill>
              </a:rPr>
              <a:t>Trend in total U.S. transplants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9400032" y="1965960"/>
            <a:ext cx="214884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B84A6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9400032" y="1965960"/>
            <a:ext cx="109728" cy="1874520"/>
          </a:xfrm>
          <a:prstGeom prst="rect">
            <a:avLst/>
          </a:prstGeom>
          <a:solidFill>
            <a:srgbClr val="B84A62"/>
          </a:solidFill>
          <a:ln w="12700">
            <a:solidFill>
              <a:srgbClr val="B84A62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9601200" y="2093976"/>
            <a:ext cx="18379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324F"/>
                </a:solidFill>
              </a:rPr>
              <a:t>4. Synthesize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9601200" y="2350008"/>
            <a:ext cx="1837944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243240"/>
                </a:solidFill>
              </a:rPr>
              <a:t>Compare heart, kidney, and lung patterns; isolate geographic hotspots; then separate strong findings from data limitations.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749808" y="4389120"/>
            <a:ext cx="10881360" cy="1417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96850" indent="-196850">
              <a:buSzPct val="100000"/>
              <a:buChar char="•"/>
            </a:pPr>
            <a:r>
              <a:rPr lang="en-US" sz="1550" dirty="0">
                <a:solidFill>
                  <a:srgbClr val="2432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Main analysis units: states, regions, and candidate waiting-time subgroups.</a:t>
            </a:r>
            <a:endParaRPr lang="en-US" sz="1550" dirty="0"/>
          </a:p>
          <a:p>
            <a:pPr marL="196850" indent="-196850">
              <a:buSzPct val="100000"/>
              <a:buChar char="•"/>
            </a:pPr>
            <a:r>
              <a:rPr lang="en-US" sz="1550" dirty="0">
                <a:solidFill>
                  <a:srgbClr val="2432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strongest disparity measure in these files is long-wait share rather than mean wait days, because several wait-time summary fields are constant within organ.</a:t>
            </a:r>
            <a:endParaRPr lang="en-US" sz="1550" dirty="0"/>
          </a:p>
          <a:p>
            <a:pPr marL="196850" indent="-196850">
              <a:buSzPct val="100000"/>
              <a:buChar char="•"/>
            </a:pPr>
            <a:r>
              <a:rPr lang="en-US" sz="1550" dirty="0">
                <a:solidFill>
                  <a:srgbClr val="2432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CDC mortality is used here only as population context, not as waitlist mortality.</a:t>
            </a:r>
            <a:endParaRPr lang="en-US" sz="15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345995"/>
          </a:solidFill>
          <a:ln w="12700">
            <a:solidFill>
              <a:srgbClr val="34599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32004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4599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CONTEXT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621792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National transplant volume continues to rise</a:t>
            </a:r>
            <a:endParaRPr lang="en-US" sz="25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685800" y="1417320"/>
          <a:ext cx="676656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4"/>
          <p:cNvSpPr/>
          <p:nvPr/>
        </p:nvSpPr>
        <p:spPr>
          <a:xfrm>
            <a:off x="7818120" y="1783080"/>
            <a:ext cx="36576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34599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7818120" y="1783080"/>
            <a:ext cx="109728" cy="1234440"/>
          </a:xfrm>
          <a:prstGeom prst="rect">
            <a:avLst/>
          </a:prstGeom>
          <a:solidFill>
            <a:srgbClr val="345995"/>
          </a:solidFill>
          <a:ln w="12700">
            <a:solidFill>
              <a:srgbClr val="34599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8019288" y="1911096"/>
            <a:ext cx="33467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324F"/>
                </a:solidFill>
              </a:rPr>
              <a:t>Read this as context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019288" y="2167128"/>
            <a:ext cx="3346704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243240"/>
                </a:solidFill>
              </a:rPr>
              <a:t>28,668 total U.S. transplants in 2010 rose to 49,065 in 2025 — about a 71.1% increase overall.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7973568" y="3337560"/>
            <a:ext cx="3337560" cy="1828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96850" indent="-196850">
              <a:buSzPct val="100000"/>
              <a:buChar char="•"/>
            </a:pPr>
            <a:r>
              <a:rPr lang="en-US" sz="1550" dirty="0">
                <a:solidFill>
                  <a:srgbClr val="2432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national system expanded, but growth alone does not guarantee equitable access.</a:t>
            </a:r>
            <a:endParaRPr lang="en-US" sz="1550" dirty="0"/>
          </a:p>
          <a:p>
            <a:pPr marL="196850" indent="-196850">
              <a:buSzPct val="100000"/>
              <a:buChar char="•"/>
            </a:pPr>
            <a:r>
              <a:rPr lang="en-US" sz="1550" dirty="0">
                <a:solidFill>
                  <a:srgbClr val="2432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remaining slides focus on where waitlist burden and long waits still appear uneven.</a:t>
            </a:r>
            <a:endParaRPr lang="en-US" sz="1550" dirty="0"/>
          </a:p>
          <a:p>
            <a:pPr marL="196850" indent="-196850">
              <a:buSzPct val="100000"/>
              <a:buChar char="•"/>
            </a:pPr>
            <a:r>
              <a:rPr lang="en-US" sz="1550" dirty="0">
                <a:solidFill>
                  <a:srgbClr val="2432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line uses the uploaded annual transplant totals and is not organ-specific.</a:t>
            </a:r>
            <a:endParaRPr lang="en-US" sz="15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7B9F21-45E7-AAD9-7CEF-258AEE56E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hape 4">
            <a:extLst>
              <a:ext uri="{FF2B5EF4-FFF2-40B4-BE49-F238E27FC236}">
                <a16:creationId xmlns:a16="http://schemas.microsoft.com/office/drawing/2014/main" id="{EB5A016C-B874-C57B-B49C-249AB5A9C908}"/>
              </a:ext>
            </a:extLst>
          </p:cNvPr>
          <p:cNvSpPr/>
          <p:nvPr/>
        </p:nvSpPr>
        <p:spPr>
          <a:xfrm>
            <a:off x="7847838" y="1783080"/>
            <a:ext cx="3657600" cy="177165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345995"/>
            </a:solidFill>
            <a:prstDash val="solid"/>
          </a:ln>
        </p:spPr>
        <p:txBody>
          <a:bodyPr/>
          <a:lstStyle/>
          <a:p>
            <a:endParaRPr lang="en-US" sz="1600" dirty="0"/>
          </a:p>
          <a:p>
            <a:r>
              <a:rPr lang="en-US" sz="1600" dirty="0"/>
              <a:t>The male bar is noticeably higher than the female bar. Interpreting the bar heights: males have a higher transplant rate per 100k than females in 2026 (roughly 30k vs 19k on this chart’s scale).</a:t>
            </a:r>
          </a:p>
        </p:txBody>
      </p:sp>
      <p:sp>
        <p:nvSpPr>
          <p:cNvPr id="2" name="Shape 0">
            <a:extLst>
              <a:ext uri="{FF2B5EF4-FFF2-40B4-BE49-F238E27FC236}">
                <a16:creationId xmlns:a16="http://schemas.microsoft.com/office/drawing/2014/main" id="{4A3FC333-B72F-8112-AFF4-774F91B28067}"/>
              </a:ext>
            </a:extLst>
          </p:cNvPr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289AB8E9-8C96-4DDD-2F4A-F54753A4CAC1}"/>
              </a:ext>
            </a:extLst>
          </p:cNvPr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345995"/>
          </a:solidFill>
          <a:ln w="12700">
            <a:solidFill>
              <a:srgbClr val="34599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F6AA9CB-EF13-A6A1-2FFE-1A3CE74BAA63}"/>
              </a:ext>
            </a:extLst>
          </p:cNvPr>
          <p:cNvSpPr/>
          <p:nvPr/>
        </p:nvSpPr>
        <p:spPr>
          <a:xfrm>
            <a:off x="502920" y="32004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4599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CONTEXT</a:t>
            </a:r>
            <a:endParaRPr lang="en-US" sz="11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F0A7DD02-60C9-8A80-D9E6-EB3A4374B4F6}"/>
              </a:ext>
            </a:extLst>
          </p:cNvPr>
          <p:cNvSpPr/>
          <p:nvPr/>
        </p:nvSpPr>
        <p:spPr>
          <a:xfrm>
            <a:off x="502920" y="621792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ALL ORGAN TRANPLANT PER 100K (SEX)</a:t>
            </a:r>
            <a:endParaRPr lang="en-US" sz="2500" dirty="0"/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BC0ECB51-D03E-99E2-D395-110973CCA832}"/>
              </a:ext>
            </a:extLst>
          </p:cNvPr>
          <p:cNvSpPr/>
          <p:nvPr/>
        </p:nvSpPr>
        <p:spPr>
          <a:xfrm>
            <a:off x="7847838" y="1920240"/>
            <a:ext cx="91440" cy="1474470"/>
          </a:xfrm>
          <a:prstGeom prst="rect">
            <a:avLst/>
          </a:prstGeom>
          <a:solidFill>
            <a:srgbClr val="345995"/>
          </a:solidFill>
          <a:ln w="12700">
            <a:solidFill>
              <a:srgbClr val="34599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751E5FBF-9F07-AD1C-6844-5099DCA73144}"/>
              </a:ext>
            </a:extLst>
          </p:cNvPr>
          <p:cNvSpPr/>
          <p:nvPr/>
        </p:nvSpPr>
        <p:spPr>
          <a:xfrm>
            <a:off x="7996428" y="1818513"/>
            <a:ext cx="33467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324F"/>
                </a:solidFill>
              </a:rPr>
              <a:t>Read this context</a:t>
            </a:r>
            <a:endParaRPr lang="en-US" sz="1400" dirty="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5BFBB095-FE9A-91AA-1EE1-710FB52F7F9A}"/>
              </a:ext>
            </a:extLst>
          </p:cNvPr>
          <p:cNvSpPr/>
          <p:nvPr/>
        </p:nvSpPr>
        <p:spPr>
          <a:xfrm>
            <a:off x="7973568" y="4000500"/>
            <a:ext cx="3337560" cy="211455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96850" indent="-196850">
              <a:buSzPct val="100000"/>
              <a:buChar char="•"/>
            </a:pPr>
            <a:r>
              <a:rPr lang="en-US" sz="1550" dirty="0">
                <a:solidFill>
                  <a:srgbClr val="2432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Males received transplants at a higher per-capita rate than females in 2025.</a:t>
            </a:r>
          </a:p>
          <a:p>
            <a:pPr marL="196850" indent="-196850">
              <a:buSzPct val="100000"/>
              <a:buChar char="•"/>
            </a:pPr>
            <a:r>
              <a:rPr lang="en-US" sz="1550" dirty="0">
                <a:solidFill>
                  <a:srgbClr val="2432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gap is about 6.4 more transplants per 100k for males.</a:t>
            </a:r>
          </a:p>
          <a:p>
            <a:pPr marL="196850" indent="-196850">
              <a:buSzPct val="100000"/>
              <a:buChar char="•"/>
            </a:pPr>
            <a:r>
              <a:rPr lang="en-US" sz="1550" dirty="0">
                <a:solidFill>
                  <a:srgbClr val="2432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 relative terms, the male rate is roughly 1.6× (about 60%) higher than the female rate.</a:t>
            </a:r>
            <a:endParaRPr lang="en-US" sz="1550" dirty="0"/>
          </a:p>
        </p:txBody>
      </p:sp>
      <p:sp>
        <p:nvSpPr>
          <p:cNvPr id="17" name="Text 8">
            <a:extLst>
              <a:ext uri="{FF2B5EF4-FFF2-40B4-BE49-F238E27FC236}">
                <a16:creationId xmlns:a16="http://schemas.microsoft.com/office/drawing/2014/main" id="{303D2964-3DEC-E74D-8EA8-6F7AA97CDFB1}"/>
              </a:ext>
            </a:extLst>
          </p:cNvPr>
          <p:cNvSpPr/>
          <p:nvPr/>
        </p:nvSpPr>
        <p:spPr>
          <a:xfrm>
            <a:off x="7914132" y="2088261"/>
            <a:ext cx="3451860" cy="728091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96850" indent="-196850">
              <a:buSzPct val="100000"/>
              <a:buChar char="•"/>
            </a:pPr>
            <a:endParaRPr lang="en-US" sz="1550" dirty="0"/>
          </a:p>
        </p:txBody>
      </p:sp>
      <p:graphicFrame>
        <p:nvGraphicFramePr>
          <p:cNvPr id="19" name="Chart 18">
            <a:extLst>
              <a:ext uri="{FF2B5EF4-FFF2-40B4-BE49-F238E27FC236}">
                <a16:creationId xmlns:a16="http://schemas.microsoft.com/office/drawing/2014/main" id="{00000000-0008-0000-0000-00000200000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427511292"/>
              </p:ext>
            </p:extLst>
          </p:nvPr>
        </p:nvGraphicFramePr>
        <p:xfrm>
          <a:off x="184170" y="1267206"/>
          <a:ext cx="7494504" cy="527075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40330971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18E36E-82EE-B7A4-6B71-5052545F60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hape 4">
            <a:extLst>
              <a:ext uri="{FF2B5EF4-FFF2-40B4-BE49-F238E27FC236}">
                <a16:creationId xmlns:a16="http://schemas.microsoft.com/office/drawing/2014/main" id="{13F8039D-331B-124E-B22C-2C5EF9C14446}"/>
              </a:ext>
            </a:extLst>
          </p:cNvPr>
          <p:cNvSpPr/>
          <p:nvPr/>
        </p:nvSpPr>
        <p:spPr>
          <a:xfrm>
            <a:off x="7904988" y="1474470"/>
            <a:ext cx="3657600" cy="2018538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345995"/>
            </a:solidFill>
            <a:prstDash val="solid"/>
          </a:ln>
        </p:spPr>
        <p:txBody>
          <a:bodyPr/>
          <a:lstStyle/>
          <a:p>
            <a:endParaRPr lang="en-US" sz="1600" dirty="0"/>
          </a:p>
          <a:p>
            <a:r>
              <a:rPr lang="en-US" sz="1600" dirty="0"/>
              <a:t>This bar chart shows the </a:t>
            </a:r>
            <a:r>
              <a:rPr lang="en-US" sz="1600" b="1" dirty="0"/>
              <a:t>share of all U.S. transplants in 2026</a:t>
            </a:r>
            <a:r>
              <a:rPr lang="en-US" sz="1600" dirty="0"/>
              <a:t> (all organs combined) by </a:t>
            </a:r>
            <a:r>
              <a:rPr lang="en-US" sz="1600" b="1" dirty="0"/>
              <a:t>race/ethnicity</a:t>
            </a:r>
            <a:r>
              <a:rPr lang="en-US" sz="1600" dirty="0"/>
              <a:t>. The y-axis is a proportion (0 to 1), so each bar represents </a:t>
            </a:r>
            <a:r>
              <a:rPr lang="en-US" sz="1600" b="1" dirty="0"/>
              <a:t>what percent of total transplants</a:t>
            </a:r>
            <a:r>
              <a:rPr lang="en-US" sz="1600" dirty="0"/>
              <a:t> went to that group.</a:t>
            </a:r>
          </a:p>
        </p:txBody>
      </p:sp>
      <p:sp>
        <p:nvSpPr>
          <p:cNvPr id="2" name="Shape 0">
            <a:extLst>
              <a:ext uri="{FF2B5EF4-FFF2-40B4-BE49-F238E27FC236}">
                <a16:creationId xmlns:a16="http://schemas.microsoft.com/office/drawing/2014/main" id="{E2A3650A-A47A-7CB0-4521-C7E7C6C2B074}"/>
              </a:ext>
            </a:extLst>
          </p:cNvPr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7B2F74C1-0C65-11FB-70F7-E0B3DF8EC0D5}"/>
              </a:ext>
            </a:extLst>
          </p:cNvPr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345995"/>
          </a:solidFill>
          <a:ln w="12700">
            <a:solidFill>
              <a:srgbClr val="34599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FEEAE7CC-84D3-EB75-23AA-2C18C384C09D}"/>
              </a:ext>
            </a:extLst>
          </p:cNvPr>
          <p:cNvSpPr/>
          <p:nvPr/>
        </p:nvSpPr>
        <p:spPr>
          <a:xfrm>
            <a:off x="502920" y="32004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4599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CONTEXT</a:t>
            </a:r>
            <a:endParaRPr lang="en-US" sz="11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0FD631DA-129B-AABB-2904-112D4AE285A5}"/>
              </a:ext>
            </a:extLst>
          </p:cNvPr>
          <p:cNvSpPr/>
          <p:nvPr/>
        </p:nvSpPr>
        <p:spPr>
          <a:xfrm>
            <a:off x="502920" y="621792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ALL ORGAN TRANPLANT  (RACE/ETHNICITY)</a:t>
            </a:r>
            <a:endParaRPr lang="en-US" sz="2500" dirty="0"/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64C37049-D5E8-24B2-BC58-46010A867CB7}"/>
              </a:ext>
            </a:extLst>
          </p:cNvPr>
          <p:cNvSpPr/>
          <p:nvPr/>
        </p:nvSpPr>
        <p:spPr>
          <a:xfrm>
            <a:off x="7852410" y="1520190"/>
            <a:ext cx="109728" cy="1908810"/>
          </a:xfrm>
          <a:prstGeom prst="rect">
            <a:avLst/>
          </a:prstGeom>
          <a:solidFill>
            <a:srgbClr val="345995"/>
          </a:solidFill>
          <a:ln w="12700">
            <a:solidFill>
              <a:srgbClr val="34599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71F262E0-520E-7729-CDFE-D320594490DB}"/>
              </a:ext>
            </a:extLst>
          </p:cNvPr>
          <p:cNvSpPr/>
          <p:nvPr/>
        </p:nvSpPr>
        <p:spPr>
          <a:xfrm>
            <a:off x="8053578" y="1612773"/>
            <a:ext cx="33467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324F"/>
                </a:solidFill>
              </a:rPr>
              <a:t>Read this context</a:t>
            </a:r>
            <a:endParaRPr lang="en-US" sz="1400" dirty="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6BEE2E82-D96B-7DA4-7177-5DD1E76F0412}"/>
              </a:ext>
            </a:extLst>
          </p:cNvPr>
          <p:cNvSpPr/>
          <p:nvPr/>
        </p:nvSpPr>
        <p:spPr>
          <a:xfrm>
            <a:off x="8028432" y="3848481"/>
            <a:ext cx="3337560" cy="212940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r>
              <a:rPr lang="en-US" sz="1600" dirty="0"/>
              <a:t>This chart shows the </a:t>
            </a:r>
            <a:r>
              <a:rPr lang="en-US" sz="1600" b="1" dirty="0"/>
              <a:t>distribution of transplants</a:t>
            </a:r>
          </a:p>
          <a:p>
            <a:r>
              <a:rPr lang="en-US" sz="1600" dirty="0"/>
              <a:t>Transplants in 2026 were concentrated among White recipients </a:t>
            </a:r>
            <a:r>
              <a:rPr lang="en-US" sz="1600" b="1" dirty="0"/>
              <a:t>(49%), </a:t>
            </a:r>
            <a:r>
              <a:rPr lang="en-US" sz="1600" dirty="0"/>
              <a:t>with Black </a:t>
            </a:r>
            <a:r>
              <a:rPr lang="en-US" sz="1600" b="1" dirty="0"/>
              <a:t>(22%) </a:t>
            </a:r>
            <a:r>
              <a:rPr lang="en-US" sz="1600" dirty="0"/>
              <a:t>and Hispanic/Latino (</a:t>
            </a:r>
            <a:r>
              <a:rPr lang="en-US" sz="1600" b="1" dirty="0"/>
              <a:t>19%) </a:t>
            </a:r>
            <a:r>
              <a:rPr lang="en-US" sz="1600" dirty="0"/>
              <a:t>recipients comprising substantial but smaller shares.</a:t>
            </a:r>
          </a:p>
        </p:txBody>
      </p:sp>
      <p:sp>
        <p:nvSpPr>
          <p:cNvPr id="17" name="Text 8">
            <a:extLst>
              <a:ext uri="{FF2B5EF4-FFF2-40B4-BE49-F238E27FC236}">
                <a16:creationId xmlns:a16="http://schemas.microsoft.com/office/drawing/2014/main" id="{698A53CE-BD4F-5CC9-57EC-BA5B995CCE73}"/>
              </a:ext>
            </a:extLst>
          </p:cNvPr>
          <p:cNvSpPr/>
          <p:nvPr/>
        </p:nvSpPr>
        <p:spPr>
          <a:xfrm>
            <a:off x="7914132" y="2088261"/>
            <a:ext cx="3451860" cy="728091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96850" indent="-196850">
              <a:buSzPct val="100000"/>
              <a:buChar char="•"/>
            </a:pPr>
            <a:endParaRPr lang="en-US" sz="1550" dirty="0"/>
          </a:p>
        </p:txBody>
      </p:sp>
      <p:graphicFrame>
        <p:nvGraphicFramePr>
          <p:cNvPr id="18" name="Chart 17">
            <a:extLst>
              <a:ext uri="{FF2B5EF4-FFF2-40B4-BE49-F238E27FC236}">
                <a16:creationId xmlns:a16="http://schemas.microsoft.com/office/drawing/2014/main" id="{00000000-0008-0000-0000-00000200000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573945243"/>
              </p:ext>
            </p:extLst>
          </p:nvPr>
        </p:nvGraphicFramePr>
        <p:xfrm>
          <a:off x="332760" y="1220724"/>
          <a:ext cx="7357344" cy="5143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844824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345995"/>
          </a:solidFill>
          <a:ln w="12700">
            <a:solidFill>
              <a:srgbClr val="34599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32004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4599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ACCESS BURDEN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621792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Regional access burden is steepest for kidney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48640" y="1298448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6324F"/>
                </a:solidFill>
              </a:rPr>
              <a:t>Heart</a:t>
            </a:r>
            <a:endParaRPr lang="en-US" sz="1600" dirty="0"/>
          </a:p>
        </p:txBody>
      </p:sp>
      <p:graphicFrame>
        <p:nvGraphicFramePr>
          <p:cNvPr id="7" name="Chart 0"/>
          <p:cNvGraphicFramePr/>
          <p:nvPr/>
        </p:nvGraphicFramePr>
        <p:xfrm>
          <a:off x="548640" y="1508760"/>
          <a:ext cx="3611880" cy="3474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 5"/>
          <p:cNvSpPr/>
          <p:nvPr/>
        </p:nvSpPr>
        <p:spPr>
          <a:xfrm>
            <a:off x="4315968" y="1298448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6324F"/>
                </a:solidFill>
              </a:rPr>
              <a:t>Kidney</a:t>
            </a:r>
            <a:endParaRPr lang="en-US" sz="1600" dirty="0"/>
          </a:p>
        </p:txBody>
      </p:sp>
      <p:graphicFrame>
        <p:nvGraphicFramePr>
          <p:cNvPr id="9" name="Chart 1"/>
          <p:cNvGraphicFramePr/>
          <p:nvPr/>
        </p:nvGraphicFramePr>
        <p:xfrm>
          <a:off x="4315968" y="1508760"/>
          <a:ext cx="3611880" cy="3474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0" name="Text 6"/>
          <p:cNvSpPr/>
          <p:nvPr/>
        </p:nvSpPr>
        <p:spPr>
          <a:xfrm>
            <a:off x="8083296" y="1298448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6324F"/>
                </a:solidFill>
              </a:rPr>
              <a:t>Lung</a:t>
            </a:r>
            <a:endParaRPr lang="en-US" sz="1600" dirty="0"/>
          </a:p>
        </p:txBody>
      </p:sp>
      <p:graphicFrame>
        <p:nvGraphicFramePr>
          <p:cNvPr id="11" name="Chart 2"/>
          <p:cNvGraphicFramePr/>
          <p:nvPr/>
        </p:nvGraphicFramePr>
        <p:xfrm>
          <a:off x="8083296" y="1508760"/>
          <a:ext cx="3520440" cy="3474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2" name="Text 7"/>
          <p:cNvSpPr/>
          <p:nvPr/>
        </p:nvSpPr>
        <p:spPr>
          <a:xfrm>
            <a:off x="749808" y="5285232"/>
            <a:ext cx="10972800" cy="12527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84150" indent="-184150">
              <a:buSzPct val="100000"/>
              <a:buChar char="•"/>
            </a:pPr>
            <a:r>
              <a:rPr lang="en-US" sz="1450" dirty="0">
                <a:solidFill>
                  <a:srgbClr val="2432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Kidney demand dwarfs heart and lung across every standard region.</a:t>
            </a:r>
          </a:p>
          <a:p>
            <a:pPr marL="184150" indent="-184150">
              <a:buSzPct val="100000"/>
              <a:buChar char="•"/>
            </a:pPr>
            <a:endParaRPr lang="en-US" sz="1450" dirty="0"/>
          </a:p>
          <a:p>
            <a:pPr marL="184150" indent="-184150">
              <a:buSzPct val="100000"/>
              <a:buChar char="•"/>
            </a:pPr>
            <a:r>
              <a:rPr lang="en-US" sz="1450" dirty="0">
                <a:solidFill>
                  <a:srgbClr val="2432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Within heart, the South and Midwest sit above the Northeast and West.</a:t>
            </a:r>
          </a:p>
          <a:p>
            <a:pPr marL="184150" indent="-184150">
              <a:buSzPct val="100000"/>
              <a:buChar char="•"/>
            </a:pPr>
            <a:endParaRPr lang="en-US" sz="1450" dirty="0"/>
          </a:p>
          <a:p>
            <a:pPr marL="184150" indent="-184150">
              <a:buSzPct val="100000"/>
              <a:buChar char="•"/>
            </a:pPr>
            <a:r>
              <a:rPr lang="en-US" sz="1450" dirty="0">
                <a:solidFill>
                  <a:srgbClr val="2432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Within lung, the Midwest and Northeast are higher than the West.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345995"/>
          </a:solidFill>
          <a:ln w="12700">
            <a:solidFill>
              <a:srgbClr val="34599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32004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4599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WAIT TIME PRESSURE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621792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Long waits are also uneven across regions</a:t>
            </a:r>
            <a:endParaRPr lang="en-US" sz="25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658368" y="1463040"/>
          <a:ext cx="6903720" cy="4206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4"/>
          <p:cNvSpPr/>
          <p:nvPr/>
        </p:nvSpPr>
        <p:spPr>
          <a:xfrm>
            <a:off x="7973568" y="1737360"/>
            <a:ext cx="3383280" cy="147447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C17C2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7973568" y="1737360"/>
            <a:ext cx="109728" cy="1474470"/>
          </a:xfrm>
          <a:prstGeom prst="rect">
            <a:avLst/>
          </a:prstGeom>
          <a:solidFill>
            <a:srgbClr val="C17C29"/>
          </a:solidFill>
          <a:ln w="12700">
            <a:solidFill>
              <a:srgbClr val="C17C2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8174736" y="1865376"/>
            <a:ext cx="30723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324F"/>
                </a:solidFill>
              </a:rPr>
              <a:t>Biggest pattern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174736" y="2121408"/>
            <a:ext cx="3072384" cy="8389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43240"/>
                </a:solidFill>
              </a:rPr>
              <a:t>Kidney has the highest share of candidates waiting at least one year in every region. Heart is intermediate. The lung is the lowest.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8138160" y="3557016"/>
            <a:ext cx="3108960" cy="2468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84150" indent="-184150">
              <a:buSzPct val="100000"/>
              <a:buChar char="•"/>
            </a:pPr>
            <a:r>
              <a:rPr lang="en-US" sz="1450" dirty="0">
                <a:solidFill>
                  <a:srgbClr val="2432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Northeast stands out for kidney with the highest long-wait share (around the high-60% range). </a:t>
            </a:r>
          </a:p>
          <a:p>
            <a:pPr marL="184150" indent="-184150">
              <a:buSzPct val="100000"/>
              <a:buChar char="•"/>
            </a:pPr>
            <a:r>
              <a:rPr lang="en-US" sz="1450" dirty="0">
                <a:solidFill>
                  <a:srgbClr val="2432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The Midwest has the highest lung long-wait share (around the high-teens), compared with other regions. Heart varies less by region (only a few percentage points difference), suggesting a more consistent long-wait burden across the country.</a:t>
            </a:r>
            <a:endParaRPr lang="en-US" sz="14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345995"/>
          </a:solidFill>
          <a:ln w="12700">
            <a:solidFill>
              <a:srgbClr val="34599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32004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4599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RACE / ETHNICITY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621792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Candidate wait-time buckets suggest demographic disparities</a:t>
            </a:r>
            <a:endParaRPr lang="en-US" sz="250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291683240"/>
              </p:ext>
            </p:extLst>
          </p:nvPr>
        </p:nvGraphicFramePr>
        <p:xfrm>
          <a:off x="658368" y="1417320"/>
          <a:ext cx="7498080" cy="4526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 4"/>
          <p:cNvSpPr/>
          <p:nvPr/>
        </p:nvSpPr>
        <p:spPr>
          <a:xfrm>
            <a:off x="8366760" y="1335024"/>
            <a:ext cx="2834640" cy="2057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80340" indent="-180340">
              <a:buSzPct val="100000"/>
              <a:buChar char="•"/>
            </a:pPr>
            <a:r>
              <a:rPr lang="en-US" sz="1420" dirty="0">
                <a:solidFill>
                  <a:srgbClr val="2432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candidate bucket file indicates that long-wait shares are not evenly distributed across groups.</a:t>
            </a:r>
            <a:endParaRPr lang="en-US" sz="1420" dirty="0"/>
          </a:p>
          <a:p>
            <a:pPr marL="180340" indent="-180340">
              <a:buSzPct val="100000"/>
              <a:buChar char="•"/>
            </a:pPr>
            <a:r>
              <a:rPr lang="en-US" sz="1420" dirty="0">
                <a:solidFill>
                  <a:srgbClr val="2432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Kidney again tends to sit highest, but group ordering still shifts within each organ.</a:t>
            </a:r>
            <a:endParaRPr lang="en-US" sz="1420" dirty="0"/>
          </a:p>
          <a:p>
            <a:pPr marL="180340" indent="-180340">
              <a:buSzPct val="100000"/>
              <a:buChar char="•"/>
            </a:pPr>
            <a:r>
              <a:rPr lang="en-US" sz="1420" dirty="0">
                <a:solidFill>
                  <a:srgbClr val="2432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Because these are grouped counts rather than patient records, the slide should be read as a disparity screen, not a causal estimate.</a:t>
            </a:r>
            <a:endParaRPr lang="en-US" sz="1420" dirty="0"/>
          </a:p>
        </p:txBody>
      </p:sp>
      <p:sp>
        <p:nvSpPr>
          <p:cNvPr id="8" name="Shape 5"/>
          <p:cNvSpPr/>
          <p:nvPr/>
        </p:nvSpPr>
        <p:spPr>
          <a:xfrm>
            <a:off x="8412480" y="4160520"/>
            <a:ext cx="2788920" cy="1490472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34599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8412480" y="4160520"/>
            <a:ext cx="109728" cy="1362456"/>
          </a:xfrm>
          <a:prstGeom prst="rect">
            <a:avLst/>
          </a:prstGeom>
          <a:solidFill>
            <a:srgbClr val="345995"/>
          </a:solidFill>
          <a:ln w="12700">
            <a:solidFill>
              <a:srgbClr val="34599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8613648" y="4288536"/>
            <a:ext cx="2478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324F"/>
                </a:solidFill>
              </a:rPr>
              <a:t>Label note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8613648" y="4544568"/>
            <a:ext cx="2478024" cy="8846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43240"/>
                </a:solidFill>
              </a:rPr>
              <a:t>The  bucket file mixes “All Races” with race-specific groups and sometimes appends “Non-Hispanic.” Labels were normalized for comparison.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345995"/>
          </a:solidFill>
          <a:ln w="12700">
            <a:solidFill>
              <a:srgbClr val="34599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32004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4599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INSURANCE + CONTEXT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621792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Regional context points to structural differences around access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48640" y="1225296"/>
            <a:ext cx="3703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6324F"/>
                </a:solidFill>
              </a:rPr>
              <a:t>Uninsured share</a:t>
            </a:r>
            <a:endParaRPr lang="en-US" sz="1500" dirty="0"/>
          </a:p>
        </p:txBody>
      </p:sp>
      <p:graphicFrame>
        <p:nvGraphicFramePr>
          <p:cNvPr id="7" name="Chart 0"/>
          <p:cNvGraphicFramePr/>
          <p:nvPr/>
        </p:nvGraphicFramePr>
        <p:xfrm>
          <a:off x="548640" y="1536192"/>
          <a:ext cx="3703320" cy="37033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 5"/>
          <p:cNvSpPr/>
          <p:nvPr/>
        </p:nvSpPr>
        <p:spPr>
          <a:xfrm>
            <a:off x="4270248" y="1225296"/>
            <a:ext cx="3703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6324F"/>
                </a:solidFill>
              </a:rPr>
              <a:t>Median income</a:t>
            </a:r>
            <a:endParaRPr lang="en-US" sz="1500" dirty="0"/>
          </a:p>
        </p:txBody>
      </p:sp>
      <p:graphicFrame>
        <p:nvGraphicFramePr>
          <p:cNvPr id="9" name="Chart 1"/>
          <p:cNvGraphicFramePr/>
          <p:nvPr/>
        </p:nvGraphicFramePr>
        <p:xfrm>
          <a:off x="4270248" y="1536192"/>
          <a:ext cx="3703320" cy="37033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0" name="Text 6"/>
          <p:cNvSpPr/>
          <p:nvPr/>
        </p:nvSpPr>
        <p:spPr>
          <a:xfrm>
            <a:off x="7991856" y="1225296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6324F"/>
                </a:solidFill>
              </a:rPr>
              <a:t>Population mortality crude rate</a:t>
            </a:r>
            <a:endParaRPr lang="en-US" sz="1500" dirty="0"/>
          </a:p>
        </p:txBody>
      </p:sp>
      <p:graphicFrame>
        <p:nvGraphicFramePr>
          <p:cNvPr id="11" name="Chart 2"/>
          <p:cNvGraphicFramePr/>
          <p:nvPr/>
        </p:nvGraphicFramePr>
        <p:xfrm>
          <a:off x="7991856" y="1536192"/>
          <a:ext cx="3657600" cy="37033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2" name="Text 7"/>
          <p:cNvSpPr/>
          <p:nvPr/>
        </p:nvSpPr>
        <p:spPr>
          <a:xfrm>
            <a:off x="749808" y="5504688"/>
            <a:ext cx="10972800" cy="731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80340" indent="-180340">
              <a:buSzPct val="100000"/>
              <a:buChar char="•"/>
            </a:pPr>
            <a:r>
              <a:rPr lang="en-US" sz="1420" dirty="0">
                <a:solidFill>
                  <a:srgbClr val="2432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South shows the highest average uninsured share and the highest average population mortality crude rate in this regional snapshot.</a:t>
            </a:r>
            <a:endParaRPr lang="en-US" sz="1420" dirty="0"/>
          </a:p>
          <a:p>
            <a:pPr marL="180340" indent="-180340">
              <a:buSzPct val="100000"/>
              <a:buChar char="•"/>
            </a:pPr>
            <a:r>
              <a:rPr lang="en-US" sz="1420" dirty="0">
                <a:solidFill>
                  <a:srgbClr val="2432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Northeast leads on median income, suggesting a different socioeconomic context around access and continuity of care.</a:t>
            </a:r>
            <a:endParaRPr lang="en-US" sz="1420" dirty="0"/>
          </a:p>
          <a:p>
            <a:pPr marL="180340" indent="-180340">
              <a:buSzPct val="100000"/>
              <a:buChar char="•"/>
            </a:pPr>
            <a:r>
              <a:rPr lang="en-US" sz="1420" dirty="0">
                <a:solidFill>
                  <a:srgbClr val="2432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These variables are ecological covariates; they do not prove individual-level mechanisms.</a:t>
            </a:r>
            <a:endParaRPr lang="en-US" sz="142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345995"/>
          </a:solidFill>
          <a:ln w="12700">
            <a:solidFill>
              <a:srgbClr val="34599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32004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4599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STATE-LEVEL VIEW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621792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Geographic hotspots show where burden concentrates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658368" y="1572768"/>
            <a:ext cx="566928" cy="512064"/>
          </a:xfrm>
          <a:prstGeom prst="rect">
            <a:avLst/>
          </a:prstGeom>
          <a:solidFill>
            <a:srgbClr val="16324F"/>
          </a:solidFill>
          <a:ln w="12700">
            <a:solidFill>
              <a:srgbClr val="D9E0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13232" y="1618488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Rank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1225296" y="1572768"/>
            <a:ext cx="2212848" cy="512064"/>
          </a:xfrm>
          <a:prstGeom prst="rect">
            <a:avLst/>
          </a:prstGeom>
          <a:solidFill>
            <a:srgbClr val="16324F"/>
          </a:solidFill>
          <a:ln w="12700">
            <a:solidFill>
              <a:srgbClr val="D9E0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280160" y="1618488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Heart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438144" y="1572768"/>
            <a:ext cx="2304288" cy="512064"/>
          </a:xfrm>
          <a:prstGeom prst="rect">
            <a:avLst/>
          </a:prstGeom>
          <a:solidFill>
            <a:srgbClr val="16324F"/>
          </a:solidFill>
          <a:ln w="12700">
            <a:solidFill>
              <a:srgbClr val="D9E0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493008" y="161848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Kidney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742432" y="1572768"/>
            <a:ext cx="2103120" cy="512064"/>
          </a:xfrm>
          <a:prstGeom prst="rect">
            <a:avLst/>
          </a:prstGeom>
          <a:solidFill>
            <a:srgbClr val="16324F"/>
          </a:solidFill>
          <a:ln w="12700">
            <a:solidFill>
              <a:srgbClr val="D9E0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797296" y="1618488"/>
            <a:ext cx="19933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Lung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58368" y="2084832"/>
            <a:ext cx="566928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9E0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13232" y="2130552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432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225296" y="2084832"/>
            <a:ext cx="2212848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9E0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1280160" y="2130552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2432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District of Columbia (7.4)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438144" y="2084832"/>
            <a:ext cx="2304288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9E0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3493008" y="2130552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2432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District of Columbia (159.2)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742432" y="2084832"/>
            <a:ext cx="210312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9E0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797296" y="2130552"/>
            <a:ext cx="19933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2432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Pennsylvania (0.9)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58368" y="2596896"/>
            <a:ext cx="566928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9E0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713232" y="2642616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432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225296" y="2596896"/>
            <a:ext cx="2212848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9E0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1280160" y="2642616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2432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Ohio (2.5)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438144" y="2596896"/>
            <a:ext cx="2304288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9E0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3493008" y="2642616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2432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Massachusetts (49.1)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742432" y="2596896"/>
            <a:ext cx="210312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9E0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5797296" y="2642616"/>
            <a:ext cx="19933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2432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Michigan (0.7)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58368" y="3108960"/>
            <a:ext cx="566928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9E0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713232" y="3154680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432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225296" y="3108960"/>
            <a:ext cx="2212848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9E0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1280160" y="3154680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2432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Nebraska (2.1)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3438144" y="3108960"/>
            <a:ext cx="2304288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9E0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3493008" y="3154680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2432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California (45.3)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742432" y="3108960"/>
            <a:ext cx="210312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9E0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5797296" y="3154680"/>
            <a:ext cx="19933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2432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Washington (0.7)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658368" y="3621024"/>
            <a:ext cx="566928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9E0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713232" y="3666744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432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1225296" y="3621024"/>
            <a:ext cx="2212848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9E0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1280160" y="3666744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2432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Utah (2.1)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3438144" y="3621024"/>
            <a:ext cx="2304288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9E0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3493008" y="3666744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2432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South Dakota (42.3)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5742432" y="3621024"/>
            <a:ext cx="210312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9E0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5797296" y="3666744"/>
            <a:ext cx="19933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2432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Ohio (0.6)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658368" y="4133088"/>
            <a:ext cx="566928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9E0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713232" y="4178808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432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1225296" y="4133088"/>
            <a:ext cx="2212848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9E0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1280160" y="4178808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2432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Massachusetts (1.9)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3438144" y="4133088"/>
            <a:ext cx="2304288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9E0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349300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2432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Pennsylvania (38.2)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5742432" y="4133088"/>
            <a:ext cx="210312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9E0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5797296" y="4178808"/>
            <a:ext cx="19933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2432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Minnesota (0.5)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8549640" y="1828800"/>
            <a:ext cx="27432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B84A6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Shape 53"/>
          <p:cNvSpPr/>
          <p:nvPr/>
        </p:nvSpPr>
        <p:spPr>
          <a:xfrm>
            <a:off x="8549640" y="1828800"/>
            <a:ext cx="109728" cy="1234440"/>
          </a:xfrm>
          <a:prstGeom prst="rect">
            <a:avLst/>
          </a:prstGeom>
          <a:solidFill>
            <a:srgbClr val="B84A62"/>
          </a:solidFill>
          <a:ln w="12700">
            <a:solidFill>
              <a:srgbClr val="B84A62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Text 54"/>
          <p:cNvSpPr/>
          <p:nvPr/>
        </p:nvSpPr>
        <p:spPr>
          <a:xfrm>
            <a:off x="8750808" y="1956816"/>
            <a:ext cx="2432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324F"/>
                </a:solidFill>
              </a:rPr>
              <a:t>Interpretation</a:t>
            </a:r>
            <a:endParaRPr lang="en-US" sz="1400" dirty="0"/>
          </a:p>
        </p:txBody>
      </p:sp>
      <p:sp>
        <p:nvSpPr>
          <p:cNvPr id="57" name="Text 55"/>
          <p:cNvSpPr/>
          <p:nvPr/>
        </p:nvSpPr>
        <p:spPr>
          <a:xfrm>
            <a:off x="8750808" y="2212848"/>
            <a:ext cx="2432304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243240"/>
                </a:solidFill>
              </a:rPr>
              <a:t>D.C. is an obvious outlier in both heart and kidney waitlist burden per 100k. Lung hotspots are smaller in magnitude and more dispersed across states.</a:t>
            </a:r>
            <a:endParaRPr lang="en-US" sz="1150" dirty="0"/>
          </a:p>
        </p:txBody>
      </p:sp>
      <p:sp>
        <p:nvSpPr>
          <p:cNvPr id="58" name="Text 56"/>
          <p:cNvSpPr/>
          <p:nvPr/>
        </p:nvSpPr>
        <p:spPr>
          <a:xfrm>
            <a:off x="8595360" y="3611880"/>
            <a:ext cx="2651760" cy="1417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71450" indent="-171450">
              <a:buSzPct val="100000"/>
              <a:buChar char="•"/>
            </a:pPr>
            <a:r>
              <a:rPr lang="en-US" sz="1350" dirty="0">
                <a:solidFill>
                  <a:srgbClr val="2432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state table helps prioritize where to examine center capacity, referral patterns, and policy variation next.</a:t>
            </a:r>
            <a:endParaRPr lang="en-US" sz="1350" dirty="0"/>
          </a:p>
          <a:p>
            <a:pPr marL="171450" indent="-171450">
              <a:buSzPct val="100000"/>
              <a:buChar char="•"/>
            </a:pPr>
            <a:r>
              <a:rPr lang="en-US" sz="1350" dirty="0">
                <a:solidFill>
                  <a:srgbClr val="2432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These rankings are descriptive and should be paired with population denominators and patient-level case mix in the next phase.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345995"/>
          </a:solidFill>
          <a:ln w="12700">
            <a:solidFill>
              <a:srgbClr val="34599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32004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4599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SYNTHESIS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621792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Key findings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658368" y="1508760"/>
            <a:ext cx="27432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34599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658368" y="1508760"/>
            <a:ext cx="109728" cy="1234440"/>
          </a:xfrm>
          <a:prstGeom prst="rect">
            <a:avLst/>
          </a:prstGeom>
          <a:solidFill>
            <a:srgbClr val="345995"/>
          </a:solidFill>
          <a:ln w="12700">
            <a:solidFill>
              <a:srgbClr val="34599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59536" y="1636776"/>
            <a:ext cx="2432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324F"/>
                </a:solidFill>
              </a:rPr>
              <a:t>1. Access burden is not evenly distributed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59536" y="1892808"/>
            <a:ext cx="2432304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243240"/>
                </a:solidFill>
              </a:rPr>
              <a:t>Across the uploaded waitlist file, kidney consistently shows the highest burden per 100k and the highest long-wait share.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639312" y="1508760"/>
            <a:ext cx="27432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3A7D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639312" y="1508760"/>
            <a:ext cx="109728" cy="1234440"/>
          </a:xfrm>
          <a:prstGeom prst="rect">
            <a:avLst/>
          </a:prstGeom>
          <a:solidFill>
            <a:srgbClr val="3A7D44"/>
          </a:solidFill>
          <a:ln w="12700">
            <a:solidFill>
              <a:srgbClr val="3A7D44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840480" y="1636776"/>
            <a:ext cx="2432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324F"/>
                </a:solidFill>
              </a:rPr>
              <a:t>2. Region matters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840480" y="1892808"/>
            <a:ext cx="2432304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243240"/>
                </a:solidFill>
              </a:rPr>
              <a:t>The South tends to sit higher on heart waitlist burden and social risk context, while long-wait shares also vary across standard regions.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620256" y="1508760"/>
            <a:ext cx="27432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C17C2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6620256" y="1508760"/>
            <a:ext cx="109728" cy="1234440"/>
          </a:xfrm>
          <a:prstGeom prst="rect">
            <a:avLst/>
          </a:prstGeom>
          <a:solidFill>
            <a:srgbClr val="C17C29"/>
          </a:solidFill>
          <a:ln w="12700">
            <a:solidFill>
              <a:srgbClr val="C17C2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821424" y="1636776"/>
            <a:ext cx="2432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324F"/>
                </a:solidFill>
              </a:rPr>
              <a:t>3. Demographic differences are visible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821424" y="1892808"/>
            <a:ext cx="2432304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243240"/>
                </a:solidFill>
              </a:rPr>
              <a:t>Candidate wait-time buckets show that race/ethnicity groups do not share the same exposure to waits of at least one year.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9601200" y="1508760"/>
            <a:ext cx="196596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B84A6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9601200" y="1508760"/>
            <a:ext cx="109728" cy="1234440"/>
          </a:xfrm>
          <a:prstGeom prst="rect">
            <a:avLst/>
          </a:prstGeom>
          <a:solidFill>
            <a:srgbClr val="B84A62"/>
          </a:solidFill>
          <a:ln w="12700">
            <a:solidFill>
              <a:srgbClr val="B84A62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9802368" y="1636776"/>
            <a:ext cx="1655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324F"/>
                </a:solidFill>
              </a:rPr>
              <a:t>4. Geography is concentrated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9802368" y="1892808"/>
            <a:ext cx="1655064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243240"/>
                </a:solidFill>
              </a:rPr>
              <a:t>A short list of states accounts for the highest observed burden within each organ, especially for kidney.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713232" y="318211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6324F"/>
                </a:solidFill>
              </a:rPr>
              <a:t>Bottom line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713232" y="3547872"/>
            <a:ext cx="10835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943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uploaded data support the conclusion that transplant access is unevenly distributed across geography, organ type, and candidate subgroups — but the strongest evidence here is about disparity patterns, not causal drivers.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749808" y="5138928"/>
            <a:ext cx="10972800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90500" indent="-190500">
              <a:buSzPct val="100000"/>
              <a:buChar char="•"/>
            </a:pPr>
            <a:r>
              <a:rPr lang="en-US" sz="1500" dirty="0">
                <a:solidFill>
                  <a:srgbClr val="2432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this deck as a defensible descriptive capstone and as justification for a patient-level follow-on study.</a:t>
            </a:r>
            <a:endParaRPr lang="en-US" sz="1500" dirty="0"/>
          </a:p>
          <a:p>
            <a:pPr marL="190500" indent="-190500">
              <a:buSzPct val="100000"/>
              <a:buChar char="•"/>
            </a:pPr>
            <a:r>
              <a:rPr lang="en-US" sz="1500" dirty="0">
                <a:solidFill>
                  <a:srgbClr val="2432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the language precise: “access burden” and “long waits” are measured directly here; “likelihood of transplant” is only approximated.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345995"/>
          </a:solidFill>
          <a:ln w="12700">
            <a:solidFill>
              <a:srgbClr val="34599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32004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4599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LIMITATIONS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621792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Limitations to say out loud in the presentation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841248" y="1572768"/>
            <a:ext cx="6812280" cy="4480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2432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uploaded files are aggregated, so they cannot estimate patient-level receipt of transplant, time-to-transplant, or death while waiting.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2432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Several summary wait-time fields are constant within organ, which is why the analysis leans on long-wait share rather than mean wait days.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2432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mortality crude rate field appears to be population mortality context, not organ-specific waitlist mortality.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2432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Socioeconomic variables here are ecological measures. They are useful for context but do not identify individual causal pathways.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2432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Sex and age differences are part of the research frame, but the current uploaded files do not support a clean sex-by-age disparity model.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046720" y="1828800"/>
            <a:ext cx="324612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34599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8046720" y="1828800"/>
            <a:ext cx="109728" cy="1965960"/>
          </a:xfrm>
          <a:prstGeom prst="rect">
            <a:avLst/>
          </a:prstGeom>
          <a:solidFill>
            <a:srgbClr val="345995"/>
          </a:solidFill>
          <a:ln w="12700">
            <a:solidFill>
              <a:srgbClr val="34599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8247888" y="1956816"/>
            <a:ext cx="29352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324F"/>
                </a:solidFill>
              </a:rPr>
              <a:t>Why this still works as a capstone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247888" y="2212848"/>
            <a:ext cx="2935224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243240"/>
                </a:solidFill>
              </a:rPr>
              <a:t>A capstone does not need to solve every causal question. It needs to demonstrate rigorous data cleaning, defensible measurement choices, transparent caveats, and a clear next-step research design.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046720" y="4160520"/>
            <a:ext cx="324612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C17C2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8046720" y="4160520"/>
            <a:ext cx="109728" cy="1188720"/>
          </a:xfrm>
          <a:prstGeom prst="rect">
            <a:avLst/>
          </a:prstGeom>
          <a:solidFill>
            <a:srgbClr val="C17C29"/>
          </a:solidFill>
          <a:ln w="12700">
            <a:solidFill>
              <a:srgbClr val="C17C2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8247888" y="4288536"/>
            <a:ext cx="29352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324F"/>
                </a:solidFill>
              </a:rPr>
              <a:t>Safe wording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247888" y="4544568"/>
            <a:ext cx="293522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243240"/>
                </a:solidFill>
              </a:rPr>
              <a:t>Use phrases such as “suggests”, “appears associated with”, “descriptive disparity”, and “requires patient-level follow-up”.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345995"/>
          </a:solidFill>
          <a:ln w="12700">
            <a:solidFill>
              <a:srgbClr val="34599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32004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4599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NEXT STEPS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621792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the next study should do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685800" y="1554480"/>
            <a:ext cx="27432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34599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685800" y="1554480"/>
            <a:ext cx="109728" cy="1417320"/>
          </a:xfrm>
          <a:prstGeom prst="rect">
            <a:avLst/>
          </a:prstGeom>
          <a:solidFill>
            <a:srgbClr val="345995"/>
          </a:solidFill>
          <a:ln w="12700">
            <a:solidFill>
              <a:srgbClr val="34599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86968" y="1682496"/>
            <a:ext cx="2432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324F"/>
                </a:solidFill>
              </a:rPr>
              <a:t>1. Acquire patient-level data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86968" y="1938528"/>
            <a:ext cx="2432304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243240"/>
                </a:solidFill>
              </a:rPr>
              <a:t>Request OPTN STAR or SRTR standard analysis files with candidate ID, listing date, transplant date, removal date, death date, organ, and payer information.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639312" y="1554480"/>
            <a:ext cx="27432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3A7D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639312" y="1554480"/>
            <a:ext cx="109728" cy="1417320"/>
          </a:xfrm>
          <a:prstGeom prst="rect">
            <a:avLst/>
          </a:prstGeom>
          <a:solidFill>
            <a:srgbClr val="3A7D44"/>
          </a:solidFill>
          <a:ln w="12700">
            <a:solidFill>
              <a:srgbClr val="3A7D44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840480" y="1682496"/>
            <a:ext cx="2432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324F"/>
                </a:solidFill>
              </a:rPr>
              <a:t>2. Estimate time-to-transplant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840480" y="1938528"/>
            <a:ext cx="2432304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243240"/>
                </a:solidFill>
              </a:rPr>
              <a:t>Build Kaplan–Meier or cumulative-incidence curves and then a Cox or competing-risks model for receipt of transplant.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592824" y="1554480"/>
            <a:ext cx="27432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17C2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6592824" y="1554480"/>
            <a:ext cx="109728" cy="1417320"/>
          </a:xfrm>
          <a:prstGeom prst="rect">
            <a:avLst/>
          </a:prstGeom>
          <a:solidFill>
            <a:srgbClr val="C17C29"/>
          </a:solidFill>
          <a:ln w="12700">
            <a:solidFill>
              <a:srgbClr val="C17C2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793992" y="1682496"/>
            <a:ext cx="2432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324F"/>
                </a:solidFill>
              </a:rPr>
              <a:t>3. Link deeper context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793992" y="1938528"/>
            <a:ext cx="2432304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243240"/>
                </a:solidFill>
              </a:rPr>
              <a:t>Join ZIP, county, or center-level attributes to study how region, insurance, and social context combine inside the same candidate pathway.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9546336" y="1554480"/>
            <a:ext cx="19659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B84A6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9546336" y="1554480"/>
            <a:ext cx="109728" cy="1417320"/>
          </a:xfrm>
          <a:prstGeom prst="rect">
            <a:avLst/>
          </a:prstGeom>
          <a:solidFill>
            <a:srgbClr val="B84A62"/>
          </a:solidFill>
          <a:ln w="12700">
            <a:solidFill>
              <a:srgbClr val="B84A62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9747504" y="1682496"/>
            <a:ext cx="1655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324F"/>
                </a:solidFill>
              </a:rPr>
              <a:t>4. Translate to action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9747504" y="1938528"/>
            <a:ext cx="1655064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243240"/>
                </a:solidFill>
              </a:rPr>
              <a:t>Use hotspot states and high-risk subgroups to frame policy recommendations around referral, listing, coverage, and center capacity.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749808" y="370332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6324F"/>
                </a:solidFill>
              </a:rPr>
              <a:t>If asked for a one-line takeaway: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749808" y="406908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i="1" dirty="0">
                <a:solidFill>
                  <a:srgbClr val="2943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“The current evidence shows meaningful descriptive disparities in transplant access, and the next step is to test them at the patient-event level.”</a:t>
            </a:r>
            <a:endParaRPr lang="en-US" sz="2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2860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Lung: States with highest waitlist per 100k</a:t>
            </a:r>
          </a:p>
        </p:txBody>
      </p:sp>
      <p:pic>
        <p:nvPicPr>
          <p:cNvPr id="3" name="Picture 2" descr="top_states_waitlist_per_100k_Lu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1463040"/>
            <a:ext cx="8481060" cy="530066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1560</TotalTime>
  <Words>1732</Words>
  <Application>Microsoft Office PowerPoint</Application>
  <PresentationFormat>Widescreen</PresentationFormat>
  <Paragraphs>194</Paragraphs>
  <Slides>15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Transplant Equity in the United States</dc:title>
  <dc:subject>Transplant Equity Capstone</dc:subject>
  <dc:creator>OpenAI</dc:creator>
  <cp:lastModifiedBy>Anson Boameh Richard</cp:lastModifiedBy>
  <cp:revision>16</cp:revision>
  <dcterms:created xsi:type="dcterms:W3CDTF">2026-03-02T18:39:58Z</dcterms:created>
  <dcterms:modified xsi:type="dcterms:W3CDTF">2026-03-03T23:48:51Z</dcterms:modified>
</cp:coreProperties>
</file>