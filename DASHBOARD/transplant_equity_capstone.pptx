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470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U.S. transplants</c:v>
                </c:pt>
              </c:strCache>
            </c:strRef>
          </c:tx>
          <c:spPr>
            <a:ln w="31750" cap="flat">
              <a:solidFill>
                <a:srgbClr val="34599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45995"/>
              </a:solidFill>
              <a:ln w="9525" cap="flat">
                <a:solidFill>
                  <a:srgbClr val="345995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28668</c:v>
                </c:pt>
                <c:pt idx="1">
                  <c:v>28553</c:v>
                </c:pt>
                <c:pt idx="2">
                  <c:v>28059</c:v>
                </c:pt>
                <c:pt idx="3">
                  <c:v>28956</c:v>
                </c:pt>
                <c:pt idx="4">
                  <c:v>29540</c:v>
                </c:pt>
                <c:pt idx="5">
                  <c:v>30974</c:v>
                </c:pt>
                <c:pt idx="6">
                  <c:v>33610</c:v>
                </c:pt>
                <c:pt idx="7">
                  <c:v>34770</c:v>
                </c:pt>
                <c:pt idx="8">
                  <c:v>36530</c:v>
                </c:pt>
                <c:pt idx="9">
                  <c:v>39719</c:v>
                </c:pt>
                <c:pt idx="10">
                  <c:v>39036</c:v>
                </c:pt>
                <c:pt idx="11">
                  <c:v>41356</c:v>
                </c:pt>
                <c:pt idx="12">
                  <c:v>42889</c:v>
                </c:pt>
                <c:pt idx="13">
                  <c:v>46634</c:v>
                </c:pt>
                <c:pt idx="14">
                  <c:v>48150</c:v>
                </c:pt>
                <c:pt idx="15">
                  <c:v>49065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BE-402A-83A9-3795CC5496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E6C79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5E6C79"/>
                    </a:solidFill>
                    <a:latin typeface="Arial"/>
                  </a:rPr>
                  <a:t>Year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E0E6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432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0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E6C79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5E6C79"/>
                    </a:solidFill>
                    <a:latin typeface="Arial"/>
                  </a:rPr>
                  <a:t>Transplants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E0E6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432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Heart</c:v>
                </c:pt>
              </c:strCache>
            </c:strRef>
          </c:tx>
          <c:spPr>
            <a:solidFill>
              <a:srgbClr val="34599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Northeast</c:v>
                </c:pt>
                <c:pt idx="1">
                  <c:v>Midwest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0.80559727275000004</c:v>
                </c:pt>
                <c:pt idx="1">
                  <c:v>1.1960606663333333</c:v>
                </c:pt>
                <c:pt idx="2">
                  <c:v>1.3584843945882352</c:v>
                </c:pt>
                <c:pt idx="3">
                  <c:v>0.6397716911111111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7F-4360-80CB-3290A8EF91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E0E6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432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0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E6C79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5E6C79"/>
                    </a:solidFill>
                    <a:latin typeface="Arial"/>
                  </a:rPr>
                  <a:t>Waitlist per 100k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E0E6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432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Kidney</c:v>
                </c:pt>
              </c:strCache>
            </c:strRef>
          </c:tx>
          <c:spPr>
            <a:solidFill>
              <a:srgbClr val="3A7D44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Northeast</c:v>
                </c:pt>
                <c:pt idx="1">
                  <c:v>Midwest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30.332225810000001</c:v>
                </c:pt>
                <c:pt idx="1">
                  <c:v>23.157624389166667</c:v>
                </c:pt>
                <c:pt idx="2">
                  <c:v>31.770209799882355</c:v>
                </c:pt>
                <c:pt idx="3">
                  <c:v>23.916339267777779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BC-4C15-BF73-0F66C87B9C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E0E6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432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0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E6C79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5E6C79"/>
                    </a:solidFill>
                    <a:latin typeface="Arial"/>
                  </a:rPr>
                  <a:t>Waitlist per 100k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E0E6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432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Lung</c:v>
                </c:pt>
              </c:strCache>
            </c:strRef>
          </c:tx>
          <c:spPr>
            <a:solidFill>
              <a:srgbClr val="C17C29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Northeast</c:v>
                </c:pt>
                <c:pt idx="1">
                  <c:v>Midwest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0.228193088125</c:v>
                </c:pt>
                <c:pt idx="1">
                  <c:v>0.28616290808333333</c:v>
                </c:pt>
                <c:pt idx="2">
                  <c:v>0.15913748811764705</c:v>
                </c:pt>
                <c:pt idx="3">
                  <c:v>0.16020555655555554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17-4754-B0B4-55559D0166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E0E6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432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0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E6C79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5E6C79"/>
                    </a:solidFill>
                    <a:latin typeface="Arial"/>
                  </a:rPr>
                  <a:t>Waitlist per 100k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E0E6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432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Heart</c:v>
                </c:pt>
              </c:strCache>
            </c:strRef>
          </c:tx>
          <c:spPr>
            <a:solidFill>
              <a:srgbClr val="34599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Northeast</c:v>
                </c:pt>
                <c:pt idx="1">
                  <c:v>Midwest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45.3</c:v>
                </c:pt>
                <c:pt idx="1">
                  <c:v>47.8</c:v>
                </c:pt>
                <c:pt idx="2">
                  <c:v>43.8</c:v>
                </c:pt>
                <c:pt idx="3">
                  <c:v>43.2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85-45EF-AF11-84529B52AA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Kidney</c:v>
                </c:pt>
              </c:strCache>
            </c:strRef>
          </c:tx>
          <c:spPr>
            <a:solidFill>
              <a:srgbClr val="3A7D44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Northeast</c:v>
                </c:pt>
                <c:pt idx="1">
                  <c:v>Midwest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68.599999999999994</c:v>
                </c:pt>
                <c:pt idx="1">
                  <c:v>56.8</c:v>
                </c:pt>
                <c:pt idx="2">
                  <c:v>57</c:v>
                </c:pt>
                <c:pt idx="3">
                  <c:v>56.5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C85-45EF-AF11-84529B52AA0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Lung</c:v>
                </c:pt>
              </c:strCache>
            </c:strRef>
          </c:tx>
          <c:spPr>
            <a:solidFill>
              <a:srgbClr val="C17C29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Northeast</c:v>
                </c:pt>
                <c:pt idx="1">
                  <c:v>Midwest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12.4</c:v>
                </c:pt>
                <c:pt idx="1">
                  <c:v>17.600000000000001</c:v>
                </c:pt>
                <c:pt idx="2">
                  <c:v>12.1</c:v>
                </c:pt>
                <c:pt idx="3">
                  <c:v>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C85-45EF-AF11-84529B52AA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E6C79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5E6C79"/>
                    </a:solidFill>
                    <a:latin typeface="Arial"/>
                  </a:rPr>
                  <a:t>Region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E0E6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432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0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E6C79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5E6C79"/>
                    </a:solidFill>
                    <a:latin typeface="Arial"/>
                  </a:rPr>
                  <a:t>Share waiting ≥1 year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E0E6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432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Heart</c:v>
                </c:pt>
              </c:strCache>
            </c:strRef>
          </c:tx>
          <c:spPr>
            <a:solidFill>
              <a:srgbClr val="345995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AI/AN</c:v>
                </c:pt>
                <c:pt idx="1">
                  <c:v>Asian</c:v>
                </c:pt>
                <c:pt idx="2">
                  <c:v>Black</c:v>
                </c:pt>
                <c:pt idx="3">
                  <c:v>Hispanic</c:v>
                </c:pt>
                <c:pt idx="4">
                  <c:v>All Races</c:v>
                </c:pt>
                <c:pt idx="5">
                  <c:v>White</c:v>
                </c:pt>
                <c:pt idx="6">
                  <c:v>PI</c:v>
                </c:pt>
                <c:pt idx="7">
                  <c:v>Multiracial</c:v>
                </c:pt>
                <c:pt idx="8">
                  <c:v>Unknown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47.8</c:v>
                </c:pt>
                <c:pt idx="1">
                  <c:v>38</c:v>
                </c:pt>
                <c:pt idx="2">
                  <c:v>46.9</c:v>
                </c:pt>
                <c:pt idx="3">
                  <c:v>47.2</c:v>
                </c:pt>
                <c:pt idx="4">
                  <c:v>46.7</c:v>
                </c:pt>
                <c:pt idx="5">
                  <c:v>48</c:v>
                </c:pt>
                <c:pt idx="6">
                  <c:v>50</c:v>
                </c:pt>
                <c:pt idx="7">
                  <c:v>29.4</c:v>
                </c:pt>
                <c:pt idx="8">
                  <c:v>24.6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F4-43C6-910A-7C671B428C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Kidney</c:v>
                </c:pt>
              </c:strCache>
            </c:strRef>
          </c:tx>
          <c:spPr>
            <a:solidFill>
              <a:srgbClr val="3A7D44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AI/AN</c:v>
                </c:pt>
                <c:pt idx="1">
                  <c:v>Asian</c:v>
                </c:pt>
                <c:pt idx="2">
                  <c:v>Black</c:v>
                </c:pt>
                <c:pt idx="3">
                  <c:v>Hispanic</c:v>
                </c:pt>
                <c:pt idx="4">
                  <c:v>All Races</c:v>
                </c:pt>
                <c:pt idx="5">
                  <c:v>White</c:v>
                </c:pt>
                <c:pt idx="6">
                  <c:v>PI</c:v>
                </c:pt>
                <c:pt idx="7">
                  <c:v>Multiracial</c:v>
                </c:pt>
                <c:pt idx="8">
                  <c:v>Unknown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64.8</c:v>
                </c:pt>
                <c:pt idx="1">
                  <c:v>64.900000000000006</c:v>
                </c:pt>
                <c:pt idx="2">
                  <c:v>60.8</c:v>
                </c:pt>
                <c:pt idx="3">
                  <c:v>64.099999999999994</c:v>
                </c:pt>
                <c:pt idx="4">
                  <c:v>61.3</c:v>
                </c:pt>
                <c:pt idx="5">
                  <c:v>59.6</c:v>
                </c:pt>
                <c:pt idx="6">
                  <c:v>63.9</c:v>
                </c:pt>
                <c:pt idx="7">
                  <c:v>62.5</c:v>
                </c:pt>
                <c:pt idx="8">
                  <c:v>31.5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F4-43C6-910A-7C671B428C1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Lung</c:v>
                </c:pt>
              </c:strCache>
            </c:strRef>
          </c:tx>
          <c:spPr>
            <a:solidFill>
              <a:srgbClr val="C17C29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AI/AN</c:v>
                </c:pt>
                <c:pt idx="1">
                  <c:v>Asian</c:v>
                </c:pt>
                <c:pt idx="2">
                  <c:v>Black</c:v>
                </c:pt>
                <c:pt idx="3">
                  <c:v>Hispanic</c:v>
                </c:pt>
                <c:pt idx="4">
                  <c:v>All Races</c:v>
                </c:pt>
                <c:pt idx="5">
                  <c:v>White</c:v>
                </c:pt>
                <c:pt idx="6">
                  <c:v>PI</c:v>
                </c:pt>
                <c:pt idx="7">
                  <c:v>Multiracial</c:v>
                </c:pt>
                <c:pt idx="8">
                  <c:v>Unknown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60</c:v>
                </c:pt>
                <c:pt idx="1">
                  <c:v>29</c:v>
                </c:pt>
                <c:pt idx="2">
                  <c:v>23.4</c:v>
                </c:pt>
                <c:pt idx="3">
                  <c:v>17.600000000000001</c:v>
                </c:pt>
                <c:pt idx="4">
                  <c:v>18.399999999999999</c:v>
                </c:pt>
                <c:pt idx="5">
                  <c:v>16.899999999999999</c:v>
                </c:pt>
                <c:pt idx="6">
                  <c:v>0</c:v>
                </c:pt>
                <c:pt idx="7">
                  <c:v>0</c:v>
                </c:pt>
                <c:pt idx="8">
                  <c:v>12.5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AF4-43C6-910A-7C671B428C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E6C79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5E6C79"/>
                    </a:solidFill>
                    <a:latin typeface="Arial"/>
                  </a:rPr>
                  <a:t>Race / ethnicity group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9E0E6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432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E0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E6C79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5E6C79"/>
                    </a:solidFill>
                    <a:latin typeface="Arial"/>
                  </a:rPr>
                  <a:t>Share waiting ≥1 year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D9E0E6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432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Uninsured (%)</c:v>
                </c:pt>
              </c:strCache>
            </c:strRef>
          </c:tx>
          <c:spPr>
            <a:solidFill>
              <a:srgbClr val="34599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Northeast</c:v>
                </c:pt>
                <c:pt idx="1">
                  <c:v>Midwest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8.9834708125000002</c:v>
                </c:pt>
                <c:pt idx="1">
                  <c:v>10.099526691666666</c:v>
                </c:pt>
                <c:pt idx="2">
                  <c:v>13.192474052941177</c:v>
                </c:pt>
                <c:pt idx="3">
                  <c:v>13.088348411111111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19-4C15-BB62-13D0681A7E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E0E6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432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0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E6C79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5E6C79"/>
                    </a:solidFill>
                    <a:latin typeface="Arial"/>
                  </a:rPr>
                  <a:t>Uninsured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E0E6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432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income ($)</c:v>
                </c:pt>
              </c:strCache>
            </c:strRef>
          </c:tx>
          <c:spPr>
            <a:solidFill>
              <a:srgbClr val="3A7D44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Northeast</c:v>
                </c:pt>
                <c:pt idx="1">
                  <c:v>Midwest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91100.25</c:v>
                </c:pt>
                <c:pt idx="1">
                  <c:v>76200.583333333328</c:v>
                </c:pt>
                <c:pt idx="2">
                  <c:v>74336.705882352937</c:v>
                </c:pt>
                <c:pt idx="3">
                  <c:v>88175.777777777781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EE-4429-AE60-84C675601E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E0E6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432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0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E6C79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5E6C79"/>
                    </a:solidFill>
                    <a:latin typeface="Arial"/>
                  </a:rPr>
                  <a:t>Median income ($)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E0E6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432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Mortality crude rate</c:v>
                </c:pt>
              </c:strCache>
            </c:strRef>
          </c:tx>
          <c:spPr>
            <a:solidFill>
              <a:srgbClr val="C17C29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Northeast</c:v>
                </c:pt>
                <c:pt idx="1">
                  <c:v>Midwest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980.02499999999998</c:v>
                </c:pt>
                <c:pt idx="1">
                  <c:v>1001.6416666666668</c:v>
                </c:pt>
                <c:pt idx="2">
                  <c:v>1062.7058823529412</c:v>
                </c:pt>
                <c:pt idx="3">
                  <c:v>859.59999999999991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5A-4AE3-803A-B4F58D3584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E0E6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432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0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E6C79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5E6C79"/>
                    </a:solidFill>
                    <a:latin typeface="Arial"/>
                  </a:rPr>
                  <a:t>Crude rate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E0E6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432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7147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43400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343400" y="0"/>
            <a:ext cx="78482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TRANSPLANT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EQUITY IN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U.S.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892040" y="132588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Disparities in access to heart, kidney, and lung transplants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919472" y="22402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presentation built from the uploaded waitlist, candidate waiting-time, CDC mortality, and Census datasets.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919472" y="292608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59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Focus: access burden, long waits, regional context, and measurement limits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19472" y="3310128"/>
            <a:ext cx="1417320" cy="0"/>
          </a:xfrm>
          <a:prstGeom prst="line">
            <a:avLst/>
          </a:prstGeom>
          <a:noFill/>
          <a:ln w="12700">
            <a:solidFill>
              <a:srgbClr val="345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19472" y="36576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435C"/>
                </a:solidFill>
              </a:rPr>
              <a:t>Heart • Kidney • Lung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45995"/>
          </a:solidFill>
          <a:ln w="12700">
            <a:solidFill>
              <a:srgbClr val="3459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59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FRAME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questions and scope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345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109728" cy="1051560"/>
          </a:xfrm>
          <a:prstGeom prst="rect">
            <a:avLst/>
          </a:prstGeom>
          <a:solidFill>
            <a:srgbClr val="345995"/>
          </a:solidFill>
          <a:ln w="12700">
            <a:solidFill>
              <a:srgbClr val="3459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95528" y="1362456"/>
            <a:ext cx="5129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Primary question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1618488"/>
            <a:ext cx="5129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Are there measurable disparities in access to heart, kidney, and lung transplants in the United States based on demographic, socioeconomic, and geographic factors?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578608"/>
            <a:ext cx="512064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transplant access patterns differ by race, ethnicity, sex, or age?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long waits uneven across demographic or geographic groups?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insurance status or region relate to the likelihood of reaching transplant?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outcome-related measures distributed unevenly across groups?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960120" cy="566928"/>
          </a:xfrm>
          <a:prstGeom prst="chevron">
            <a:avLst/>
          </a:prstGeom>
          <a:solidFill>
            <a:srgbClr val="345995"/>
          </a:solidFill>
          <a:ln w="12700">
            <a:solidFill>
              <a:srgbClr val="3459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33488" y="146304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3A7D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33488" y="1463040"/>
            <a:ext cx="109728" cy="123444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34656" y="1591056"/>
            <a:ext cx="3849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What this deck can measure now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34656" y="1847088"/>
            <a:ext cx="38496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Aggregated differences in waitlist burden, long-wait shares, race/ethnicity wait-time distributions, and ecological regional context.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33488" y="288036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17C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33488" y="2880360"/>
            <a:ext cx="109728" cy="1234440"/>
          </a:xfrm>
          <a:prstGeom prst="rect">
            <a:avLst/>
          </a:prstGeom>
          <a:solidFill>
            <a:srgbClr val="C17C29"/>
          </a:solidFill>
          <a:ln w="12700">
            <a:solidFill>
              <a:srgbClr val="C17C2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534656" y="3008376"/>
            <a:ext cx="3849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What it cannot measure yet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34656" y="3264408"/>
            <a:ext cx="38496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Patient-level receipt of transplant, time-to-transplant, or mortality while waiting. Those require candidate-level IDs plus listing and event dates.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33488" y="429768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B84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33488" y="4297680"/>
            <a:ext cx="109728" cy="1051560"/>
          </a:xfrm>
          <a:prstGeom prst="rect">
            <a:avLst/>
          </a:prstGeom>
          <a:solidFill>
            <a:srgbClr val="B84A62"/>
          </a:solidFill>
          <a:ln w="12700">
            <a:solidFill>
              <a:srgbClr val="B84A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34656" y="4425696"/>
            <a:ext cx="3849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Practical implication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34656" y="4681728"/>
            <a:ext cx="384962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This is an equity-screening presentation: it identifies where disparities appear largest and where deeper causal analysis should go next.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519672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waitlist, candidate waiting-time, CDC mortality, and Census files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45995"/>
          </a:solidFill>
          <a:ln w="12700">
            <a:solidFill>
              <a:srgbClr val="3459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59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+ METHOD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inputs and analytic workflow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23317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345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965960"/>
            <a:ext cx="109728" cy="1874520"/>
          </a:xfrm>
          <a:prstGeom prst="rect">
            <a:avLst/>
          </a:prstGeom>
          <a:solidFill>
            <a:srgbClr val="345995"/>
          </a:solidFill>
          <a:ln w="12700">
            <a:solidFill>
              <a:srgbClr val="3459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95528" y="209397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1. Source files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2350008"/>
            <a:ext cx="202082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uno_waitlist.csv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Cand+reg_Organ_by_Waiting._Time.csv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uno_transplant.csv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CDC_MORTALITY_cleaned_joined_long.csv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census_cleaned.csv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47872" y="1965960"/>
            <a:ext cx="23317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3A7D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47872" y="1965960"/>
            <a:ext cx="109728" cy="187452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49040" y="209397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2. Standardize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2350008"/>
            <a:ext cx="202082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Clean numeric fields, harmonize geography, forward-fill organ labels, and reshape wait-time buckets into comparable long-wait shares.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73952" y="1965960"/>
            <a:ext cx="23317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17C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73952" y="1965960"/>
            <a:ext cx="109728" cy="1874520"/>
          </a:xfrm>
          <a:prstGeom prst="rect">
            <a:avLst/>
          </a:prstGeom>
          <a:solidFill>
            <a:srgbClr val="C17C29"/>
          </a:solidFill>
          <a:ln w="12700">
            <a:solidFill>
              <a:srgbClr val="C17C2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0" y="209397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3. Build measures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2350008"/>
            <a:ext cx="202082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Waitlist per 100k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Share waiting at least 1 year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Race/ethnicity long-wait share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Regional uninsured and income context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Trend in total U.S. transplants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400032" y="1965960"/>
            <a:ext cx="21488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B84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00032" y="1965960"/>
            <a:ext cx="109728" cy="1874520"/>
          </a:xfrm>
          <a:prstGeom prst="rect">
            <a:avLst/>
          </a:prstGeom>
          <a:solidFill>
            <a:srgbClr val="B84A62"/>
          </a:solidFill>
          <a:ln w="12700">
            <a:solidFill>
              <a:srgbClr val="B84A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01200" y="2093976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4. Synthesize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0" y="2350008"/>
            <a:ext cx="183794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Compare heart, kidney, and lung patterns; isolate geographic hotspots; then separate strong findings from data limitations.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49808" y="4389120"/>
            <a:ext cx="1088136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96850" indent="-196850">
              <a:buSzPct val="100000"/>
              <a:buChar char="•"/>
            </a:pPr>
            <a:r>
              <a:rPr lang="en-US" sz="155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analysis units: states, regions, and candidate waiting-time subgroups.</a:t>
            </a:r>
            <a:endParaRPr lang="en-US" sz="1550" dirty="0"/>
          </a:p>
          <a:p>
            <a:pPr marL="196850" indent="-196850">
              <a:buSzPct val="100000"/>
              <a:buChar char="•"/>
            </a:pPr>
            <a:r>
              <a:rPr lang="en-US" sz="155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disparity measure in these files is long-wait share rather than mean wait days, because several wait-time summary fields are constant within organ.</a:t>
            </a:r>
            <a:endParaRPr lang="en-US" sz="1550" dirty="0"/>
          </a:p>
          <a:p>
            <a:pPr marL="196850" indent="-196850">
              <a:buSzPct val="100000"/>
              <a:buChar char="•"/>
            </a:pPr>
            <a:r>
              <a:rPr lang="en-US" sz="155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mortality is used here only as population context, not as waitlist mortality.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02920" y="6519672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uploaded waitlist, candidate waiting-time, CDC mortality, and Census files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45995"/>
          </a:solidFill>
          <a:ln w="12700">
            <a:solidFill>
              <a:srgbClr val="3459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59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National transplant volume continues to rise</a:t>
            </a:r>
            <a:endParaRPr lang="en-US" sz="2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85800" y="1417320"/>
          <a:ext cx="67665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78308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345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818120" y="1783080"/>
            <a:ext cx="109728" cy="1234440"/>
          </a:xfrm>
          <a:prstGeom prst="rect">
            <a:avLst/>
          </a:prstGeom>
          <a:solidFill>
            <a:srgbClr val="345995"/>
          </a:solidFill>
          <a:ln w="12700">
            <a:solidFill>
              <a:srgbClr val="3459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19288" y="1911096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Read this as context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19288" y="2167128"/>
            <a:ext cx="33467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28,668 total U.S. transplants in 2010 rose to 49,065 in 2025 — about a 71.1% increase overall.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973568" y="3337560"/>
            <a:ext cx="333756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96850" indent="-196850">
              <a:buSzPct val="100000"/>
              <a:buChar char="•"/>
            </a:pPr>
            <a:r>
              <a:rPr lang="en-US" sz="155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national system expanded, but growth alone does not guarantee equitable access.</a:t>
            </a:r>
            <a:endParaRPr lang="en-US" sz="1550" dirty="0"/>
          </a:p>
          <a:p>
            <a:pPr marL="196850" indent="-196850">
              <a:buSzPct val="100000"/>
              <a:buChar char="•"/>
            </a:pPr>
            <a:r>
              <a:rPr lang="en-US" sz="155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remaining slides focus on where waitlist burden and long waits still appear uneven.</a:t>
            </a:r>
            <a:endParaRPr lang="en-US" sz="1550" dirty="0"/>
          </a:p>
          <a:p>
            <a:pPr marL="196850" indent="-196850">
              <a:buSzPct val="100000"/>
              <a:buChar char="•"/>
            </a:pPr>
            <a:r>
              <a:rPr lang="en-US" sz="155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line uses the uploaded annual transplant totals and is not organ-specific.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45995"/>
          </a:solidFill>
          <a:ln w="12700">
            <a:solidFill>
              <a:srgbClr val="3459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59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BURDEN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Regional access burden is steepest for kidney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F"/>
                </a:solidFill>
              </a:rPr>
              <a:t>Heart</a:t>
            </a:r>
            <a:endParaRPr lang="en-US" sz="16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508760"/>
          <a:ext cx="36118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315968" y="12984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F"/>
                </a:solidFill>
              </a:rPr>
              <a:t>Kidney</a:t>
            </a:r>
            <a:endParaRPr lang="en-US" sz="16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315968" y="1508760"/>
          <a:ext cx="36118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8083296" y="12984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F"/>
                </a:solidFill>
              </a:rPr>
              <a:t>Lung</a:t>
            </a:r>
            <a:endParaRPr lang="en-US" sz="1600" dirty="0"/>
          </a:p>
        </p:txBody>
      </p:sp>
      <p:graphicFrame>
        <p:nvGraphicFramePr>
          <p:cNvPr id="11" name="Chart 2"/>
          <p:cNvGraphicFramePr/>
          <p:nvPr/>
        </p:nvGraphicFramePr>
        <p:xfrm>
          <a:off x="8083296" y="1508760"/>
          <a:ext cx="35204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 7"/>
          <p:cNvSpPr/>
          <p:nvPr/>
        </p:nvSpPr>
        <p:spPr>
          <a:xfrm>
            <a:off x="749808" y="5285232"/>
            <a:ext cx="109728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84150" indent="-184150">
              <a:buSzPct val="100000"/>
              <a:buChar char="•"/>
            </a:pPr>
            <a:r>
              <a:rPr lang="en-US" sz="145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Kidney demand dwarfs heart and lung across every standard region.</a:t>
            </a:r>
            <a:endParaRPr lang="en-US" sz="1450" dirty="0"/>
          </a:p>
          <a:p>
            <a:pPr marL="184150" indent="-184150">
              <a:buSzPct val="100000"/>
              <a:buChar char="•"/>
            </a:pPr>
            <a:r>
              <a:rPr lang="en-US" sz="145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Within heart, the South and Midwest sit above the Northeast and West.</a:t>
            </a:r>
            <a:endParaRPr lang="en-US" sz="1450" dirty="0"/>
          </a:p>
          <a:p>
            <a:pPr marL="184150" indent="-184150">
              <a:buSzPct val="100000"/>
              <a:buChar char="•"/>
            </a:pPr>
            <a:r>
              <a:rPr lang="en-US" sz="145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Within lung, the Midwest and Northeast are higher than the West.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502920" y="6519672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uploaded uno_waitlist.csv; values are regional means of waitlist_per_100k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45995"/>
          </a:solidFill>
          <a:ln w="12700">
            <a:solidFill>
              <a:srgbClr val="3459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59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 TIME PRESSURE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Long waits are also uneven across regions</a:t>
            </a:r>
            <a:endParaRPr lang="en-US" sz="2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58368" y="1463040"/>
          <a:ext cx="69037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973568" y="173736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17C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973568" y="1737360"/>
            <a:ext cx="109728" cy="1097280"/>
          </a:xfrm>
          <a:prstGeom prst="rect">
            <a:avLst/>
          </a:prstGeom>
          <a:solidFill>
            <a:srgbClr val="C17C29"/>
          </a:solidFill>
          <a:ln w="12700">
            <a:solidFill>
              <a:srgbClr val="C17C2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174736" y="1865376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Biggest pattern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74736" y="2121408"/>
            <a:ext cx="3072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Kidney has the highest share of candidates waiting at least one year in every region. Heart is intermediate. Lung is lowest.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119872" y="3200400"/>
            <a:ext cx="310896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84150" indent="-184150">
              <a:buSzPct val="100000"/>
              <a:buChar char="•"/>
            </a:pPr>
            <a:r>
              <a:rPr lang="en-US" sz="145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clearest time-based disparity metric available in the uploaded files.</a:t>
            </a:r>
            <a:endParaRPr lang="en-US" sz="1450" dirty="0"/>
          </a:p>
          <a:p>
            <a:pPr marL="184150" indent="-184150">
              <a:buSzPct val="100000"/>
              <a:buChar char="•"/>
            </a:pPr>
            <a:r>
              <a:rPr lang="en-US" sz="145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more informative than the mean-wait field because several summary wait columns are constant within organ.</a:t>
            </a:r>
            <a:endParaRPr lang="en-US" sz="1450" dirty="0"/>
          </a:p>
          <a:p>
            <a:pPr marL="184150" indent="-184150">
              <a:buSzPct val="100000"/>
              <a:buChar char="•"/>
            </a:pPr>
            <a:r>
              <a:rPr lang="en-US" sz="145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regional spread is meaningful even before moving to patient-level survival analysis.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02920" y="6519672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uploaded uno_waitlist.csv; long_wait_share_1y_plus converted to percent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45995"/>
          </a:solidFill>
          <a:ln w="12700">
            <a:solidFill>
              <a:srgbClr val="3459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59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RACE / ETHNICITY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Candidate wait-time buckets suggest demographic disparities</a:t>
            </a:r>
            <a:endParaRPr lang="en-US" sz="2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58368" y="1417320"/>
          <a:ext cx="74980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8394192" y="1828800"/>
            <a:ext cx="2834640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candidate bucket file indicates that long-wait shares are not evenly distributed across groups.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Kidney again tends to sit highest, but group ordering still shifts within each organ.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these are grouped counts rather than patient records, the slide should be read as a disparity screen, not a causal estimate.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502920" y="6519672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 Cand+reg_Organ_by_Waiting._Time.csv; long-wait share built from 1+ year buckets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45995"/>
          </a:solidFill>
          <a:ln w="12700">
            <a:solidFill>
              <a:srgbClr val="3459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59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+ CONTEXT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Regional context points to structural differences around access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225296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F"/>
                </a:solidFill>
              </a:rPr>
              <a:t>Uninsured share</a:t>
            </a:r>
            <a:endParaRPr lang="en-US" sz="15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536192"/>
          <a:ext cx="370332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270248" y="1225296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F"/>
                </a:solidFill>
              </a:rPr>
              <a:t>Median income</a:t>
            </a:r>
            <a:endParaRPr lang="en-US" sz="15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270248" y="1536192"/>
          <a:ext cx="370332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7991856" y="12252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F"/>
                </a:solidFill>
              </a:rPr>
              <a:t>Population mortality crude rate</a:t>
            </a:r>
            <a:endParaRPr lang="en-US" sz="1500" dirty="0"/>
          </a:p>
        </p:txBody>
      </p:sp>
      <p:graphicFrame>
        <p:nvGraphicFramePr>
          <p:cNvPr id="11" name="Chart 2"/>
          <p:cNvGraphicFramePr/>
          <p:nvPr/>
        </p:nvGraphicFramePr>
        <p:xfrm>
          <a:off x="7991856" y="1536192"/>
          <a:ext cx="365760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 7"/>
          <p:cNvSpPr/>
          <p:nvPr/>
        </p:nvSpPr>
        <p:spPr>
          <a:xfrm>
            <a:off x="749808" y="5504688"/>
            <a:ext cx="109728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South shows the highest average uninsured share and the highest average population mortality crude rate in this regional snapshot.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Northeast leads on median income, suggesting a different socioeconomic context around access and continuity of care.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variables are ecological covariates; they do not prove individual-level mechanisms.</a:t>
            </a:r>
            <a:endParaRPr lang="en-US" sz="1420" dirty="0"/>
          </a:p>
        </p:txBody>
      </p:sp>
      <p:sp>
        <p:nvSpPr>
          <p:cNvPr id="13" name="Text 8"/>
          <p:cNvSpPr/>
          <p:nvPr/>
        </p:nvSpPr>
        <p:spPr>
          <a:xfrm>
            <a:off x="502920" y="6519672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uploaded uno_waitlist.csv with CDC/Census-derived context variables as provided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45995"/>
          </a:solidFill>
          <a:ln w="12700">
            <a:solidFill>
              <a:srgbClr val="3459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59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STATE-LEVEL 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Geographic hotspots show where burden concentrates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58368" y="1572768"/>
            <a:ext cx="566928" cy="512064"/>
          </a:xfrm>
          <a:prstGeom prst="rect">
            <a:avLst/>
          </a:prstGeom>
          <a:solidFill>
            <a:srgbClr val="16324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6184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225296" y="1572768"/>
            <a:ext cx="2212848" cy="512064"/>
          </a:xfrm>
          <a:prstGeom prst="rect">
            <a:avLst/>
          </a:prstGeom>
          <a:solidFill>
            <a:srgbClr val="16324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80160" y="161848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38144" y="1572768"/>
            <a:ext cx="2304288" cy="512064"/>
          </a:xfrm>
          <a:prstGeom prst="rect">
            <a:avLst/>
          </a:prstGeom>
          <a:solidFill>
            <a:srgbClr val="16324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93008" y="16184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Kidney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742432" y="1572768"/>
            <a:ext cx="2103120" cy="512064"/>
          </a:xfrm>
          <a:prstGeom prst="rect">
            <a:avLst/>
          </a:prstGeom>
          <a:solidFill>
            <a:srgbClr val="16324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97296" y="1618488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2084832"/>
            <a:ext cx="56692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" y="213055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25296" y="2084832"/>
            <a:ext cx="221284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80160" y="213055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District of Columbia (7.4)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38144" y="2084832"/>
            <a:ext cx="230428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93008" y="213055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District of Columbia (159.2)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42432" y="2084832"/>
            <a:ext cx="21031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97296" y="2130552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Pennsylvania (0.9)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" y="2596896"/>
            <a:ext cx="56692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3232" y="264261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225296" y="2596896"/>
            <a:ext cx="221284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80160" y="264261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Ohio (2.5)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38144" y="2596896"/>
            <a:ext cx="230428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93008" y="264261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Massachusetts (49.1)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42432" y="2596896"/>
            <a:ext cx="21031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797296" y="2642616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Michigan (0.7)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8368" y="3108960"/>
            <a:ext cx="56692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3232" y="31546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225296" y="3108960"/>
            <a:ext cx="221284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280160" y="315468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Nebraska (2.1)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38144" y="3108960"/>
            <a:ext cx="230428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93008" y="31546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California (45.3)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742432" y="3108960"/>
            <a:ext cx="21031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797296" y="315468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Washington (0.7)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8368" y="3621024"/>
            <a:ext cx="56692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13232" y="366674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225296" y="3621024"/>
            <a:ext cx="221284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280160" y="366674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Utah (2.1)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438144" y="3621024"/>
            <a:ext cx="230428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493008" y="366674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South Dakota (42.3)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42432" y="3621024"/>
            <a:ext cx="21031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797296" y="3666744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Ohio (0.6)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58368" y="4133088"/>
            <a:ext cx="56692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13232" y="417880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225296" y="4133088"/>
            <a:ext cx="221284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280160" y="417880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Massachusetts (1.9)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438144" y="4133088"/>
            <a:ext cx="230428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493008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Pennsylvania (38.2)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742432" y="4133088"/>
            <a:ext cx="21031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797296" y="4178808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Minnesota (0.5)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549640" y="182880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84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549640" y="1828800"/>
            <a:ext cx="109728" cy="1234440"/>
          </a:xfrm>
          <a:prstGeom prst="rect">
            <a:avLst/>
          </a:prstGeom>
          <a:solidFill>
            <a:srgbClr val="B84A62"/>
          </a:solidFill>
          <a:ln w="12700">
            <a:solidFill>
              <a:srgbClr val="B84A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750808" y="195681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8750808" y="2212848"/>
            <a:ext cx="24323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D.C. is an obvious outlier in both heart and kidney waitlist burden per 100k. Lung hotspots are smaller in magnitude and more dispersed across states.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8595360" y="3611880"/>
            <a:ext cx="265176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1450" indent="-171450">
              <a:buSzPct val="100000"/>
              <a:buChar char="•"/>
            </a:pPr>
            <a:r>
              <a:rPr lang="en-US" sz="135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state table helps prioritize where to examine center capacity, referral patterns, and policy variation next.</a:t>
            </a:r>
            <a:endParaRPr lang="en-US" sz="1350" dirty="0"/>
          </a:p>
          <a:p>
            <a:pPr marL="171450" indent="-171450">
              <a:buSzPct val="100000"/>
              <a:buChar char="•"/>
            </a:pPr>
            <a:r>
              <a:rPr lang="en-US" sz="135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rankings are descriptive and should be paired with population denominators and patient-level case mix in the next phase.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502920" y="6519672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uploaded uno_waitlist.csv; top states ranked by waitlist_per_100k within organ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45995"/>
          </a:solidFill>
          <a:ln w="12700">
            <a:solidFill>
              <a:srgbClr val="3459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59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findings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345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1508760"/>
            <a:ext cx="109728" cy="1234440"/>
          </a:xfrm>
          <a:prstGeom prst="rect">
            <a:avLst/>
          </a:prstGeom>
          <a:solidFill>
            <a:srgbClr val="345995"/>
          </a:solidFill>
          <a:ln w="12700">
            <a:solidFill>
              <a:srgbClr val="3459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9536" y="163677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1. Access burden is not evenly distributed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" y="1892808"/>
            <a:ext cx="24323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Across the uploaded waitlist file, kidney consistently shows the highest burden per 100k and the highest long-wait share.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39312" y="15087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3A7D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39312" y="1508760"/>
            <a:ext cx="109728" cy="123444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0" y="163677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2. Region matters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1892808"/>
            <a:ext cx="24323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The South tends to sit higher on heart waitlist burden and social risk context, while long-wait shares also vary across standard regions.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620256" y="15087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17C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620256" y="1508760"/>
            <a:ext cx="109728" cy="1234440"/>
          </a:xfrm>
          <a:prstGeom prst="rect">
            <a:avLst/>
          </a:prstGeom>
          <a:solidFill>
            <a:srgbClr val="C17C29"/>
          </a:solidFill>
          <a:ln w="12700">
            <a:solidFill>
              <a:srgbClr val="C17C2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21424" y="163677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3. Demographic differences are visible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21424" y="1892808"/>
            <a:ext cx="24323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Candidate wait-time buckets show that race/ethnicity groups do not share the same exposure to waits of at least one year.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601200" y="150876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84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601200" y="1508760"/>
            <a:ext cx="109728" cy="1234440"/>
          </a:xfrm>
          <a:prstGeom prst="rect">
            <a:avLst/>
          </a:prstGeom>
          <a:solidFill>
            <a:srgbClr val="B84A62"/>
          </a:solidFill>
          <a:ln w="12700">
            <a:solidFill>
              <a:srgbClr val="B84A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802368" y="1636776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4. Geography is concentrated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802368" y="1892808"/>
            <a:ext cx="16550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A short list of states accounts for the highest observed burden within each organ, especially for kidney.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3232" y="31821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</a:rPr>
              <a:t>Bottom line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3232" y="3547872"/>
            <a:ext cx="10835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943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uploaded data support the conclusion that transplant access is unevenly distributed across geography, organ type, and candidate subgroups — but the strongest evidence here is about disparity patterns, not causal drivers.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9808" y="5138928"/>
            <a:ext cx="109728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deck as a defensible descriptive capstone and as justification for a patient-level follow-on study.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language precise: “access burden” and “long waits” are measured directly here; “likelihood of transplant” is only approximated.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" y="6519672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uploaded waitlist, candidate waiting-time, CDC mortality, and Census files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45995"/>
          </a:solidFill>
          <a:ln w="12700">
            <a:solidFill>
              <a:srgbClr val="3459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59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to say out loud in the presentation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41248" y="1572768"/>
            <a:ext cx="681228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uploaded files are aggregated, so they cannot estimate patient-level receipt of transplant, time-to-transplant, or death while waiting.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Several summary wait-time fields are constant within organ, which is why the analysis leans on long-wait share rather than mean wait days.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mortality crude rate field appears to be population mortality context, not organ-specific waitlist mortality.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Socioeconomic variables here are ecological measures. They are useful for context but do not identify individual causal pathways.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432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Sex and age differences are part of the research frame, but the current uploaded files do not support a clean sex-by-age disparity model.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046720" y="182880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345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46720" y="1828800"/>
            <a:ext cx="109728" cy="1965960"/>
          </a:xfrm>
          <a:prstGeom prst="rect">
            <a:avLst/>
          </a:prstGeom>
          <a:solidFill>
            <a:srgbClr val="345995"/>
          </a:solidFill>
          <a:ln w="12700">
            <a:solidFill>
              <a:srgbClr val="3459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47888" y="1956816"/>
            <a:ext cx="2935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Why this still works as a capstone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47888" y="2212848"/>
            <a:ext cx="2935224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A capstone does not need to solve every causal question. It needs to demonstrate rigorous data cleaning, defensible measurement choices, transparent caveats, and a clear next-step research design.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416052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17C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046720" y="4160520"/>
            <a:ext cx="109728" cy="1188720"/>
          </a:xfrm>
          <a:prstGeom prst="rect">
            <a:avLst/>
          </a:prstGeom>
          <a:solidFill>
            <a:srgbClr val="C17C29"/>
          </a:solidFill>
          <a:ln w="12700">
            <a:solidFill>
              <a:srgbClr val="C17C2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47888" y="4288536"/>
            <a:ext cx="2935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Safe wording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47888" y="4544568"/>
            <a:ext cx="29352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Use phrases such as “suggests”, “appears associated with”, “descriptive disparity”, and “requires patient-level follow-up”.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6519672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uploaded waitlist, candidate waiting-time, CDC mortality, and Census files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45995"/>
          </a:solidFill>
          <a:ln w="12700">
            <a:solidFill>
              <a:srgbClr val="3459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59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next study should do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3459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109728" cy="1417320"/>
          </a:xfrm>
          <a:prstGeom prst="rect">
            <a:avLst/>
          </a:prstGeom>
          <a:solidFill>
            <a:srgbClr val="345995"/>
          </a:solidFill>
          <a:ln w="12700">
            <a:solidFill>
              <a:srgbClr val="3459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86968" y="168249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1. Acquire patient-level 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86968" y="1938528"/>
            <a:ext cx="243230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Request OPTN STAR or SRTR standard analysis files with candidate ID, listing date, transplant date, removal date, death date, organ, and payer information.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39312" y="155448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3A7D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39312" y="1554480"/>
            <a:ext cx="109728" cy="141732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0" y="168249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2. Estimate time-to-transplant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1938528"/>
            <a:ext cx="243230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Build Kaplan–Meier or cumulative-incidence curves and then a Cox or competing-risks model for receipt of transplant.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92824" y="155448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17C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592824" y="1554480"/>
            <a:ext cx="109728" cy="1417320"/>
          </a:xfrm>
          <a:prstGeom prst="rect">
            <a:avLst/>
          </a:prstGeom>
          <a:solidFill>
            <a:srgbClr val="C17C29"/>
          </a:solidFill>
          <a:ln w="12700">
            <a:solidFill>
              <a:srgbClr val="C17C2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93992" y="168249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3. Link deeper context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93992" y="1938528"/>
            <a:ext cx="243230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Join ZIP, county, or center-level attributes to study how region, insurance, and social context combine inside the same candidate pathway.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546336" y="155448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B84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546336" y="1554480"/>
            <a:ext cx="109728" cy="1417320"/>
          </a:xfrm>
          <a:prstGeom prst="rect">
            <a:avLst/>
          </a:prstGeom>
          <a:solidFill>
            <a:srgbClr val="B84A62"/>
          </a:solidFill>
          <a:ln w="12700">
            <a:solidFill>
              <a:srgbClr val="B84A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747504" y="1682496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4. Translate to action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747504" y="1938528"/>
            <a:ext cx="165506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240"/>
                </a:solidFill>
              </a:rPr>
              <a:t>Use hotspot states and high-risk subgroups to frame policy recommendations around referral, listing, coverage, and center capacity.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49808" y="3703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4F"/>
                </a:solidFill>
              </a:rPr>
              <a:t>If asked for a one-line takeaway: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9808" y="40690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943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“The current evidence shows meaningful descriptive disparities in transplant access, and the next step is to test them at the patient-event level.”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02920" y="6519672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uploaded waitlist, candidate waiting-time, CDC mortality, and Census files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1638</Words>
  <Application>Microsoft Office PowerPoint</Application>
  <PresentationFormat>Widescreen</PresentationFormat>
  <Paragraphs>178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Transplant Equity in the United States</dc:title>
  <dc:subject>Transplant Equity Capstone</dc:subject>
  <dc:creator>OpenAI</dc:creator>
  <cp:lastModifiedBy>Anson Boameh Richard</cp:lastModifiedBy>
  <cp:revision>2</cp:revision>
  <dcterms:created xsi:type="dcterms:W3CDTF">2026-03-02T18:39:58Z</dcterms:created>
  <dcterms:modified xsi:type="dcterms:W3CDTF">2026-03-02T18:50:50Z</dcterms:modified>
</cp:coreProperties>
</file>