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8.xml" ContentType="application/vnd.openxmlformats-officedocument.presentationml.notesSlid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9.xml" ContentType="application/vnd.openxmlformats-officedocument.presentationml.notesSlide+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0.xml" ContentType="application/vnd.openxmlformats-officedocument.presentationml.notesSlide+xml"/>
  <Override PartName="/ppt/charts/chart5.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1.xml" ContentType="application/vnd.openxmlformats-officedocument.presentationml.notesSlide+xml"/>
  <Override PartName="/ppt/charts/chart6.xml" ContentType="application/vnd.openxmlformats-officedocument.drawingml.chart+xml"/>
  <Override PartName="/ppt/notesSlides/notesSlide12.xml" ContentType="application/vnd.openxmlformats-officedocument.presentationml.notesSlide+xml"/>
  <Override PartName="/ppt/charts/chart7.xml" ContentType="application/vnd.openxmlformats-officedocument.drawingml.chart+xml"/>
  <Override PartName="/ppt/notesSlides/notesSlide13.xml" ContentType="application/vnd.openxmlformats-officedocument.presentationml.notesSlide+xml"/>
  <Override PartName="/ppt/charts/chart8.xml" ContentType="application/vnd.openxmlformats-officedocument.drawingml.chart+xml"/>
  <Override PartName="/ppt/notesSlides/notesSlide14.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notesSlides/notesSlide15.xml" ContentType="application/vnd.openxmlformats-officedocument.presentationml.notesSlide+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89" r:id="rId4"/>
    <p:sldId id="295" r:id="rId5"/>
    <p:sldId id="258" r:id="rId6"/>
    <p:sldId id="293" r:id="rId7"/>
    <p:sldId id="287" r:id="rId8"/>
    <p:sldId id="288" r:id="rId9"/>
    <p:sldId id="290" r:id="rId10"/>
    <p:sldId id="291" r:id="rId11"/>
    <p:sldId id="292" r:id="rId12"/>
    <p:sldId id="261" r:id="rId13"/>
    <p:sldId id="262" r:id="rId14"/>
    <p:sldId id="260" r:id="rId15"/>
    <p:sldId id="263" r:id="rId16"/>
    <p:sldId id="264" r:id="rId17"/>
    <p:sldId id="296" r:id="rId18"/>
    <p:sldId id="297" r:id="rId19"/>
    <p:sldId id="298" r:id="rId20"/>
    <p:sldId id="299" r:id="rId21"/>
    <p:sldId id="265"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7" d="100"/>
          <a:sy n="67" d="100"/>
        </p:scale>
        <p:origin x="1190" y="2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oleObject" Target="file:///D:\NEW%20DATA\New%20folder\Total_Transplants_Over_Time.xlsx" TargetMode="External"/></Relationships>
</file>

<file path=ppt/charts/_rels/chart2.xml.rels><?xml version="1.0" encoding="UTF-8" standalone="yes"?>
<Relationships xmlns="http://schemas.openxmlformats.org/package/2006/relationships"><Relationship Id="rId3" Type="http://schemas.openxmlformats.org/officeDocument/2006/relationships/oleObject" Target="file:///D:\NEW%20DATA\New%20folder\All_Organ_Transplant_Rate_per_100k_by_Sex_Chart.xlsx" TargetMode="External"/><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3" Type="http://schemas.openxmlformats.org/officeDocument/2006/relationships/oleObject" Target="file:///D:\NEW%20DATA\New%20folder\All_Organ_Transplant_Race_Ethnicity_Chart.xlsx" TargetMode="External"/><Relationship Id="rId2" Type="http://schemas.microsoft.com/office/2011/relationships/chartColorStyle" Target="colors2.xml"/><Relationship Id="rId1" Type="http://schemas.microsoft.com/office/2011/relationships/chartStyle" Target="style2.xml"/></Relationships>
</file>

<file path=ppt/charts/_rels/chart4.xml.rels><?xml version="1.0" encoding="UTF-8" standalone="yes"?>
<Relationships xmlns="http://schemas.openxmlformats.org/package/2006/relationships"><Relationship Id="rId3" Type="http://schemas.openxmlformats.org/officeDocument/2006/relationships/oleObject" Target="file:///D:\NEW%20DATA\New%20folder\Heart_Top_States_Waitlist_per_100k.xlsx" TargetMode="External"/><Relationship Id="rId2" Type="http://schemas.microsoft.com/office/2011/relationships/chartColorStyle" Target="colors3.xml"/><Relationship Id="rId1" Type="http://schemas.microsoft.com/office/2011/relationships/chartStyle" Target="style3.xml"/></Relationships>
</file>

<file path=ppt/charts/_rels/chart5.xml.rels><?xml version="1.0" encoding="UTF-8" standalone="yes"?>
<Relationships xmlns="http://schemas.openxmlformats.org/package/2006/relationships"><Relationship Id="rId3" Type="http://schemas.openxmlformats.org/officeDocument/2006/relationships/oleObject" Target="file:///D:\NEW%20DATA\New%20folder\Kidney_Lung_Top_States_Waitlist_per_100k.xlsx" TargetMode="External"/><Relationship Id="rId2" Type="http://schemas.microsoft.com/office/2011/relationships/chartColorStyle" Target="colors4.xml"/><Relationship Id="rId1" Type="http://schemas.microsoft.com/office/2011/relationships/chartStyle" Target="style4.xml"/></Relationships>
</file>

<file path=ppt/charts/_rels/chart6.xml.rels><?xml version="1.0" encoding="UTF-8" standalone="yes"?>
<Relationships xmlns="http://schemas.openxmlformats.org/package/2006/relationships"><Relationship Id="rId1" Type="http://schemas.openxmlformats.org/officeDocument/2006/relationships/oleObject" Target="file:///D:\NEW%20DATA\New%20folder\Kidney_Lung_Top_States_Waitlist_per_100k.xlsx" TargetMode="External"/></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595153270418003"/>
          <c:y val="5.174074074074074E-2"/>
          <c:w val="0.79936536146147874"/>
          <c:h val="0.69683111111111107"/>
        </c:manualLayout>
      </c:layout>
      <c:lineChart>
        <c:grouping val="standard"/>
        <c:varyColors val="1"/>
        <c:ser>
          <c:idx val="0"/>
          <c:order val="0"/>
          <c:tx>
            <c:strRef>
              <c:f>Transplants_Over_Time!$B$3</c:f>
              <c:strCache>
                <c:ptCount val="1"/>
                <c:pt idx="0">
                  <c:v>Transplants</c:v>
                </c:pt>
              </c:strCache>
            </c:strRef>
          </c:tx>
          <c:marker>
            <c:symbol val="circle"/>
            <c:size val="5"/>
          </c:marker>
          <c:dPt>
            <c:idx val="0"/>
            <c:marker>
              <c:spPr>
                <a:solidFill>
                  <a:schemeClr val="accent2"/>
                </a:solidFill>
                <a:ln w="9525">
                  <a:solidFill>
                    <a:schemeClr val="accent2"/>
                  </a:solidFill>
                </a:ln>
                <a:effectLst/>
              </c:spPr>
            </c:marker>
            <c:bubble3D val="0"/>
            <c:spPr>
              <a:ln w="28575" cap="rnd">
                <a:solidFill>
                  <a:schemeClr val="accent1"/>
                </a:solidFill>
                <a:round/>
              </a:ln>
              <a:effectLst/>
            </c:spPr>
            <c:extLst>
              <c:ext xmlns:c16="http://schemas.microsoft.com/office/drawing/2014/chart" uri="{C3380CC4-5D6E-409C-BE32-E72D297353CC}">
                <c16:uniqueId val="{00000003-998B-426A-864B-12F73B564E2D}"/>
              </c:ext>
            </c:extLst>
          </c:dPt>
          <c:dPt>
            <c:idx val="1"/>
            <c:marker>
              <c:spPr>
                <a:solidFill>
                  <a:schemeClr val="accent3"/>
                </a:solidFill>
                <a:ln w="9525">
                  <a:solidFill>
                    <a:schemeClr val="accent3"/>
                  </a:solidFill>
                </a:ln>
                <a:effectLst/>
              </c:spPr>
            </c:marker>
            <c:bubble3D val="0"/>
            <c:spPr>
              <a:ln w="28575" cap="rnd">
                <a:solidFill>
                  <a:schemeClr val="accent2"/>
                </a:solidFill>
                <a:round/>
              </a:ln>
              <a:effectLst/>
            </c:spPr>
            <c:extLst>
              <c:ext xmlns:c16="http://schemas.microsoft.com/office/drawing/2014/chart" uri="{C3380CC4-5D6E-409C-BE32-E72D297353CC}">
                <c16:uniqueId val="{00000005-998B-426A-864B-12F73B564E2D}"/>
              </c:ext>
            </c:extLst>
          </c:dPt>
          <c:dPt>
            <c:idx val="2"/>
            <c:marker>
              <c:spPr>
                <a:solidFill>
                  <a:schemeClr val="accent4"/>
                </a:solidFill>
                <a:ln w="9525">
                  <a:solidFill>
                    <a:schemeClr val="accent4"/>
                  </a:solidFill>
                </a:ln>
                <a:effectLst/>
              </c:spPr>
            </c:marker>
            <c:bubble3D val="0"/>
            <c:spPr>
              <a:ln w="28575" cap="rnd">
                <a:solidFill>
                  <a:schemeClr val="accent3"/>
                </a:solidFill>
                <a:round/>
              </a:ln>
              <a:effectLst/>
            </c:spPr>
            <c:extLst>
              <c:ext xmlns:c16="http://schemas.microsoft.com/office/drawing/2014/chart" uri="{C3380CC4-5D6E-409C-BE32-E72D297353CC}">
                <c16:uniqueId val="{00000007-998B-426A-864B-12F73B564E2D}"/>
              </c:ext>
            </c:extLst>
          </c:dPt>
          <c:dPt>
            <c:idx val="3"/>
            <c:marker>
              <c:spPr>
                <a:solidFill>
                  <a:schemeClr val="accent5"/>
                </a:solidFill>
                <a:ln w="9525">
                  <a:solidFill>
                    <a:schemeClr val="accent5"/>
                  </a:solidFill>
                </a:ln>
                <a:effectLst/>
              </c:spPr>
            </c:marker>
            <c:bubble3D val="0"/>
            <c:spPr>
              <a:ln w="28575" cap="rnd">
                <a:solidFill>
                  <a:schemeClr val="accent4"/>
                </a:solidFill>
                <a:round/>
              </a:ln>
              <a:effectLst/>
            </c:spPr>
            <c:extLst>
              <c:ext xmlns:c16="http://schemas.microsoft.com/office/drawing/2014/chart" uri="{C3380CC4-5D6E-409C-BE32-E72D297353CC}">
                <c16:uniqueId val="{00000009-998B-426A-864B-12F73B564E2D}"/>
              </c:ext>
            </c:extLst>
          </c:dPt>
          <c:dPt>
            <c:idx val="4"/>
            <c:marker>
              <c:spPr>
                <a:solidFill>
                  <a:schemeClr val="accent6"/>
                </a:solidFill>
                <a:ln w="9525">
                  <a:solidFill>
                    <a:schemeClr val="accent6"/>
                  </a:solidFill>
                </a:ln>
                <a:effectLst/>
              </c:spPr>
            </c:marker>
            <c:bubble3D val="0"/>
            <c:spPr>
              <a:ln w="28575" cap="rnd">
                <a:solidFill>
                  <a:schemeClr val="accent5"/>
                </a:solidFill>
                <a:round/>
              </a:ln>
              <a:effectLst/>
            </c:spPr>
            <c:extLst>
              <c:ext xmlns:c16="http://schemas.microsoft.com/office/drawing/2014/chart" uri="{C3380CC4-5D6E-409C-BE32-E72D297353CC}">
                <c16:uniqueId val="{0000000B-998B-426A-864B-12F73B564E2D}"/>
              </c:ext>
            </c:extLst>
          </c:dPt>
          <c:dPt>
            <c:idx val="5"/>
            <c:marker>
              <c:spPr>
                <a:solidFill>
                  <a:schemeClr val="accent1">
                    <a:lumMod val="60000"/>
                  </a:schemeClr>
                </a:solidFill>
                <a:ln w="9525">
                  <a:solidFill>
                    <a:schemeClr val="accent1">
                      <a:lumMod val="60000"/>
                    </a:schemeClr>
                  </a:solidFill>
                </a:ln>
                <a:effectLst/>
              </c:spPr>
            </c:marker>
            <c:bubble3D val="0"/>
            <c:spPr>
              <a:ln w="28575" cap="rnd">
                <a:solidFill>
                  <a:schemeClr val="accent6"/>
                </a:solidFill>
                <a:round/>
              </a:ln>
              <a:effectLst/>
            </c:spPr>
            <c:extLst>
              <c:ext xmlns:c16="http://schemas.microsoft.com/office/drawing/2014/chart" uri="{C3380CC4-5D6E-409C-BE32-E72D297353CC}">
                <c16:uniqueId val="{0000000D-998B-426A-864B-12F73B564E2D}"/>
              </c:ext>
            </c:extLst>
          </c:dPt>
          <c:dPt>
            <c:idx val="6"/>
            <c:marker>
              <c:spPr>
                <a:solidFill>
                  <a:schemeClr val="accent2">
                    <a:lumMod val="60000"/>
                  </a:schemeClr>
                </a:solidFill>
                <a:ln w="9525">
                  <a:solidFill>
                    <a:schemeClr val="accent2">
                      <a:lumMod val="60000"/>
                    </a:schemeClr>
                  </a:solidFill>
                </a:ln>
                <a:effectLst/>
              </c:spPr>
            </c:marker>
            <c:bubble3D val="0"/>
            <c:spPr>
              <a:ln w="28575" cap="rnd">
                <a:solidFill>
                  <a:schemeClr val="accent1">
                    <a:lumMod val="60000"/>
                  </a:schemeClr>
                </a:solidFill>
                <a:round/>
              </a:ln>
              <a:effectLst/>
            </c:spPr>
            <c:extLst>
              <c:ext xmlns:c16="http://schemas.microsoft.com/office/drawing/2014/chart" uri="{C3380CC4-5D6E-409C-BE32-E72D297353CC}">
                <c16:uniqueId val="{0000000F-998B-426A-864B-12F73B564E2D}"/>
              </c:ext>
            </c:extLst>
          </c:dPt>
          <c:dPt>
            <c:idx val="7"/>
            <c:marker>
              <c:spPr>
                <a:solidFill>
                  <a:schemeClr val="accent3">
                    <a:lumMod val="60000"/>
                  </a:schemeClr>
                </a:solidFill>
                <a:ln w="9525">
                  <a:solidFill>
                    <a:schemeClr val="accent3">
                      <a:lumMod val="60000"/>
                    </a:schemeClr>
                  </a:solidFill>
                </a:ln>
                <a:effectLst/>
              </c:spPr>
            </c:marker>
            <c:bubble3D val="0"/>
            <c:spPr>
              <a:ln w="28575" cap="rnd">
                <a:solidFill>
                  <a:schemeClr val="accent2">
                    <a:lumMod val="60000"/>
                  </a:schemeClr>
                </a:solidFill>
                <a:round/>
              </a:ln>
              <a:effectLst/>
            </c:spPr>
            <c:extLst>
              <c:ext xmlns:c16="http://schemas.microsoft.com/office/drawing/2014/chart" uri="{C3380CC4-5D6E-409C-BE32-E72D297353CC}">
                <c16:uniqueId val="{00000011-998B-426A-864B-12F73B564E2D}"/>
              </c:ext>
            </c:extLst>
          </c:dPt>
          <c:dPt>
            <c:idx val="8"/>
            <c:marker>
              <c:spPr>
                <a:solidFill>
                  <a:schemeClr val="accent4">
                    <a:lumMod val="60000"/>
                  </a:schemeClr>
                </a:solidFill>
                <a:ln w="9525">
                  <a:solidFill>
                    <a:schemeClr val="accent4">
                      <a:lumMod val="60000"/>
                    </a:schemeClr>
                  </a:solidFill>
                </a:ln>
                <a:effectLst/>
              </c:spPr>
            </c:marker>
            <c:bubble3D val="0"/>
            <c:spPr>
              <a:ln w="28575" cap="rnd">
                <a:solidFill>
                  <a:schemeClr val="accent3">
                    <a:lumMod val="60000"/>
                  </a:schemeClr>
                </a:solidFill>
                <a:round/>
              </a:ln>
              <a:effectLst/>
            </c:spPr>
            <c:extLst>
              <c:ext xmlns:c16="http://schemas.microsoft.com/office/drawing/2014/chart" uri="{C3380CC4-5D6E-409C-BE32-E72D297353CC}">
                <c16:uniqueId val="{00000013-998B-426A-864B-12F73B564E2D}"/>
              </c:ext>
            </c:extLst>
          </c:dPt>
          <c:dPt>
            <c:idx val="9"/>
            <c:marker>
              <c:spPr>
                <a:solidFill>
                  <a:schemeClr val="accent5">
                    <a:lumMod val="60000"/>
                  </a:schemeClr>
                </a:solidFill>
                <a:ln w="9525">
                  <a:solidFill>
                    <a:schemeClr val="accent5">
                      <a:lumMod val="60000"/>
                    </a:schemeClr>
                  </a:solidFill>
                </a:ln>
                <a:effectLst/>
              </c:spPr>
            </c:marker>
            <c:bubble3D val="0"/>
            <c:spPr>
              <a:ln w="28575" cap="rnd">
                <a:solidFill>
                  <a:schemeClr val="accent4">
                    <a:lumMod val="60000"/>
                  </a:schemeClr>
                </a:solidFill>
                <a:round/>
              </a:ln>
              <a:effectLst/>
            </c:spPr>
            <c:extLst>
              <c:ext xmlns:c16="http://schemas.microsoft.com/office/drawing/2014/chart" uri="{C3380CC4-5D6E-409C-BE32-E72D297353CC}">
                <c16:uniqueId val="{00000015-998B-426A-864B-12F73B564E2D}"/>
              </c:ext>
            </c:extLst>
          </c:dPt>
          <c:dPt>
            <c:idx val="10"/>
            <c:marker>
              <c:spPr>
                <a:solidFill>
                  <a:schemeClr val="accent6">
                    <a:lumMod val="60000"/>
                  </a:schemeClr>
                </a:solidFill>
                <a:ln w="9525">
                  <a:solidFill>
                    <a:schemeClr val="accent6">
                      <a:lumMod val="60000"/>
                    </a:schemeClr>
                  </a:solidFill>
                </a:ln>
                <a:effectLst/>
              </c:spPr>
            </c:marker>
            <c:bubble3D val="0"/>
            <c:spPr>
              <a:ln w="28575" cap="rnd">
                <a:solidFill>
                  <a:schemeClr val="accent5">
                    <a:lumMod val="60000"/>
                  </a:schemeClr>
                </a:solidFill>
                <a:round/>
              </a:ln>
              <a:effectLst/>
            </c:spPr>
            <c:extLst>
              <c:ext xmlns:c16="http://schemas.microsoft.com/office/drawing/2014/chart" uri="{C3380CC4-5D6E-409C-BE32-E72D297353CC}">
                <c16:uniqueId val="{00000017-998B-426A-864B-12F73B564E2D}"/>
              </c:ext>
            </c:extLst>
          </c:dPt>
          <c:dPt>
            <c:idx val="11"/>
            <c:marker>
              <c:spPr>
                <a:solidFill>
                  <a:schemeClr val="accent1">
                    <a:lumMod val="80000"/>
                    <a:lumOff val="20000"/>
                  </a:schemeClr>
                </a:solidFill>
                <a:ln w="9525">
                  <a:solidFill>
                    <a:schemeClr val="accent1">
                      <a:lumMod val="80000"/>
                      <a:lumOff val="20000"/>
                    </a:schemeClr>
                  </a:solidFill>
                </a:ln>
                <a:effectLst/>
              </c:spPr>
            </c:marker>
            <c:bubble3D val="0"/>
            <c:spPr>
              <a:ln w="28575" cap="rnd">
                <a:solidFill>
                  <a:schemeClr val="accent6">
                    <a:lumMod val="60000"/>
                  </a:schemeClr>
                </a:solidFill>
                <a:round/>
              </a:ln>
              <a:effectLst/>
            </c:spPr>
            <c:extLst>
              <c:ext xmlns:c16="http://schemas.microsoft.com/office/drawing/2014/chart" uri="{C3380CC4-5D6E-409C-BE32-E72D297353CC}">
                <c16:uniqueId val="{00000019-998B-426A-864B-12F73B564E2D}"/>
              </c:ext>
            </c:extLst>
          </c:dPt>
          <c:dPt>
            <c:idx val="12"/>
            <c:marker>
              <c:spPr>
                <a:solidFill>
                  <a:schemeClr val="accent2">
                    <a:lumMod val="80000"/>
                    <a:lumOff val="20000"/>
                  </a:schemeClr>
                </a:solidFill>
                <a:ln w="9525">
                  <a:solidFill>
                    <a:schemeClr val="accent2">
                      <a:lumMod val="80000"/>
                      <a:lumOff val="20000"/>
                    </a:schemeClr>
                  </a:solidFill>
                </a:ln>
                <a:effectLst/>
              </c:spPr>
            </c:marker>
            <c:bubble3D val="0"/>
            <c:spPr>
              <a:ln w="28575" cap="rnd">
                <a:solidFill>
                  <a:schemeClr val="accent1">
                    <a:lumMod val="80000"/>
                    <a:lumOff val="20000"/>
                  </a:schemeClr>
                </a:solidFill>
                <a:round/>
              </a:ln>
              <a:effectLst/>
            </c:spPr>
            <c:extLst>
              <c:ext xmlns:c16="http://schemas.microsoft.com/office/drawing/2014/chart" uri="{C3380CC4-5D6E-409C-BE32-E72D297353CC}">
                <c16:uniqueId val="{0000001B-998B-426A-864B-12F73B564E2D}"/>
              </c:ext>
            </c:extLst>
          </c:dPt>
          <c:dPt>
            <c:idx val="13"/>
            <c:marker>
              <c:spPr>
                <a:solidFill>
                  <a:schemeClr val="accent3">
                    <a:lumMod val="80000"/>
                    <a:lumOff val="20000"/>
                  </a:schemeClr>
                </a:solidFill>
                <a:ln w="9525">
                  <a:solidFill>
                    <a:schemeClr val="accent3">
                      <a:lumMod val="80000"/>
                      <a:lumOff val="20000"/>
                    </a:schemeClr>
                  </a:solidFill>
                </a:ln>
                <a:effectLst/>
              </c:spPr>
            </c:marker>
            <c:bubble3D val="0"/>
            <c:spPr>
              <a:ln w="28575" cap="rnd">
                <a:solidFill>
                  <a:schemeClr val="accent2">
                    <a:lumMod val="80000"/>
                    <a:lumOff val="20000"/>
                  </a:schemeClr>
                </a:solidFill>
                <a:round/>
              </a:ln>
              <a:effectLst/>
            </c:spPr>
            <c:extLst>
              <c:ext xmlns:c16="http://schemas.microsoft.com/office/drawing/2014/chart" uri="{C3380CC4-5D6E-409C-BE32-E72D297353CC}">
                <c16:uniqueId val="{0000001D-998B-426A-864B-12F73B564E2D}"/>
              </c:ext>
            </c:extLst>
          </c:dPt>
          <c:dPt>
            <c:idx val="14"/>
            <c:marker>
              <c:spPr>
                <a:solidFill>
                  <a:schemeClr val="accent4">
                    <a:lumMod val="80000"/>
                    <a:lumOff val="20000"/>
                  </a:schemeClr>
                </a:solidFill>
                <a:ln w="9525">
                  <a:solidFill>
                    <a:schemeClr val="accent4">
                      <a:lumMod val="80000"/>
                      <a:lumOff val="20000"/>
                    </a:schemeClr>
                  </a:solidFill>
                </a:ln>
                <a:effectLst/>
              </c:spPr>
            </c:marker>
            <c:bubble3D val="0"/>
            <c:spPr>
              <a:ln w="28575" cap="rnd">
                <a:solidFill>
                  <a:schemeClr val="accent3">
                    <a:lumMod val="80000"/>
                    <a:lumOff val="20000"/>
                  </a:schemeClr>
                </a:solidFill>
                <a:round/>
              </a:ln>
              <a:effectLst/>
            </c:spPr>
            <c:extLst>
              <c:ext xmlns:c16="http://schemas.microsoft.com/office/drawing/2014/chart" uri="{C3380CC4-5D6E-409C-BE32-E72D297353CC}">
                <c16:uniqueId val="{0000001F-998B-426A-864B-12F73B564E2D}"/>
              </c:ext>
            </c:extLst>
          </c:dPt>
          <c:dPt>
            <c:idx val="15"/>
            <c:marker>
              <c:spPr>
                <a:solidFill>
                  <a:schemeClr val="accent5">
                    <a:lumMod val="80000"/>
                    <a:lumOff val="20000"/>
                  </a:schemeClr>
                </a:solidFill>
                <a:ln w="9525">
                  <a:solidFill>
                    <a:schemeClr val="accent5">
                      <a:lumMod val="80000"/>
                      <a:lumOff val="20000"/>
                    </a:schemeClr>
                  </a:solidFill>
                </a:ln>
                <a:effectLst/>
              </c:spPr>
            </c:marker>
            <c:bubble3D val="0"/>
            <c:spPr>
              <a:ln w="28575" cap="rnd">
                <a:solidFill>
                  <a:schemeClr val="accent4">
                    <a:lumMod val="80000"/>
                    <a:lumOff val="20000"/>
                  </a:schemeClr>
                </a:solidFill>
                <a:round/>
              </a:ln>
              <a:effectLst/>
            </c:spPr>
            <c:extLst>
              <c:ext xmlns:c16="http://schemas.microsoft.com/office/drawing/2014/chart" uri="{C3380CC4-5D6E-409C-BE32-E72D297353CC}">
                <c16:uniqueId val="{00000021-998B-426A-864B-12F73B564E2D}"/>
              </c:ext>
            </c:extLst>
          </c:dPt>
          <c:dPt>
            <c:idx val="16"/>
            <c:marker>
              <c:spPr>
                <a:solidFill>
                  <a:schemeClr val="accent6">
                    <a:lumMod val="80000"/>
                    <a:lumOff val="20000"/>
                  </a:schemeClr>
                </a:solidFill>
                <a:ln w="9525">
                  <a:solidFill>
                    <a:schemeClr val="accent6">
                      <a:lumMod val="80000"/>
                      <a:lumOff val="20000"/>
                    </a:schemeClr>
                  </a:solidFill>
                </a:ln>
                <a:effectLst/>
              </c:spPr>
            </c:marker>
            <c:bubble3D val="0"/>
            <c:spPr>
              <a:ln w="28575" cap="rnd">
                <a:solidFill>
                  <a:schemeClr val="accent5">
                    <a:lumMod val="80000"/>
                    <a:lumOff val="20000"/>
                  </a:schemeClr>
                </a:solidFill>
                <a:round/>
              </a:ln>
              <a:effectLst/>
            </c:spPr>
            <c:extLst>
              <c:ext xmlns:c16="http://schemas.microsoft.com/office/drawing/2014/chart" uri="{C3380CC4-5D6E-409C-BE32-E72D297353CC}">
                <c16:uniqueId val="{00000023-998B-426A-864B-12F73B564E2D}"/>
              </c:ext>
            </c:extLst>
          </c:dPt>
          <c:dPt>
            <c:idx val="17"/>
            <c:marker>
              <c:spPr>
                <a:solidFill>
                  <a:schemeClr val="accent1">
                    <a:lumMod val="80000"/>
                  </a:schemeClr>
                </a:solidFill>
                <a:ln w="9525">
                  <a:solidFill>
                    <a:schemeClr val="accent1">
                      <a:lumMod val="80000"/>
                    </a:schemeClr>
                  </a:solidFill>
                </a:ln>
                <a:effectLst/>
              </c:spPr>
            </c:marker>
            <c:bubble3D val="0"/>
            <c:spPr>
              <a:ln w="28575" cap="rnd">
                <a:solidFill>
                  <a:schemeClr val="accent6">
                    <a:lumMod val="80000"/>
                    <a:lumOff val="20000"/>
                  </a:schemeClr>
                </a:solidFill>
                <a:round/>
              </a:ln>
              <a:effectLst/>
            </c:spPr>
            <c:extLst>
              <c:ext xmlns:c16="http://schemas.microsoft.com/office/drawing/2014/chart" uri="{C3380CC4-5D6E-409C-BE32-E72D297353CC}">
                <c16:uniqueId val="{00000025-998B-426A-864B-12F73B564E2D}"/>
              </c:ext>
            </c:extLst>
          </c:dPt>
          <c:dPt>
            <c:idx val="18"/>
            <c:marker>
              <c:spPr>
                <a:solidFill>
                  <a:schemeClr val="accent2">
                    <a:lumMod val="80000"/>
                  </a:schemeClr>
                </a:solidFill>
                <a:ln w="9525">
                  <a:solidFill>
                    <a:schemeClr val="accent2">
                      <a:lumMod val="80000"/>
                    </a:schemeClr>
                  </a:solidFill>
                </a:ln>
                <a:effectLst/>
              </c:spPr>
            </c:marker>
            <c:bubble3D val="0"/>
            <c:spPr>
              <a:ln w="28575" cap="rnd">
                <a:solidFill>
                  <a:schemeClr val="accent1">
                    <a:lumMod val="80000"/>
                  </a:schemeClr>
                </a:solidFill>
                <a:round/>
              </a:ln>
              <a:effectLst/>
            </c:spPr>
            <c:extLst>
              <c:ext xmlns:c16="http://schemas.microsoft.com/office/drawing/2014/chart" uri="{C3380CC4-5D6E-409C-BE32-E72D297353CC}">
                <c16:uniqueId val="{00000027-998B-426A-864B-12F73B564E2D}"/>
              </c:ext>
            </c:extLst>
          </c:dPt>
          <c:dPt>
            <c:idx val="19"/>
            <c:marker>
              <c:spPr>
                <a:solidFill>
                  <a:schemeClr val="accent3">
                    <a:lumMod val="80000"/>
                  </a:schemeClr>
                </a:solidFill>
                <a:ln w="9525">
                  <a:solidFill>
                    <a:schemeClr val="accent3">
                      <a:lumMod val="80000"/>
                    </a:schemeClr>
                  </a:solidFill>
                </a:ln>
                <a:effectLst/>
              </c:spPr>
            </c:marker>
            <c:bubble3D val="0"/>
            <c:spPr>
              <a:ln w="28575" cap="rnd">
                <a:solidFill>
                  <a:schemeClr val="accent2">
                    <a:lumMod val="80000"/>
                  </a:schemeClr>
                </a:solidFill>
                <a:round/>
              </a:ln>
              <a:effectLst/>
            </c:spPr>
            <c:extLst>
              <c:ext xmlns:c16="http://schemas.microsoft.com/office/drawing/2014/chart" uri="{C3380CC4-5D6E-409C-BE32-E72D297353CC}">
                <c16:uniqueId val="{00000029-998B-426A-864B-12F73B564E2D}"/>
              </c:ext>
            </c:extLst>
          </c:dPt>
          <c:dPt>
            <c:idx val="20"/>
            <c:marker>
              <c:spPr>
                <a:solidFill>
                  <a:schemeClr val="accent4">
                    <a:lumMod val="80000"/>
                  </a:schemeClr>
                </a:solidFill>
                <a:ln w="9525">
                  <a:solidFill>
                    <a:schemeClr val="accent4">
                      <a:lumMod val="80000"/>
                    </a:schemeClr>
                  </a:solidFill>
                </a:ln>
                <a:effectLst/>
              </c:spPr>
            </c:marker>
            <c:bubble3D val="0"/>
            <c:spPr>
              <a:ln w="28575" cap="rnd">
                <a:solidFill>
                  <a:schemeClr val="accent3">
                    <a:lumMod val="80000"/>
                  </a:schemeClr>
                </a:solidFill>
                <a:round/>
              </a:ln>
              <a:effectLst/>
            </c:spPr>
            <c:extLst>
              <c:ext xmlns:c16="http://schemas.microsoft.com/office/drawing/2014/chart" uri="{C3380CC4-5D6E-409C-BE32-E72D297353CC}">
                <c16:uniqueId val="{0000002B-998B-426A-864B-12F73B564E2D}"/>
              </c:ext>
            </c:extLst>
          </c:dPt>
          <c:dPt>
            <c:idx val="21"/>
            <c:marker>
              <c:spPr>
                <a:solidFill>
                  <a:schemeClr val="accent5">
                    <a:lumMod val="80000"/>
                  </a:schemeClr>
                </a:solidFill>
                <a:ln w="9525">
                  <a:solidFill>
                    <a:schemeClr val="accent5">
                      <a:lumMod val="80000"/>
                    </a:schemeClr>
                  </a:solidFill>
                </a:ln>
                <a:effectLst/>
              </c:spPr>
            </c:marker>
            <c:bubble3D val="0"/>
            <c:spPr>
              <a:ln w="28575" cap="rnd">
                <a:solidFill>
                  <a:schemeClr val="accent4">
                    <a:lumMod val="80000"/>
                  </a:schemeClr>
                </a:solidFill>
                <a:round/>
              </a:ln>
              <a:effectLst/>
            </c:spPr>
            <c:extLst>
              <c:ext xmlns:c16="http://schemas.microsoft.com/office/drawing/2014/chart" uri="{C3380CC4-5D6E-409C-BE32-E72D297353CC}">
                <c16:uniqueId val="{0000002D-998B-426A-864B-12F73B564E2D}"/>
              </c:ext>
            </c:extLst>
          </c:dPt>
          <c:dPt>
            <c:idx val="22"/>
            <c:marker>
              <c:spPr>
                <a:solidFill>
                  <a:schemeClr val="accent6">
                    <a:lumMod val="80000"/>
                  </a:schemeClr>
                </a:solidFill>
                <a:ln w="9525">
                  <a:solidFill>
                    <a:schemeClr val="accent6">
                      <a:lumMod val="80000"/>
                    </a:schemeClr>
                  </a:solidFill>
                </a:ln>
                <a:effectLst/>
              </c:spPr>
            </c:marker>
            <c:bubble3D val="0"/>
            <c:spPr>
              <a:ln w="28575" cap="rnd">
                <a:solidFill>
                  <a:schemeClr val="accent5">
                    <a:lumMod val="80000"/>
                  </a:schemeClr>
                </a:solidFill>
                <a:round/>
              </a:ln>
              <a:effectLst/>
            </c:spPr>
            <c:extLst>
              <c:ext xmlns:c16="http://schemas.microsoft.com/office/drawing/2014/chart" uri="{C3380CC4-5D6E-409C-BE32-E72D297353CC}">
                <c16:uniqueId val="{0000002F-998B-426A-864B-12F73B564E2D}"/>
              </c:ext>
            </c:extLst>
          </c:dPt>
          <c:dPt>
            <c:idx val="23"/>
            <c:marker>
              <c:spPr>
                <a:solidFill>
                  <a:schemeClr val="accent1">
                    <a:lumMod val="60000"/>
                    <a:lumOff val="40000"/>
                  </a:schemeClr>
                </a:solidFill>
                <a:ln w="9525">
                  <a:solidFill>
                    <a:schemeClr val="accent1">
                      <a:lumMod val="60000"/>
                      <a:lumOff val="40000"/>
                    </a:schemeClr>
                  </a:solidFill>
                </a:ln>
                <a:effectLst/>
              </c:spPr>
            </c:marker>
            <c:bubble3D val="0"/>
            <c:spPr>
              <a:ln w="28575" cap="rnd">
                <a:solidFill>
                  <a:schemeClr val="accent6">
                    <a:lumMod val="80000"/>
                  </a:schemeClr>
                </a:solidFill>
                <a:round/>
              </a:ln>
              <a:effectLst/>
            </c:spPr>
            <c:extLst>
              <c:ext xmlns:c16="http://schemas.microsoft.com/office/drawing/2014/chart" uri="{C3380CC4-5D6E-409C-BE32-E72D297353CC}">
                <c16:uniqueId val="{00000031-998B-426A-864B-12F73B564E2D}"/>
              </c:ext>
            </c:extLst>
          </c:dPt>
          <c:dPt>
            <c:idx val="24"/>
            <c:marker>
              <c:spPr>
                <a:solidFill>
                  <a:schemeClr val="accent2">
                    <a:lumMod val="60000"/>
                    <a:lumOff val="40000"/>
                  </a:schemeClr>
                </a:solidFill>
                <a:ln w="9525">
                  <a:solidFill>
                    <a:schemeClr val="accent2">
                      <a:lumMod val="60000"/>
                      <a:lumOff val="40000"/>
                    </a:schemeClr>
                  </a:solidFill>
                </a:ln>
                <a:effectLst/>
              </c:spPr>
            </c:marker>
            <c:bubble3D val="0"/>
            <c:spPr>
              <a:ln w="28575" cap="rnd">
                <a:solidFill>
                  <a:schemeClr val="accent1">
                    <a:lumMod val="60000"/>
                    <a:lumOff val="40000"/>
                  </a:schemeClr>
                </a:solidFill>
                <a:round/>
              </a:ln>
              <a:effectLst/>
            </c:spPr>
            <c:extLst>
              <c:ext xmlns:c16="http://schemas.microsoft.com/office/drawing/2014/chart" uri="{C3380CC4-5D6E-409C-BE32-E72D297353CC}">
                <c16:uniqueId val="{00000033-998B-426A-864B-12F73B564E2D}"/>
              </c:ext>
            </c:extLst>
          </c:dPt>
          <c:dPt>
            <c:idx val="25"/>
            <c:marker>
              <c:spPr>
                <a:solidFill>
                  <a:schemeClr val="accent3">
                    <a:lumMod val="60000"/>
                    <a:lumOff val="40000"/>
                  </a:schemeClr>
                </a:solidFill>
                <a:ln w="9525">
                  <a:solidFill>
                    <a:schemeClr val="accent3">
                      <a:lumMod val="60000"/>
                      <a:lumOff val="40000"/>
                    </a:schemeClr>
                  </a:solidFill>
                </a:ln>
                <a:effectLst/>
              </c:spPr>
            </c:marker>
            <c:bubble3D val="0"/>
            <c:spPr>
              <a:ln w="28575" cap="rnd">
                <a:solidFill>
                  <a:schemeClr val="accent2">
                    <a:lumMod val="60000"/>
                    <a:lumOff val="40000"/>
                  </a:schemeClr>
                </a:solidFill>
                <a:round/>
              </a:ln>
              <a:effectLst/>
            </c:spPr>
            <c:extLst>
              <c:ext xmlns:c16="http://schemas.microsoft.com/office/drawing/2014/chart" uri="{C3380CC4-5D6E-409C-BE32-E72D297353CC}">
                <c16:uniqueId val="{00000035-998B-426A-864B-12F73B564E2D}"/>
              </c:ext>
            </c:extLst>
          </c:dPt>
          <c:dPt>
            <c:idx val="26"/>
            <c:marker>
              <c:spPr>
                <a:solidFill>
                  <a:schemeClr val="accent4">
                    <a:lumMod val="60000"/>
                    <a:lumOff val="40000"/>
                  </a:schemeClr>
                </a:solidFill>
                <a:ln w="9525">
                  <a:solidFill>
                    <a:schemeClr val="accent4">
                      <a:lumMod val="60000"/>
                      <a:lumOff val="40000"/>
                    </a:schemeClr>
                  </a:solidFill>
                </a:ln>
                <a:effectLst/>
              </c:spPr>
            </c:marker>
            <c:bubble3D val="0"/>
            <c:spPr>
              <a:ln w="28575" cap="rnd">
                <a:solidFill>
                  <a:schemeClr val="accent3">
                    <a:lumMod val="60000"/>
                    <a:lumOff val="40000"/>
                  </a:schemeClr>
                </a:solidFill>
                <a:round/>
              </a:ln>
              <a:effectLst/>
            </c:spPr>
            <c:extLst>
              <c:ext xmlns:c16="http://schemas.microsoft.com/office/drawing/2014/chart" uri="{C3380CC4-5D6E-409C-BE32-E72D297353CC}">
                <c16:uniqueId val="{00000037-998B-426A-864B-12F73B564E2D}"/>
              </c:ext>
            </c:extLst>
          </c:dPt>
          <c:dPt>
            <c:idx val="27"/>
            <c:marker>
              <c:spPr>
                <a:solidFill>
                  <a:schemeClr val="accent5">
                    <a:lumMod val="60000"/>
                    <a:lumOff val="40000"/>
                  </a:schemeClr>
                </a:solidFill>
                <a:ln w="9525">
                  <a:solidFill>
                    <a:schemeClr val="accent5">
                      <a:lumMod val="60000"/>
                      <a:lumOff val="40000"/>
                    </a:schemeClr>
                  </a:solidFill>
                </a:ln>
                <a:effectLst/>
              </c:spPr>
            </c:marker>
            <c:bubble3D val="0"/>
            <c:spPr>
              <a:ln w="28575" cap="rnd">
                <a:solidFill>
                  <a:schemeClr val="accent4">
                    <a:lumMod val="60000"/>
                    <a:lumOff val="40000"/>
                  </a:schemeClr>
                </a:solidFill>
                <a:round/>
              </a:ln>
              <a:effectLst/>
            </c:spPr>
            <c:extLst>
              <c:ext xmlns:c16="http://schemas.microsoft.com/office/drawing/2014/chart" uri="{C3380CC4-5D6E-409C-BE32-E72D297353CC}">
                <c16:uniqueId val="{00000039-998B-426A-864B-12F73B564E2D}"/>
              </c:ext>
            </c:extLst>
          </c:dPt>
          <c:dPt>
            <c:idx val="28"/>
            <c:marker>
              <c:spPr>
                <a:solidFill>
                  <a:schemeClr val="accent6">
                    <a:lumMod val="60000"/>
                    <a:lumOff val="40000"/>
                  </a:schemeClr>
                </a:solidFill>
                <a:ln w="9525">
                  <a:solidFill>
                    <a:schemeClr val="accent6">
                      <a:lumMod val="60000"/>
                      <a:lumOff val="40000"/>
                    </a:schemeClr>
                  </a:solidFill>
                </a:ln>
                <a:effectLst/>
              </c:spPr>
            </c:marker>
            <c:bubble3D val="0"/>
            <c:spPr>
              <a:ln w="28575" cap="rnd">
                <a:solidFill>
                  <a:schemeClr val="accent5">
                    <a:lumMod val="60000"/>
                    <a:lumOff val="40000"/>
                  </a:schemeClr>
                </a:solidFill>
                <a:round/>
              </a:ln>
              <a:effectLst/>
            </c:spPr>
            <c:extLst>
              <c:ext xmlns:c16="http://schemas.microsoft.com/office/drawing/2014/chart" uri="{C3380CC4-5D6E-409C-BE32-E72D297353CC}">
                <c16:uniqueId val="{0000003B-998B-426A-864B-12F73B564E2D}"/>
              </c:ext>
            </c:extLst>
          </c:dPt>
          <c:dPt>
            <c:idx val="29"/>
            <c:marker>
              <c:spPr>
                <a:solidFill>
                  <a:schemeClr val="accent1">
                    <a:lumMod val="50000"/>
                  </a:schemeClr>
                </a:solidFill>
                <a:ln w="9525">
                  <a:solidFill>
                    <a:schemeClr val="accent1">
                      <a:lumMod val="50000"/>
                    </a:schemeClr>
                  </a:solidFill>
                </a:ln>
                <a:effectLst/>
              </c:spPr>
            </c:marker>
            <c:bubble3D val="0"/>
            <c:spPr>
              <a:ln w="28575" cap="rnd">
                <a:solidFill>
                  <a:schemeClr val="accent6">
                    <a:lumMod val="60000"/>
                    <a:lumOff val="40000"/>
                  </a:schemeClr>
                </a:solidFill>
                <a:round/>
              </a:ln>
              <a:effectLst/>
            </c:spPr>
            <c:extLst>
              <c:ext xmlns:c16="http://schemas.microsoft.com/office/drawing/2014/chart" uri="{C3380CC4-5D6E-409C-BE32-E72D297353CC}">
                <c16:uniqueId val="{0000003D-998B-426A-864B-12F73B564E2D}"/>
              </c:ext>
            </c:extLst>
          </c:dPt>
          <c:dPt>
            <c:idx val="30"/>
            <c:marker>
              <c:spPr>
                <a:solidFill>
                  <a:schemeClr val="accent2">
                    <a:lumMod val="50000"/>
                  </a:schemeClr>
                </a:solidFill>
                <a:ln w="9525">
                  <a:solidFill>
                    <a:schemeClr val="accent2">
                      <a:lumMod val="50000"/>
                    </a:schemeClr>
                  </a:solidFill>
                </a:ln>
                <a:effectLst/>
              </c:spPr>
            </c:marker>
            <c:bubble3D val="0"/>
            <c:spPr>
              <a:ln w="28575" cap="rnd">
                <a:solidFill>
                  <a:schemeClr val="accent1">
                    <a:lumMod val="50000"/>
                  </a:schemeClr>
                </a:solidFill>
                <a:round/>
              </a:ln>
              <a:effectLst/>
            </c:spPr>
            <c:extLst>
              <c:ext xmlns:c16="http://schemas.microsoft.com/office/drawing/2014/chart" uri="{C3380CC4-5D6E-409C-BE32-E72D297353CC}">
                <c16:uniqueId val="{0000003F-998B-426A-864B-12F73B564E2D}"/>
              </c:ext>
            </c:extLst>
          </c:dPt>
          <c:dPt>
            <c:idx val="31"/>
            <c:marker>
              <c:spPr>
                <a:solidFill>
                  <a:schemeClr val="accent3">
                    <a:lumMod val="50000"/>
                  </a:schemeClr>
                </a:solidFill>
                <a:ln w="9525">
                  <a:solidFill>
                    <a:schemeClr val="accent3">
                      <a:lumMod val="50000"/>
                    </a:schemeClr>
                  </a:solidFill>
                </a:ln>
                <a:effectLst/>
              </c:spPr>
            </c:marker>
            <c:bubble3D val="0"/>
            <c:spPr>
              <a:ln w="28575" cap="rnd">
                <a:solidFill>
                  <a:schemeClr val="accent2">
                    <a:lumMod val="50000"/>
                  </a:schemeClr>
                </a:solidFill>
                <a:round/>
              </a:ln>
              <a:effectLst/>
            </c:spPr>
            <c:extLst>
              <c:ext xmlns:c16="http://schemas.microsoft.com/office/drawing/2014/chart" uri="{C3380CC4-5D6E-409C-BE32-E72D297353CC}">
                <c16:uniqueId val="{00000041-998B-426A-864B-12F73B564E2D}"/>
              </c:ext>
            </c:extLst>
          </c:dPt>
          <c:dPt>
            <c:idx val="32"/>
            <c:marker>
              <c:spPr>
                <a:solidFill>
                  <a:schemeClr val="accent4">
                    <a:lumMod val="50000"/>
                  </a:schemeClr>
                </a:solidFill>
                <a:ln w="9525">
                  <a:solidFill>
                    <a:schemeClr val="accent4">
                      <a:lumMod val="50000"/>
                    </a:schemeClr>
                  </a:solidFill>
                </a:ln>
                <a:effectLst/>
              </c:spPr>
            </c:marker>
            <c:bubble3D val="0"/>
            <c:spPr>
              <a:ln w="28575" cap="rnd">
                <a:solidFill>
                  <a:schemeClr val="accent3">
                    <a:lumMod val="50000"/>
                  </a:schemeClr>
                </a:solidFill>
                <a:round/>
              </a:ln>
              <a:effectLst/>
            </c:spPr>
            <c:extLst>
              <c:ext xmlns:c16="http://schemas.microsoft.com/office/drawing/2014/chart" uri="{C3380CC4-5D6E-409C-BE32-E72D297353CC}">
                <c16:uniqueId val="{00000043-998B-426A-864B-12F73B564E2D}"/>
              </c:ext>
            </c:extLst>
          </c:dPt>
          <c:dPt>
            <c:idx val="33"/>
            <c:marker>
              <c:spPr>
                <a:solidFill>
                  <a:schemeClr val="accent5">
                    <a:lumMod val="50000"/>
                  </a:schemeClr>
                </a:solidFill>
                <a:ln w="9525">
                  <a:solidFill>
                    <a:schemeClr val="accent5">
                      <a:lumMod val="50000"/>
                    </a:schemeClr>
                  </a:solidFill>
                </a:ln>
                <a:effectLst/>
              </c:spPr>
            </c:marker>
            <c:bubble3D val="0"/>
            <c:spPr>
              <a:ln w="28575" cap="rnd">
                <a:solidFill>
                  <a:schemeClr val="accent4">
                    <a:lumMod val="50000"/>
                  </a:schemeClr>
                </a:solidFill>
                <a:round/>
              </a:ln>
              <a:effectLst/>
            </c:spPr>
            <c:extLst>
              <c:ext xmlns:c16="http://schemas.microsoft.com/office/drawing/2014/chart" uri="{C3380CC4-5D6E-409C-BE32-E72D297353CC}">
                <c16:uniqueId val="{00000045-998B-426A-864B-12F73B564E2D}"/>
              </c:ext>
            </c:extLst>
          </c:dPt>
          <c:dPt>
            <c:idx val="34"/>
            <c:marker>
              <c:spPr>
                <a:solidFill>
                  <a:schemeClr val="accent6">
                    <a:lumMod val="50000"/>
                  </a:schemeClr>
                </a:solidFill>
                <a:ln w="9525">
                  <a:solidFill>
                    <a:schemeClr val="accent6">
                      <a:lumMod val="50000"/>
                    </a:schemeClr>
                  </a:solidFill>
                </a:ln>
                <a:effectLst/>
              </c:spPr>
            </c:marker>
            <c:bubble3D val="0"/>
            <c:spPr>
              <a:ln w="28575" cap="rnd">
                <a:solidFill>
                  <a:schemeClr val="accent5">
                    <a:lumMod val="50000"/>
                  </a:schemeClr>
                </a:solidFill>
                <a:round/>
              </a:ln>
              <a:effectLst/>
            </c:spPr>
            <c:extLst>
              <c:ext xmlns:c16="http://schemas.microsoft.com/office/drawing/2014/chart" uri="{C3380CC4-5D6E-409C-BE32-E72D297353CC}">
                <c16:uniqueId val="{00000047-998B-426A-864B-12F73B564E2D}"/>
              </c:ext>
            </c:extLst>
          </c:dPt>
          <c:dPt>
            <c:idx val="35"/>
            <c:marker>
              <c:spPr>
                <a:solidFill>
                  <a:schemeClr val="accent1">
                    <a:lumMod val="70000"/>
                    <a:lumOff val="30000"/>
                  </a:schemeClr>
                </a:solidFill>
                <a:ln w="9525">
                  <a:solidFill>
                    <a:schemeClr val="accent1">
                      <a:lumMod val="70000"/>
                      <a:lumOff val="30000"/>
                    </a:schemeClr>
                  </a:solidFill>
                </a:ln>
                <a:effectLst/>
              </c:spPr>
            </c:marker>
            <c:bubble3D val="0"/>
            <c:spPr>
              <a:ln w="28575" cap="rnd">
                <a:solidFill>
                  <a:schemeClr val="accent6">
                    <a:lumMod val="50000"/>
                  </a:schemeClr>
                </a:solidFill>
                <a:round/>
              </a:ln>
              <a:effectLst/>
            </c:spPr>
            <c:extLst>
              <c:ext xmlns:c16="http://schemas.microsoft.com/office/drawing/2014/chart" uri="{C3380CC4-5D6E-409C-BE32-E72D297353CC}">
                <c16:uniqueId val="{00000049-998B-426A-864B-12F73B564E2D}"/>
              </c:ext>
            </c:extLst>
          </c:dPt>
          <c:dPt>
            <c:idx val="36"/>
            <c:marker>
              <c:spPr>
                <a:solidFill>
                  <a:schemeClr val="accent2">
                    <a:lumMod val="70000"/>
                    <a:lumOff val="30000"/>
                  </a:schemeClr>
                </a:solidFill>
                <a:ln w="9525">
                  <a:solidFill>
                    <a:schemeClr val="accent2">
                      <a:lumMod val="70000"/>
                      <a:lumOff val="30000"/>
                    </a:schemeClr>
                  </a:solidFill>
                </a:ln>
                <a:effectLst/>
              </c:spPr>
            </c:marker>
            <c:bubble3D val="0"/>
            <c:spPr>
              <a:ln w="28575" cap="rnd">
                <a:solidFill>
                  <a:schemeClr val="accent1">
                    <a:lumMod val="70000"/>
                    <a:lumOff val="30000"/>
                  </a:schemeClr>
                </a:solidFill>
                <a:round/>
              </a:ln>
              <a:effectLst/>
            </c:spPr>
            <c:extLst>
              <c:ext xmlns:c16="http://schemas.microsoft.com/office/drawing/2014/chart" uri="{C3380CC4-5D6E-409C-BE32-E72D297353CC}">
                <c16:uniqueId val="{0000004B-998B-426A-864B-12F73B564E2D}"/>
              </c:ext>
            </c:extLst>
          </c:dPt>
          <c:cat>
            <c:numRef>
              <c:f>Transplants_Over_Time!$A$4:$A$41</c:f>
              <c:numCache>
                <c:formatCode>General</c:formatCode>
                <c:ptCount val="37"/>
                <c:pt idx="0">
                  <c:v>1989</c:v>
                </c:pt>
                <c:pt idx="1">
                  <c:v>1990</c:v>
                </c:pt>
                <c:pt idx="2">
                  <c:v>1991</c:v>
                </c:pt>
                <c:pt idx="3">
                  <c:v>1992</c:v>
                </c:pt>
                <c:pt idx="4">
                  <c:v>1993</c:v>
                </c:pt>
                <c:pt idx="5">
                  <c:v>1994</c:v>
                </c:pt>
                <c:pt idx="6">
                  <c:v>1995</c:v>
                </c:pt>
                <c:pt idx="7">
                  <c:v>1996</c:v>
                </c:pt>
                <c:pt idx="8">
                  <c:v>1997</c:v>
                </c:pt>
                <c:pt idx="9">
                  <c:v>1998</c:v>
                </c:pt>
                <c:pt idx="10">
                  <c:v>1999</c:v>
                </c:pt>
                <c:pt idx="11">
                  <c:v>2000</c:v>
                </c:pt>
                <c:pt idx="12">
                  <c:v>2001</c:v>
                </c:pt>
                <c:pt idx="13">
                  <c:v>2002</c:v>
                </c:pt>
                <c:pt idx="14">
                  <c:v>2003</c:v>
                </c:pt>
                <c:pt idx="15">
                  <c:v>2004</c:v>
                </c:pt>
                <c:pt idx="16">
                  <c:v>2005</c:v>
                </c:pt>
                <c:pt idx="17">
                  <c:v>2006</c:v>
                </c:pt>
                <c:pt idx="18">
                  <c:v>2007</c:v>
                </c:pt>
                <c:pt idx="19">
                  <c:v>2008</c:v>
                </c:pt>
                <c:pt idx="20">
                  <c:v>2009</c:v>
                </c:pt>
                <c:pt idx="21">
                  <c:v>2010</c:v>
                </c:pt>
                <c:pt idx="22">
                  <c:v>2011</c:v>
                </c:pt>
                <c:pt idx="23">
                  <c:v>2012</c:v>
                </c:pt>
                <c:pt idx="24">
                  <c:v>2013</c:v>
                </c:pt>
                <c:pt idx="25">
                  <c:v>2014</c:v>
                </c:pt>
                <c:pt idx="26">
                  <c:v>2015</c:v>
                </c:pt>
                <c:pt idx="27">
                  <c:v>2016</c:v>
                </c:pt>
                <c:pt idx="28">
                  <c:v>2017</c:v>
                </c:pt>
                <c:pt idx="29">
                  <c:v>2018</c:v>
                </c:pt>
                <c:pt idx="30">
                  <c:v>2019</c:v>
                </c:pt>
                <c:pt idx="31">
                  <c:v>2020</c:v>
                </c:pt>
                <c:pt idx="32">
                  <c:v>2021</c:v>
                </c:pt>
                <c:pt idx="33">
                  <c:v>2022</c:v>
                </c:pt>
                <c:pt idx="34">
                  <c:v>2023</c:v>
                </c:pt>
                <c:pt idx="35">
                  <c:v>2024</c:v>
                </c:pt>
                <c:pt idx="36">
                  <c:v>2025</c:v>
                </c:pt>
              </c:numCache>
              <c:extLst/>
            </c:numRef>
          </c:cat>
          <c:val>
            <c:numRef>
              <c:f>Transplants_Over_Time!$B$4:$B$41</c:f>
              <c:numCache>
                <c:formatCode>General</c:formatCode>
                <c:ptCount val="37"/>
                <c:pt idx="0">
                  <c:v>13140</c:v>
                </c:pt>
                <c:pt idx="1">
                  <c:v>15001</c:v>
                </c:pt>
                <c:pt idx="2">
                  <c:v>15756</c:v>
                </c:pt>
                <c:pt idx="3">
                  <c:v>16134</c:v>
                </c:pt>
                <c:pt idx="4">
                  <c:v>17631</c:v>
                </c:pt>
                <c:pt idx="5">
                  <c:v>18299</c:v>
                </c:pt>
                <c:pt idx="6">
                  <c:v>19396</c:v>
                </c:pt>
                <c:pt idx="7">
                  <c:v>19765</c:v>
                </c:pt>
                <c:pt idx="8">
                  <c:v>20316</c:v>
                </c:pt>
                <c:pt idx="9">
                  <c:v>21526</c:v>
                </c:pt>
                <c:pt idx="10">
                  <c:v>22030</c:v>
                </c:pt>
                <c:pt idx="11">
                  <c:v>23274</c:v>
                </c:pt>
                <c:pt idx="12">
                  <c:v>24243</c:v>
                </c:pt>
                <c:pt idx="13">
                  <c:v>24916</c:v>
                </c:pt>
                <c:pt idx="14">
                  <c:v>25475</c:v>
                </c:pt>
                <c:pt idx="15">
                  <c:v>27042</c:v>
                </c:pt>
                <c:pt idx="16">
                  <c:v>28119</c:v>
                </c:pt>
                <c:pt idx="17">
                  <c:v>28941</c:v>
                </c:pt>
                <c:pt idx="18">
                  <c:v>28366</c:v>
                </c:pt>
                <c:pt idx="19">
                  <c:v>27967</c:v>
                </c:pt>
                <c:pt idx="20">
                  <c:v>28463</c:v>
                </c:pt>
                <c:pt idx="21">
                  <c:v>28668</c:v>
                </c:pt>
                <c:pt idx="22">
                  <c:v>28553</c:v>
                </c:pt>
                <c:pt idx="23">
                  <c:v>28059</c:v>
                </c:pt>
                <c:pt idx="24">
                  <c:v>28956</c:v>
                </c:pt>
                <c:pt idx="25">
                  <c:v>29540</c:v>
                </c:pt>
                <c:pt idx="26">
                  <c:v>30974</c:v>
                </c:pt>
                <c:pt idx="27">
                  <c:v>33610</c:v>
                </c:pt>
                <c:pt idx="28">
                  <c:v>34770</c:v>
                </c:pt>
                <c:pt idx="29">
                  <c:v>36530</c:v>
                </c:pt>
                <c:pt idx="30">
                  <c:v>39719</c:v>
                </c:pt>
                <c:pt idx="31">
                  <c:v>39036</c:v>
                </c:pt>
                <c:pt idx="32">
                  <c:v>41356</c:v>
                </c:pt>
                <c:pt idx="33">
                  <c:v>42889</c:v>
                </c:pt>
                <c:pt idx="34">
                  <c:v>46634</c:v>
                </c:pt>
                <c:pt idx="35">
                  <c:v>48150</c:v>
                </c:pt>
                <c:pt idx="36">
                  <c:v>49065</c:v>
                </c:pt>
              </c:numCache>
              <c:extLst/>
            </c:numRef>
          </c:val>
          <c:smooth val="1"/>
          <c:extLst>
            <c:ext xmlns:c16="http://schemas.microsoft.com/office/drawing/2014/chart" uri="{C3380CC4-5D6E-409C-BE32-E72D297353CC}">
              <c16:uniqueId val="{0000004C-998B-426A-864B-12F73B564E2D}"/>
            </c:ext>
          </c:extLst>
        </c:ser>
        <c:dLbls>
          <c:showLegendKey val="0"/>
          <c:showVal val="0"/>
          <c:showCatName val="0"/>
          <c:showSerName val="0"/>
          <c:showPercent val="0"/>
          <c:showBubbleSize val="0"/>
        </c:dLbls>
        <c:marker val="1"/>
        <c:smooth val="0"/>
        <c:axId val="10"/>
        <c:axId val="100"/>
      </c:lineChart>
      <c:catAx>
        <c:axId val="10"/>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dirty="0"/>
                  <a:t>Year</a:t>
                </a:r>
              </a:p>
            </c:rich>
          </c:tx>
          <c:overlay val="1"/>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0"/>
        <c:crosses val="autoZero"/>
        <c:auto val="1"/>
        <c:lblAlgn val="ctr"/>
        <c:lblOffset val="100"/>
        <c:noMultiLvlLbl val="1"/>
      </c:catAx>
      <c:valAx>
        <c:axId val="10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dirty="0"/>
                  <a:t>Transplants</a:t>
                </a:r>
              </a:p>
            </c:rich>
          </c:tx>
          <c:layout>
            <c:manualLayout>
              <c:xMode val="edge"/>
              <c:yMode val="edge"/>
              <c:x val="3.2266734683242967E-2"/>
              <c:y val="0.29473403979014079"/>
            </c:manualLayout>
          </c:layout>
          <c:overlay val="1"/>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
        <c:crosses val="autoZero"/>
        <c:crossBetween val="between"/>
      </c:valAx>
      <c:spPr>
        <a:noFill/>
        <a:ln>
          <a:noFill/>
        </a:ln>
        <a:effectLst/>
      </c:spPr>
    </c:plotArea>
    <c:plotVisOnly val="1"/>
    <c:dispBlanksAs val="gap"/>
    <c:showDLblsOverMax val="1"/>
  </c:chart>
  <c:spPr>
    <a:noFill/>
    <a:ln>
      <a:noFill/>
    </a:ln>
    <a:effectLst/>
  </c:spPr>
  <c:txPr>
    <a:bodyPr/>
    <a:lstStyle/>
    <a:p>
      <a:pP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51638888888889"/>
          <c:y val="0.12437989742807573"/>
          <c:w val="0.79896574074074056"/>
          <c:h val="0.75979231409633119"/>
        </c:manualLayout>
      </c:layout>
      <c:barChart>
        <c:barDir val="col"/>
        <c:grouping val="clustered"/>
        <c:varyColors val="1"/>
        <c:ser>
          <c:idx val="0"/>
          <c:order val="0"/>
          <c:tx>
            <c:strRef>
              <c:f>All_Organs_Sex_Rate!$B$4</c:f>
              <c:strCache>
                <c:ptCount val="1"/>
                <c:pt idx="0">
                  <c:v>Rate_per_100k</c:v>
                </c:pt>
              </c:strCache>
            </c:strRef>
          </c:tx>
          <c:invertIfNegative val="1"/>
          <c:dPt>
            <c:idx val="0"/>
            <c:invertIfNegative val="1"/>
            <c:bubble3D val="0"/>
            <c:spPr>
              <a:solidFill>
                <a:schemeClr val="accent1"/>
              </a:solidFill>
              <a:ln>
                <a:noFill/>
              </a:ln>
              <a:effectLst/>
            </c:spPr>
            <c:extLst>
              <c:ext xmlns:c16="http://schemas.microsoft.com/office/drawing/2014/chart" uri="{C3380CC4-5D6E-409C-BE32-E72D297353CC}">
                <c16:uniqueId val="{00000001-CB9D-4CC1-B09F-A6C4BBE0B3A9}"/>
              </c:ext>
            </c:extLst>
          </c:dPt>
          <c:dPt>
            <c:idx val="1"/>
            <c:invertIfNegative val="1"/>
            <c:bubble3D val="0"/>
            <c:spPr>
              <a:solidFill>
                <a:schemeClr val="accent2"/>
              </a:solidFill>
              <a:ln>
                <a:noFill/>
              </a:ln>
              <a:effectLst/>
            </c:spPr>
            <c:extLst>
              <c:ext xmlns:c16="http://schemas.microsoft.com/office/drawing/2014/chart" uri="{C3380CC4-5D6E-409C-BE32-E72D297353CC}">
                <c16:uniqueId val="{00000003-CB9D-4CC1-B09F-A6C4BBE0B3A9}"/>
              </c:ext>
            </c:extLst>
          </c:dPt>
          <c:dLbls>
            <c:delete val="1"/>
          </c:dLbls>
          <c:cat>
            <c:strRef>
              <c:f>All_Organs_Sex_Rate!$A$5:$A$6</c:f>
              <c:strCache>
                <c:ptCount val="2"/>
                <c:pt idx="0">
                  <c:v>Male</c:v>
                </c:pt>
                <c:pt idx="1">
                  <c:v>Female</c:v>
                </c:pt>
              </c:strCache>
            </c:strRef>
          </c:cat>
          <c:val>
            <c:numRef>
              <c:f>All_Organs_Sex_Rate!$B$5:$B$6</c:f>
              <c:numCache>
                <c:formatCode>0.0</c:formatCode>
                <c:ptCount val="2"/>
                <c:pt idx="0">
                  <c:v>29857</c:v>
                </c:pt>
                <c:pt idx="1">
                  <c:v>19208</c:v>
                </c:pt>
              </c:numCache>
            </c:numRef>
          </c:val>
          <c:extLst>
            <c:ext xmlns:c16="http://schemas.microsoft.com/office/drawing/2014/chart" uri="{C3380CC4-5D6E-409C-BE32-E72D297353CC}">
              <c16:uniqueId val="{00000004-CB9D-4CC1-B09F-A6C4BBE0B3A9}"/>
            </c:ext>
          </c:extLst>
        </c:ser>
        <c:dLbls>
          <c:showLegendKey val="1"/>
          <c:showVal val="1"/>
          <c:showCatName val="1"/>
          <c:showSerName val="1"/>
          <c:showPercent val="1"/>
          <c:showBubbleSize val="1"/>
        </c:dLbls>
        <c:gapWidth val="219"/>
        <c:overlap val="-27"/>
        <c:axId val="10"/>
        <c:axId val="100"/>
      </c:barChart>
      <c:catAx>
        <c:axId val="10"/>
        <c:scaling>
          <c:orientation val="minMax"/>
        </c:scaling>
        <c:delete val="0"/>
        <c:axPos val="b"/>
        <c:title>
          <c:tx>
            <c:rich>
              <a:bodyPr rot="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r>
                  <a:rPr lang="en-US" sz="1400" b="1" dirty="0"/>
                  <a:t>Sex</a:t>
                </a:r>
              </a:p>
            </c:rich>
          </c:tx>
          <c:layout>
            <c:manualLayout>
              <c:xMode val="edge"/>
              <c:yMode val="edge"/>
              <c:x val="0.5018568518518518"/>
              <c:y val="0.93460436089556598"/>
            </c:manualLayout>
          </c:layout>
          <c:overlay val="1"/>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1" i="0" u="none" strike="noStrike" kern="1200" baseline="0">
                <a:solidFill>
                  <a:schemeClr val="tx1">
                    <a:lumMod val="65000"/>
                    <a:lumOff val="35000"/>
                  </a:schemeClr>
                </a:solidFill>
                <a:latin typeface="+mn-lt"/>
                <a:ea typeface="+mn-ea"/>
                <a:cs typeface="+mn-cs"/>
              </a:defRPr>
            </a:pPr>
            <a:endParaRPr lang="en-US"/>
          </a:p>
        </c:txPr>
        <c:crossAx val="100"/>
        <c:crosses val="autoZero"/>
        <c:auto val="1"/>
        <c:lblAlgn val="ctr"/>
        <c:lblOffset val="100"/>
        <c:noMultiLvlLbl val="1"/>
      </c:catAx>
      <c:valAx>
        <c:axId val="10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r>
                  <a:rPr lang="en-US" sz="1400" b="1" dirty="0"/>
                  <a:t>Rate per 100k</a:t>
                </a:r>
              </a:p>
            </c:rich>
          </c:tx>
          <c:layout>
            <c:manualLayout>
              <c:xMode val="edge"/>
              <c:yMode val="edge"/>
              <c:x val="3.7125205350480833E-2"/>
              <c:y val="0.39332949327553512"/>
            </c:manualLayout>
          </c:layout>
          <c:overlay val="1"/>
          <c:spPr>
            <a:noFill/>
            <a:ln>
              <a:noFill/>
            </a:ln>
            <a:effectLst/>
          </c:spPr>
          <c:txPr>
            <a:bodyPr rot="-54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title>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0"/>
        <c:crosses val="autoZero"/>
        <c:crossBetween val="between"/>
      </c:valAx>
      <c:spPr>
        <a:noFill/>
        <a:ln>
          <a:noFill/>
        </a:ln>
        <a:effectLst/>
      </c:spPr>
    </c:plotArea>
    <c:legend>
      <c:legendPos val="b"/>
      <c:layout>
        <c:manualLayout>
          <c:xMode val="edge"/>
          <c:yMode val="edge"/>
          <c:x val="0.78826417331954191"/>
          <c:y val="0.10492293891917551"/>
          <c:w val="0.18678621026821787"/>
          <c:h val="0.29126648673036154"/>
        </c:manualLayout>
      </c:layout>
      <c:overlay val="0"/>
      <c:spPr>
        <a:noFill/>
        <a:ln>
          <a:noFill/>
        </a:ln>
        <a:effectLst/>
      </c:spPr>
      <c:txPr>
        <a:bodyPr rot="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1"/>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443203703703703"/>
          <c:y val="0.18891687657430731"/>
          <c:w val="0.70506796296296292"/>
          <c:h val="0.69532748897571683"/>
        </c:manualLayout>
      </c:layout>
      <c:barChart>
        <c:barDir val="col"/>
        <c:grouping val="clustered"/>
        <c:varyColors val="1"/>
        <c:ser>
          <c:idx val="0"/>
          <c:order val="0"/>
          <c:tx>
            <c:strRef>
              <c:f>All_Organs_Race!$C$4</c:f>
              <c:strCache>
                <c:ptCount val="1"/>
                <c:pt idx="0">
                  <c:v>Share</c:v>
                </c:pt>
              </c:strCache>
            </c:strRef>
          </c:tx>
          <c:invertIfNegative val="1"/>
          <c:dPt>
            <c:idx val="0"/>
            <c:invertIfNegative val="1"/>
            <c:bubble3D val="0"/>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1-C8D9-4A69-9E81-55FD417E9EBB}"/>
              </c:ext>
            </c:extLst>
          </c:dPt>
          <c:dPt>
            <c:idx val="1"/>
            <c:invertIfNegative val="1"/>
            <c:bubble3D val="0"/>
            <c:spPr>
              <a:gradFill rotWithShape="1">
                <a:gsLst>
                  <a:gs pos="0">
                    <a:schemeClr val="accent2">
                      <a:shade val="51000"/>
                      <a:satMod val="130000"/>
                    </a:schemeClr>
                  </a:gs>
                  <a:gs pos="80000">
                    <a:schemeClr val="accent2">
                      <a:shade val="93000"/>
                      <a:satMod val="130000"/>
                    </a:schemeClr>
                  </a:gs>
                  <a:gs pos="100000">
                    <a:schemeClr val="accent2">
                      <a:shade val="94000"/>
                      <a:satMod val="135000"/>
                    </a:schemeClr>
                  </a:gs>
                </a:gsLst>
                <a:lin ang="16200000" scaled="0"/>
              </a:gra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3-C8D9-4A69-9E81-55FD417E9EBB}"/>
              </c:ext>
            </c:extLst>
          </c:dPt>
          <c:dPt>
            <c:idx val="2"/>
            <c:invertIfNegative val="1"/>
            <c:bubble3D val="0"/>
            <c:spPr>
              <a:gradFill rotWithShape="1">
                <a:gsLst>
                  <a:gs pos="0">
                    <a:schemeClr val="accent3">
                      <a:shade val="51000"/>
                      <a:satMod val="130000"/>
                    </a:schemeClr>
                  </a:gs>
                  <a:gs pos="80000">
                    <a:schemeClr val="accent3">
                      <a:shade val="93000"/>
                      <a:satMod val="130000"/>
                    </a:schemeClr>
                  </a:gs>
                  <a:gs pos="100000">
                    <a:schemeClr val="accent3">
                      <a:shade val="94000"/>
                      <a:satMod val="135000"/>
                    </a:schemeClr>
                  </a:gs>
                </a:gsLst>
                <a:lin ang="16200000" scaled="0"/>
              </a:gra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5-C8D9-4A69-9E81-55FD417E9EBB}"/>
              </c:ext>
            </c:extLst>
          </c:dPt>
          <c:dPt>
            <c:idx val="3"/>
            <c:invertIfNegative val="1"/>
            <c:bubble3D val="0"/>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7-C8D9-4A69-9E81-55FD417E9EBB}"/>
              </c:ext>
            </c:extLst>
          </c:dPt>
          <c:dPt>
            <c:idx val="4"/>
            <c:invertIfNegative val="1"/>
            <c:bubble3D val="0"/>
            <c:spPr>
              <a:gradFill rotWithShape="1">
                <a:gsLst>
                  <a:gs pos="0">
                    <a:schemeClr val="accent5">
                      <a:shade val="51000"/>
                      <a:satMod val="130000"/>
                    </a:schemeClr>
                  </a:gs>
                  <a:gs pos="80000">
                    <a:schemeClr val="accent5">
                      <a:shade val="93000"/>
                      <a:satMod val="130000"/>
                    </a:schemeClr>
                  </a:gs>
                  <a:gs pos="100000">
                    <a:schemeClr val="accent5">
                      <a:shade val="94000"/>
                      <a:satMod val="135000"/>
                    </a:schemeClr>
                  </a:gs>
                </a:gsLst>
                <a:lin ang="16200000" scaled="0"/>
              </a:gra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9-C8D9-4A69-9E81-55FD417E9EBB}"/>
              </c:ext>
            </c:extLst>
          </c:dPt>
          <c:dPt>
            <c:idx val="5"/>
            <c:invertIfNegative val="1"/>
            <c:bubble3D val="0"/>
            <c:spPr>
              <a:gradFill rotWithShape="1">
                <a:gsLst>
                  <a:gs pos="0">
                    <a:schemeClr val="accent6">
                      <a:shade val="51000"/>
                      <a:satMod val="130000"/>
                    </a:schemeClr>
                  </a:gs>
                  <a:gs pos="80000">
                    <a:schemeClr val="accent6">
                      <a:shade val="93000"/>
                      <a:satMod val="130000"/>
                    </a:schemeClr>
                  </a:gs>
                  <a:gs pos="100000">
                    <a:schemeClr val="accent6">
                      <a:shade val="94000"/>
                      <a:satMod val="135000"/>
                    </a:schemeClr>
                  </a:gs>
                </a:gsLst>
                <a:lin ang="16200000" scaled="0"/>
              </a:gra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B-C8D9-4A69-9E81-55FD417E9EBB}"/>
              </c:ext>
            </c:extLst>
          </c:dPt>
          <c:dPt>
            <c:idx val="6"/>
            <c:invertIfNegative val="1"/>
            <c:bubble3D val="0"/>
            <c:spPr>
              <a:gradFill rotWithShape="1">
                <a:gsLst>
                  <a:gs pos="0">
                    <a:schemeClr val="accent1">
                      <a:lumMod val="60000"/>
                      <a:shade val="51000"/>
                      <a:satMod val="130000"/>
                    </a:schemeClr>
                  </a:gs>
                  <a:gs pos="80000">
                    <a:schemeClr val="accent1">
                      <a:lumMod val="60000"/>
                      <a:shade val="93000"/>
                      <a:satMod val="130000"/>
                    </a:schemeClr>
                  </a:gs>
                  <a:gs pos="100000">
                    <a:schemeClr val="accent1">
                      <a:lumMod val="60000"/>
                      <a:shade val="94000"/>
                      <a:satMod val="135000"/>
                    </a:schemeClr>
                  </a:gs>
                </a:gsLst>
                <a:lin ang="16200000" scaled="0"/>
              </a:gra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D-C8D9-4A69-9E81-55FD417E9EBB}"/>
              </c:ext>
            </c:extLst>
          </c:dPt>
          <c:dPt>
            <c:idx val="7"/>
            <c:invertIfNegative val="1"/>
            <c:bubble3D val="0"/>
            <c:spPr>
              <a:gradFill rotWithShape="1">
                <a:gsLst>
                  <a:gs pos="0">
                    <a:schemeClr val="accent2">
                      <a:lumMod val="60000"/>
                      <a:shade val="51000"/>
                      <a:satMod val="130000"/>
                    </a:schemeClr>
                  </a:gs>
                  <a:gs pos="80000">
                    <a:schemeClr val="accent2">
                      <a:lumMod val="60000"/>
                      <a:shade val="93000"/>
                      <a:satMod val="130000"/>
                    </a:schemeClr>
                  </a:gs>
                  <a:gs pos="100000">
                    <a:schemeClr val="accent2">
                      <a:lumMod val="60000"/>
                      <a:shade val="94000"/>
                      <a:satMod val="135000"/>
                    </a:schemeClr>
                  </a:gs>
                </a:gsLst>
                <a:lin ang="16200000" scaled="0"/>
              </a:gra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F-C8D9-4A69-9E81-55FD417E9EBB}"/>
              </c:ext>
            </c:extLst>
          </c:dPt>
          <c:dLbls>
            <c:delete val="1"/>
          </c:dLbls>
          <c:cat>
            <c:strRef>
              <c:f>All_Organs_Race!$A$5:$A$12</c:f>
              <c:strCache>
                <c:ptCount val="8"/>
                <c:pt idx="0">
                  <c:v>White</c:v>
                </c:pt>
                <c:pt idx="1">
                  <c:v>Black</c:v>
                </c:pt>
                <c:pt idx="2">
                  <c:v>Hispanic/Latino</c:v>
                </c:pt>
                <c:pt idx="3">
                  <c:v>Asian</c:v>
                </c:pt>
                <c:pt idx="4">
                  <c:v>Unknown</c:v>
                </c:pt>
                <c:pt idx="5">
                  <c:v>Multiracial</c:v>
                </c:pt>
                <c:pt idx="6">
                  <c:v>American Indian/Alaska Native</c:v>
                </c:pt>
                <c:pt idx="7">
                  <c:v>Pacific Islander</c:v>
                </c:pt>
              </c:strCache>
            </c:strRef>
          </c:cat>
          <c:val>
            <c:numRef>
              <c:f>All_Organs_Race!$C$5:$C$12</c:f>
              <c:numCache>
                <c:formatCode>0.0%</c:formatCode>
                <c:ptCount val="8"/>
                <c:pt idx="0">
                  <c:v>0.49191888311423621</c:v>
                </c:pt>
                <c:pt idx="1">
                  <c:v>0.22142056455722001</c:v>
                </c:pt>
                <c:pt idx="2">
                  <c:v>0.1901355344950576</c:v>
                </c:pt>
                <c:pt idx="3">
                  <c:v>5.8901457250585959E-2</c:v>
                </c:pt>
                <c:pt idx="4">
                  <c:v>1.777234281055742E-2</c:v>
                </c:pt>
                <c:pt idx="5">
                  <c:v>7.7448282890043817E-3</c:v>
                </c:pt>
                <c:pt idx="6">
                  <c:v>7.7244471619280549E-3</c:v>
                </c:pt>
                <c:pt idx="7">
                  <c:v>4.3819423214103738E-3</c:v>
                </c:pt>
              </c:numCache>
            </c:numRef>
          </c:val>
          <c:extLst>
            <c:ext xmlns:c16="http://schemas.microsoft.com/office/drawing/2014/chart" uri="{C3380CC4-5D6E-409C-BE32-E72D297353CC}">
              <c16:uniqueId val="{00000010-C8D9-4A69-9E81-55FD417E9EBB}"/>
            </c:ext>
          </c:extLst>
        </c:ser>
        <c:dLbls>
          <c:showLegendKey val="1"/>
          <c:showVal val="1"/>
          <c:showCatName val="1"/>
          <c:showSerName val="1"/>
          <c:showPercent val="1"/>
          <c:showBubbleSize val="1"/>
        </c:dLbls>
        <c:gapWidth val="100"/>
        <c:overlap val="-24"/>
        <c:axId val="10"/>
        <c:axId val="100"/>
      </c:barChart>
      <c:catAx>
        <c:axId val="10"/>
        <c:scaling>
          <c:orientation val="minMax"/>
        </c:scaling>
        <c:delete val="1"/>
        <c:axPos val="b"/>
        <c:title>
          <c:tx>
            <c:rich>
              <a:bodyPr rot="0" spcFirstLastPara="1" vertOverflow="ellipsis" vert="horz" wrap="square" anchor="ctr" anchorCtr="1"/>
              <a:lstStyle/>
              <a:p>
                <a:pPr>
                  <a:defRPr sz="1400" b="1" i="0" u="none" strike="noStrike" kern="1200" baseline="0">
                    <a:solidFill>
                      <a:schemeClr val="tx2"/>
                    </a:solidFill>
                    <a:latin typeface="+mn-lt"/>
                    <a:ea typeface="+mn-ea"/>
                    <a:cs typeface="+mn-cs"/>
                  </a:defRPr>
                </a:pPr>
                <a:r>
                  <a:rPr lang="en-US" sz="1400" dirty="0"/>
                  <a:t>Race/Ethnicity</a:t>
                </a:r>
              </a:p>
            </c:rich>
          </c:tx>
          <c:layout>
            <c:manualLayout>
              <c:xMode val="edge"/>
              <c:yMode val="edge"/>
              <c:x val="0.24778129629629631"/>
              <c:y val="0.93616692120034095"/>
            </c:manualLayout>
          </c:layout>
          <c:overlay val="1"/>
          <c:spPr>
            <a:noFill/>
            <a:ln>
              <a:noFill/>
            </a:ln>
            <a:effectLst/>
          </c:spPr>
          <c:txPr>
            <a:bodyPr rot="0" spcFirstLastPara="1" vertOverflow="ellipsis" vert="horz" wrap="square" anchor="ctr" anchorCtr="1"/>
            <a:lstStyle/>
            <a:p>
              <a:pPr>
                <a:defRPr sz="1400" b="1" i="0" u="none" strike="noStrike" kern="1200" baseline="0">
                  <a:solidFill>
                    <a:schemeClr val="tx2"/>
                  </a:solidFill>
                  <a:latin typeface="+mn-lt"/>
                  <a:ea typeface="+mn-ea"/>
                  <a:cs typeface="+mn-cs"/>
                </a:defRPr>
              </a:pPr>
              <a:endParaRPr lang="en-US"/>
            </a:p>
          </c:txPr>
        </c:title>
        <c:numFmt formatCode="General" sourceLinked="1"/>
        <c:majorTickMark val="none"/>
        <c:minorTickMark val="none"/>
        <c:tickLblPos val="nextTo"/>
        <c:crossAx val="100"/>
        <c:crosses val="autoZero"/>
        <c:auto val="1"/>
        <c:lblAlgn val="ctr"/>
        <c:lblOffset val="100"/>
        <c:noMultiLvlLbl val="1"/>
      </c:catAx>
      <c:valAx>
        <c:axId val="100"/>
        <c:scaling>
          <c:orientation val="minMax"/>
        </c:scaling>
        <c:delete val="0"/>
        <c:axPos val="l"/>
        <c:majorGridlines>
          <c:spPr>
            <a:ln w="9525" cap="flat" cmpd="sng" algn="ctr">
              <a:solidFill>
                <a:schemeClr val="tx2">
                  <a:lumMod val="15000"/>
                  <a:lumOff val="85000"/>
                </a:schemeClr>
              </a:solidFill>
              <a:round/>
            </a:ln>
            <a:effectLst/>
          </c:spPr>
        </c:majorGridlines>
        <c:title>
          <c:tx>
            <c:rich>
              <a:bodyPr rot="-5400000" spcFirstLastPara="1" vertOverflow="ellipsis" vert="horz" wrap="square" anchor="ctr" anchorCtr="1"/>
              <a:lstStyle/>
              <a:p>
                <a:pPr>
                  <a:defRPr sz="1800" b="1" i="0" u="none" strike="noStrike" kern="1200" baseline="0">
                    <a:solidFill>
                      <a:schemeClr val="tx2"/>
                    </a:solidFill>
                    <a:latin typeface="+mn-lt"/>
                    <a:ea typeface="+mn-ea"/>
                    <a:cs typeface="+mn-cs"/>
                  </a:defRPr>
                </a:pPr>
                <a:r>
                  <a:rPr lang="en-US" sz="1800" dirty="0"/>
                  <a:t>Share</a:t>
                </a:r>
              </a:p>
            </c:rich>
          </c:tx>
          <c:layout>
            <c:manualLayout>
              <c:xMode val="edge"/>
              <c:yMode val="edge"/>
              <c:x val="7.0555555555555554E-3"/>
              <c:y val="0.52179866055785851"/>
            </c:manualLayout>
          </c:layout>
          <c:overlay val="1"/>
          <c:spPr>
            <a:noFill/>
            <a:ln>
              <a:noFill/>
            </a:ln>
            <a:effectLst/>
          </c:spPr>
          <c:txPr>
            <a:bodyPr rot="-5400000" spcFirstLastPara="1" vertOverflow="ellipsis" vert="horz" wrap="square" anchor="ctr" anchorCtr="1"/>
            <a:lstStyle/>
            <a:p>
              <a:pPr>
                <a:defRPr sz="1800" b="1" i="0" u="none" strike="noStrike" kern="1200" baseline="0">
                  <a:solidFill>
                    <a:schemeClr val="tx2"/>
                  </a:solidFill>
                  <a:latin typeface="+mn-lt"/>
                  <a:ea typeface="+mn-ea"/>
                  <a:cs typeface="+mn-cs"/>
                </a:defRPr>
              </a:pPr>
              <a:endParaRPr lang="en-US"/>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050" b="1" i="0" u="none" strike="noStrike" kern="1200" baseline="0">
                <a:solidFill>
                  <a:schemeClr val="tx2"/>
                </a:solidFill>
                <a:latin typeface="+mn-lt"/>
                <a:ea typeface="+mn-ea"/>
                <a:cs typeface="+mn-cs"/>
              </a:defRPr>
            </a:pPr>
            <a:endParaRPr lang="en-US"/>
          </a:p>
        </c:txPr>
        <c:crossAx val="10"/>
        <c:crosses val="autoZero"/>
        <c:crossBetween val="between"/>
      </c:valAx>
      <c:spPr>
        <a:noFill/>
        <a:ln>
          <a:noFill/>
        </a:ln>
        <a:effectLst/>
      </c:spPr>
    </c:plotArea>
    <c:legend>
      <c:legendPos val="b"/>
      <c:layout>
        <c:manualLayout>
          <c:xMode val="edge"/>
          <c:yMode val="edge"/>
          <c:x val="0.2074811428084857"/>
          <c:y val="0.15003530260471826"/>
          <c:w val="0.76029717898359728"/>
          <c:h val="0.33785763073475472"/>
        </c:manualLayout>
      </c:layout>
      <c:overlay val="0"/>
      <c:spPr>
        <a:noFill/>
        <a:ln>
          <a:noFill/>
        </a:ln>
        <a:effectLst/>
      </c:spPr>
      <c:txPr>
        <a:bodyPr rot="0" spcFirstLastPara="1" vertOverflow="ellipsis" vert="horz" wrap="square" anchor="ctr" anchorCtr="1"/>
        <a:lstStyle/>
        <a:p>
          <a:pPr>
            <a:defRPr sz="1400" b="1" i="0" u="none" strike="noStrike" kern="1200" baseline="0">
              <a:solidFill>
                <a:schemeClr val="tx2"/>
              </a:solidFill>
              <a:latin typeface="+mn-lt"/>
              <a:ea typeface="+mn-ea"/>
              <a:cs typeface="+mn-cs"/>
            </a:defRPr>
          </a:pPr>
          <a:endParaRPr lang="en-US"/>
        </a:p>
      </c:txPr>
    </c:legend>
    <c:plotVisOnly val="1"/>
    <c:dispBlanksAs val="gap"/>
    <c:showDLblsOverMax val="1"/>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1465001786019365E-2"/>
          <c:y val="7.6754385964912283E-2"/>
          <c:w val="0.86390863863910516"/>
          <c:h val="0.66169596154204124"/>
        </c:manualLayout>
      </c:layout>
      <c:barChart>
        <c:barDir val="col"/>
        <c:grouping val="clustered"/>
        <c:varyColors val="1"/>
        <c:ser>
          <c:idx val="0"/>
          <c:order val="0"/>
          <c:tx>
            <c:strRef>
              <c:f>Heart_Waitlist_Top!$B$3</c:f>
              <c:strCache>
                <c:ptCount val="1"/>
                <c:pt idx="0">
                  <c:v>Waitlist_per_100k</c:v>
                </c:pt>
              </c:strCache>
            </c:strRef>
          </c:tx>
          <c:invertIfNegative val="1"/>
          <c:dPt>
            <c:idx val="0"/>
            <c:invertIfNegative val="1"/>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extLst>
              <c:ext xmlns:c16="http://schemas.microsoft.com/office/drawing/2014/chart" uri="{C3380CC4-5D6E-409C-BE32-E72D297353CC}">
                <c16:uniqueId val="{00000001-763D-4180-A54A-909BF8CC1B6C}"/>
              </c:ext>
            </c:extLst>
          </c:dPt>
          <c:dPt>
            <c:idx val="1"/>
            <c:invertIfNegative val="1"/>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extLst>
              <c:ext xmlns:c16="http://schemas.microsoft.com/office/drawing/2014/chart" uri="{C3380CC4-5D6E-409C-BE32-E72D297353CC}">
                <c16:uniqueId val="{00000003-763D-4180-A54A-909BF8CC1B6C}"/>
              </c:ext>
            </c:extLst>
          </c:dPt>
          <c:dPt>
            <c:idx val="2"/>
            <c:invertIfNegative val="1"/>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c:spPr>
            <c:extLst>
              <c:ext xmlns:c16="http://schemas.microsoft.com/office/drawing/2014/chart" uri="{C3380CC4-5D6E-409C-BE32-E72D297353CC}">
                <c16:uniqueId val="{00000005-763D-4180-A54A-909BF8CC1B6C}"/>
              </c:ext>
            </c:extLst>
          </c:dPt>
          <c:dPt>
            <c:idx val="3"/>
            <c:invertIfNegative val="1"/>
            <c:bubble3D val="0"/>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c:spPr>
            <c:extLst>
              <c:ext xmlns:c16="http://schemas.microsoft.com/office/drawing/2014/chart" uri="{C3380CC4-5D6E-409C-BE32-E72D297353CC}">
                <c16:uniqueId val="{00000007-763D-4180-A54A-909BF8CC1B6C}"/>
              </c:ext>
            </c:extLst>
          </c:dPt>
          <c:dPt>
            <c:idx val="4"/>
            <c:invertIfNegative val="1"/>
            <c:bubble3D val="0"/>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c:spPr>
            <c:extLst>
              <c:ext xmlns:c16="http://schemas.microsoft.com/office/drawing/2014/chart" uri="{C3380CC4-5D6E-409C-BE32-E72D297353CC}">
                <c16:uniqueId val="{00000009-763D-4180-A54A-909BF8CC1B6C}"/>
              </c:ext>
            </c:extLst>
          </c:dPt>
          <c:dPt>
            <c:idx val="5"/>
            <c:invertIfNegative val="1"/>
            <c:bubble3D val="0"/>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c:spPr>
            <c:extLst>
              <c:ext xmlns:c16="http://schemas.microsoft.com/office/drawing/2014/chart" uri="{C3380CC4-5D6E-409C-BE32-E72D297353CC}">
                <c16:uniqueId val="{0000000B-763D-4180-A54A-909BF8CC1B6C}"/>
              </c:ext>
            </c:extLst>
          </c:dPt>
          <c:dPt>
            <c:idx val="6"/>
            <c:invertIfNegative val="1"/>
            <c:bubble3D val="0"/>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c:spPr>
            <c:extLst>
              <c:ext xmlns:c16="http://schemas.microsoft.com/office/drawing/2014/chart" uri="{C3380CC4-5D6E-409C-BE32-E72D297353CC}">
                <c16:uniqueId val="{0000000D-763D-4180-A54A-909BF8CC1B6C}"/>
              </c:ext>
            </c:extLst>
          </c:dPt>
          <c:dPt>
            <c:idx val="7"/>
            <c:invertIfNegative val="1"/>
            <c:bubble3D val="0"/>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a:noFill/>
              </a:ln>
              <a:effectLst/>
            </c:spPr>
            <c:extLst>
              <c:ext xmlns:c16="http://schemas.microsoft.com/office/drawing/2014/chart" uri="{C3380CC4-5D6E-409C-BE32-E72D297353CC}">
                <c16:uniqueId val="{0000000F-763D-4180-A54A-909BF8CC1B6C}"/>
              </c:ext>
            </c:extLst>
          </c:dPt>
          <c:dPt>
            <c:idx val="8"/>
            <c:invertIfNegative val="1"/>
            <c:bubble3D val="0"/>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a:noFill/>
              </a:ln>
              <a:effectLst/>
            </c:spPr>
            <c:extLst>
              <c:ext xmlns:c16="http://schemas.microsoft.com/office/drawing/2014/chart" uri="{C3380CC4-5D6E-409C-BE32-E72D297353CC}">
                <c16:uniqueId val="{00000011-763D-4180-A54A-909BF8CC1B6C}"/>
              </c:ext>
            </c:extLst>
          </c:dPt>
          <c:dPt>
            <c:idx val="9"/>
            <c:invertIfNegative val="1"/>
            <c:bubble3D val="0"/>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lin ang="5400000" scaled="0"/>
              </a:gradFill>
              <a:ln>
                <a:noFill/>
              </a:ln>
              <a:effectLst/>
            </c:spPr>
            <c:extLst>
              <c:ext xmlns:c16="http://schemas.microsoft.com/office/drawing/2014/chart" uri="{C3380CC4-5D6E-409C-BE32-E72D297353CC}">
                <c16:uniqueId val="{00000013-763D-4180-A54A-909BF8CC1B6C}"/>
              </c:ext>
            </c:extLst>
          </c:dPt>
          <c:dPt>
            <c:idx val="10"/>
            <c:invertIfNegative val="1"/>
            <c:bubble3D val="0"/>
            <c:spPr>
              <a:gradFill rotWithShape="1">
                <a:gsLst>
                  <a:gs pos="0">
                    <a:schemeClr val="accent5">
                      <a:lumMod val="60000"/>
                      <a:satMod val="103000"/>
                      <a:lumMod val="102000"/>
                      <a:tint val="94000"/>
                    </a:schemeClr>
                  </a:gs>
                  <a:gs pos="50000">
                    <a:schemeClr val="accent5">
                      <a:lumMod val="60000"/>
                      <a:satMod val="110000"/>
                      <a:lumMod val="100000"/>
                      <a:shade val="100000"/>
                    </a:schemeClr>
                  </a:gs>
                  <a:gs pos="100000">
                    <a:schemeClr val="accent5">
                      <a:lumMod val="60000"/>
                      <a:lumMod val="99000"/>
                      <a:satMod val="120000"/>
                      <a:shade val="78000"/>
                    </a:schemeClr>
                  </a:gs>
                </a:gsLst>
                <a:lin ang="5400000" scaled="0"/>
              </a:gradFill>
              <a:ln>
                <a:noFill/>
              </a:ln>
              <a:effectLst/>
            </c:spPr>
            <c:extLst>
              <c:ext xmlns:c16="http://schemas.microsoft.com/office/drawing/2014/chart" uri="{C3380CC4-5D6E-409C-BE32-E72D297353CC}">
                <c16:uniqueId val="{00000015-763D-4180-A54A-909BF8CC1B6C}"/>
              </c:ext>
            </c:extLst>
          </c:dPt>
          <c:dPt>
            <c:idx val="11"/>
            <c:invertIfNegative val="1"/>
            <c:bubble3D val="0"/>
            <c:spPr>
              <a:gradFill rotWithShape="1">
                <a:gsLst>
                  <a:gs pos="0">
                    <a:schemeClr val="accent6">
                      <a:lumMod val="60000"/>
                      <a:satMod val="103000"/>
                      <a:lumMod val="102000"/>
                      <a:tint val="94000"/>
                    </a:schemeClr>
                  </a:gs>
                  <a:gs pos="50000">
                    <a:schemeClr val="accent6">
                      <a:lumMod val="60000"/>
                      <a:satMod val="110000"/>
                      <a:lumMod val="100000"/>
                      <a:shade val="100000"/>
                    </a:schemeClr>
                  </a:gs>
                  <a:gs pos="100000">
                    <a:schemeClr val="accent6">
                      <a:lumMod val="60000"/>
                      <a:lumMod val="99000"/>
                      <a:satMod val="120000"/>
                      <a:shade val="78000"/>
                    </a:schemeClr>
                  </a:gs>
                </a:gsLst>
                <a:lin ang="5400000" scaled="0"/>
              </a:gradFill>
              <a:ln>
                <a:noFill/>
              </a:ln>
              <a:effectLst/>
            </c:spPr>
            <c:extLst>
              <c:ext xmlns:c16="http://schemas.microsoft.com/office/drawing/2014/chart" uri="{C3380CC4-5D6E-409C-BE32-E72D297353CC}">
                <c16:uniqueId val="{00000017-763D-4180-A54A-909BF8CC1B6C}"/>
              </c:ext>
            </c:extLst>
          </c:dPt>
          <c:dLbls>
            <c:delete val="1"/>
          </c:dLbls>
          <c:cat>
            <c:strRef>
              <c:f>Heart_Waitlist_Top!$A$4:$A$15</c:f>
              <c:strCache>
                <c:ptCount val="12"/>
                <c:pt idx="0">
                  <c:v>District of Columbia</c:v>
                </c:pt>
                <c:pt idx="1">
                  <c:v>Ohio</c:v>
                </c:pt>
                <c:pt idx="2">
                  <c:v>Nebraska</c:v>
                </c:pt>
                <c:pt idx="3">
                  <c:v>Utah</c:v>
                </c:pt>
                <c:pt idx="4">
                  <c:v>Massachusetts</c:v>
                </c:pt>
                <c:pt idx="5">
                  <c:v>Minnesota</c:v>
                </c:pt>
                <c:pt idx="6">
                  <c:v>New York</c:v>
                </c:pt>
                <c:pt idx="7">
                  <c:v>Illinois</c:v>
                </c:pt>
                <c:pt idx="8">
                  <c:v>Tennessee</c:v>
                </c:pt>
                <c:pt idx="9">
                  <c:v>Georgia</c:v>
                </c:pt>
                <c:pt idx="10">
                  <c:v>South Carolina</c:v>
                </c:pt>
                <c:pt idx="11">
                  <c:v>Virginia</c:v>
                </c:pt>
              </c:strCache>
            </c:strRef>
          </c:cat>
          <c:val>
            <c:numRef>
              <c:f>Heart_Waitlist_Top!$B$4:$B$15</c:f>
              <c:numCache>
                <c:formatCode>0.00</c:formatCode>
                <c:ptCount val="12"/>
                <c:pt idx="0">
                  <c:v>7.4047703809999996</c:v>
                </c:pt>
                <c:pt idx="1">
                  <c:v>2.499304907</c:v>
                </c:pt>
                <c:pt idx="2">
                  <c:v>2.1441400650000002</c:v>
                </c:pt>
                <c:pt idx="3">
                  <c:v>2.083563453</c:v>
                </c:pt>
                <c:pt idx="4">
                  <c:v>1.905783928</c:v>
                </c:pt>
                <c:pt idx="5">
                  <c:v>1.8987939380000001</c:v>
                </c:pt>
                <c:pt idx="6">
                  <c:v>1.8371945629999999</c:v>
                </c:pt>
                <c:pt idx="7">
                  <c:v>1.65222179</c:v>
                </c:pt>
                <c:pt idx="8">
                  <c:v>1.6325965899999999</c:v>
                </c:pt>
                <c:pt idx="9">
                  <c:v>1.484677679</c:v>
                </c:pt>
                <c:pt idx="10">
                  <c:v>1.423661361</c:v>
                </c:pt>
                <c:pt idx="11">
                  <c:v>1.418649797</c:v>
                </c:pt>
              </c:numCache>
            </c:numRef>
          </c:val>
          <c:extLst>
            <c:ext xmlns:c16="http://schemas.microsoft.com/office/drawing/2014/chart" uri="{C3380CC4-5D6E-409C-BE32-E72D297353CC}">
              <c16:uniqueId val="{00000018-763D-4180-A54A-909BF8CC1B6C}"/>
            </c:ext>
          </c:extLst>
        </c:ser>
        <c:dLbls>
          <c:dLblPos val="inEnd"/>
          <c:showLegendKey val="1"/>
          <c:showVal val="1"/>
          <c:showCatName val="1"/>
          <c:showSerName val="1"/>
          <c:showPercent val="1"/>
          <c:showBubbleSize val="1"/>
        </c:dLbls>
        <c:gapWidth val="100"/>
        <c:overlap val="-24"/>
        <c:axId val="10"/>
        <c:axId val="100"/>
      </c:barChart>
      <c:catAx>
        <c:axId val="10"/>
        <c:scaling>
          <c:orientation val="minMax"/>
        </c:scaling>
        <c:delete val="0"/>
        <c:axPos val="b"/>
        <c:title>
          <c:tx>
            <c:rich>
              <a:bodyPr rot="0" spcFirstLastPara="1" vertOverflow="ellipsis" vert="horz" wrap="square" anchor="ctr" anchorCtr="1"/>
              <a:lstStyle/>
              <a:p>
                <a:pPr>
                  <a:defRPr sz="1197" b="1" i="0" u="none" strike="noStrike" kern="1200" baseline="0">
                    <a:solidFill>
                      <a:schemeClr val="tx2"/>
                    </a:solidFill>
                    <a:latin typeface="+mn-lt"/>
                    <a:ea typeface="+mn-ea"/>
                    <a:cs typeface="+mn-cs"/>
                  </a:defRPr>
                </a:pPr>
                <a:r>
                  <a:rPr lang="en-US" dirty="0"/>
                  <a:t>States</a:t>
                </a:r>
              </a:p>
            </c:rich>
          </c:tx>
          <c:overlay val="1"/>
          <c:spPr>
            <a:noFill/>
            <a:ln>
              <a:noFill/>
            </a:ln>
            <a:effectLst/>
          </c:spPr>
          <c:txPr>
            <a:bodyPr rot="0" spcFirstLastPara="1" vertOverflow="ellipsis" vert="horz" wrap="square" anchor="ctr" anchorCtr="1"/>
            <a:lstStyle/>
            <a:p>
              <a:pPr>
                <a:defRPr sz="1197" b="1" i="0" u="none" strike="noStrike" kern="1200" baseline="0">
                  <a:solidFill>
                    <a:schemeClr val="tx2"/>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100"/>
        <c:crosses val="autoZero"/>
        <c:auto val="1"/>
        <c:lblAlgn val="ctr"/>
        <c:lblOffset val="100"/>
        <c:noMultiLvlLbl val="1"/>
      </c:catAx>
      <c:valAx>
        <c:axId val="100"/>
        <c:scaling>
          <c:orientation val="minMax"/>
        </c:scaling>
        <c:delete val="0"/>
        <c:axPos val="l"/>
        <c:majorGridlines>
          <c:spPr>
            <a:ln w="9525" cap="flat" cmpd="sng" algn="ctr">
              <a:solidFill>
                <a:schemeClr val="tx2">
                  <a:lumMod val="15000"/>
                  <a:lumOff val="85000"/>
                </a:schemeClr>
              </a:solidFill>
              <a:round/>
            </a:ln>
            <a:effectLst/>
          </c:spPr>
        </c:majorGridlines>
        <c:title>
          <c:tx>
            <c:rich>
              <a:bodyPr rot="-5400000" spcFirstLastPara="1" vertOverflow="ellipsis" vert="horz" wrap="square" anchor="ctr" anchorCtr="1"/>
              <a:lstStyle/>
              <a:p>
                <a:pPr>
                  <a:defRPr sz="1197" b="1" i="0" u="none" strike="noStrike" kern="1200" baseline="0">
                    <a:solidFill>
                      <a:schemeClr val="tx2"/>
                    </a:solidFill>
                    <a:latin typeface="+mn-lt"/>
                    <a:ea typeface="+mn-ea"/>
                    <a:cs typeface="+mn-cs"/>
                  </a:defRPr>
                </a:pPr>
                <a:r>
                  <a:rPr lang="en-US" dirty="0"/>
                  <a:t>Waitlist per 100k</a:t>
                </a:r>
              </a:p>
            </c:rich>
          </c:tx>
          <c:overlay val="1"/>
          <c:spPr>
            <a:noFill/>
            <a:ln>
              <a:noFill/>
            </a:ln>
            <a:effectLst/>
          </c:spPr>
          <c:txPr>
            <a:bodyPr rot="-5400000" spcFirstLastPara="1" vertOverflow="ellipsis" vert="horz" wrap="square" anchor="ctr" anchorCtr="1"/>
            <a:lstStyle/>
            <a:p>
              <a:pPr>
                <a:defRPr sz="1197" b="1" i="0" u="none" strike="noStrike" kern="1200" baseline="0">
                  <a:solidFill>
                    <a:schemeClr val="tx2"/>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10"/>
        <c:crosses val="autoZero"/>
        <c:crossBetween val="between"/>
      </c:valAx>
      <c:spPr>
        <a:noFill/>
        <a:ln>
          <a:noFill/>
        </a:ln>
        <a:effectLst/>
      </c:spPr>
    </c:plotArea>
    <c:plotVisOnly val="1"/>
    <c:dispBlanksAs val="gap"/>
    <c:showDLblsOverMax val="1"/>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30029808681047"/>
          <c:y val="0.11876484560570071"/>
          <c:w val="0.83511223429909298"/>
          <c:h val="0.60908524044143597"/>
        </c:manualLayout>
      </c:layout>
      <c:barChart>
        <c:barDir val="col"/>
        <c:grouping val="clustered"/>
        <c:varyColors val="1"/>
        <c:ser>
          <c:idx val="0"/>
          <c:order val="0"/>
          <c:tx>
            <c:strRef>
              <c:f>Kidney_Top_States!$B$3</c:f>
              <c:strCache>
                <c:ptCount val="1"/>
                <c:pt idx="0">
                  <c:v>Waitlist_per_100k</c:v>
                </c:pt>
              </c:strCache>
            </c:strRef>
          </c:tx>
          <c:invertIfNegative val="1"/>
          <c:dPt>
            <c:idx val="0"/>
            <c:invertIfNegative val="1"/>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extLst>
              <c:ext xmlns:c16="http://schemas.microsoft.com/office/drawing/2014/chart" uri="{C3380CC4-5D6E-409C-BE32-E72D297353CC}">
                <c16:uniqueId val="{00000001-5981-43B6-99E2-30FA37E58945}"/>
              </c:ext>
            </c:extLst>
          </c:dPt>
          <c:dPt>
            <c:idx val="1"/>
            <c:invertIfNegative val="1"/>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extLst>
              <c:ext xmlns:c16="http://schemas.microsoft.com/office/drawing/2014/chart" uri="{C3380CC4-5D6E-409C-BE32-E72D297353CC}">
                <c16:uniqueId val="{00000003-5981-43B6-99E2-30FA37E58945}"/>
              </c:ext>
            </c:extLst>
          </c:dPt>
          <c:dPt>
            <c:idx val="2"/>
            <c:invertIfNegative val="1"/>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c:spPr>
            <c:extLst>
              <c:ext xmlns:c16="http://schemas.microsoft.com/office/drawing/2014/chart" uri="{C3380CC4-5D6E-409C-BE32-E72D297353CC}">
                <c16:uniqueId val="{00000005-5981-43B6-99E2-30FA37E58945}"/>
              </c:ext>
            </c:extLst>
          </c:dPt>
          <c:dPt>
            <c:idx val="3"/>
            <c:invertIfNegative val="1"/>
            <c:bubble3D val="0"/>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c:spPr>
            <c:extLst>
              <c:ext xmlns:c16="http://schemas.microsoft.com/office/drawing/2014/chart" uri="{C3380CC4-5D6E-409C-BE32-E72D297353CC}">
                <c16:uniqueId val="{00000007-5981-43B6-99E2-30FA37E58945}"/>
              </c:ext>
            </c:extLst>
          </c:dPt>
          <c:dPt>
            <c:idx val="4"/>
            <c:invertIfNegative val="1"/>
            <c:bubble3D val="0"/>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c:spPr>
            <c:extLst>
              <c:ext xmlns:c16="http://schemas.microsoft.com/office/drawing/2014/chart" uri="{C3380CC4-5D6E-409C-BE32-E72D297353CC}">
                <c16:uniqueId val="{00000009-5981-43B6-99E2-30FA37E58945}"/>
              </c:ext>
            </c:extLst>
          </c:dPt>
          <c:dPt>
            <c:idx val="5"/>
            <c:invertIfNegative val="1"/>
            <c:bubble3D val="0"/>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c:spPr>
            <c:extLst>
              <c:ext xmlns:c16="http://schemas.microsoft.com/office/drawing/2014/chart" uri="{C3380CC4-5D6E-409C-BE32-E72D297353CC}">
                <c16:uniqueId val="{0000000B-5981-43B6-99E2-30FA37E58945}"/>
              </c:ext>
            </c:extLst>
          </c:dPt>
          <c:dPt>
            <c:idx val="6"/>
            <c:invertIfNegative val="1"/>
            <c:bubble3D val="0"/>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c:spPr>
            <c:extLst>
              <c:ext xmlns:c16="http://schemas.microsoft.com/office/drawing/2014/chart" uri="{C3380CC4-5D6E-409C-BE32-E72D297353CC}">
                <c16:uniqueId val="{0000000D-5981-43B6-99E2-30FA37E58945}"/>
              </c:ext>
            </c:extLst>
          </c:dPt>
          <c:dPt>
            <c:idx val="7"/>
            <c:invertIfNegative val="1"/>
            <c:bubble3D val="0"/>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a:noFill/>
              </a:ln>
              <a:effectLst/>
            </c:spPr>
            <c:extLst>
              <c:ext xmlns:c16="http://schemas.microsoft.com/office/drawing/2014/chart" uri="{C3380CC4-5D6E-409C-BE32-E72D297353CC}">
                <c16:uniqueId val="{0000000F-5981-43B6-99E2-30FA37E58945}"/>
              </c:ext>
            </c:extLst>
          </c:dPt>
          <c:dPt>
            <c:idx val="8"/>
            <c:invertIfNegative val="1"/>
            <c:bubble3D val="0"/>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a:noFill/>
              </a:ln>
              <a:effectLst/>
            </c:spPr>
            <c:extLst>
              <c:ext xmlns:c16="http://schemas.microsoft.com/office/drawing/2014/chart" uri="{C3380CC4-5D6E-409C-BE32-E72D297353CC}">
                <c16:uniqueId val="{00000011-5981-43B6-99E2-30FA37E58945}"/>
              </c:ext>
            </c:extLst>
          </c:dPt>
          <c:dPt>
            <c:idx val="9"/>
            <c:invertIfNegative val="1"/>
            <c:bubble3D val="0"/>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lin ang="5400000" scaled="0"/>
              </a:gradFill>
              <a:ln>
                <a:noFill/>
              </a:ln>
              <a:effectLst/>
            </c:spPr>
            <c:extLst>
              <c:ext xmlns:c16="http://schemas.microsoft.com/office/drawing/2014/chart" uri="{C3380CC4-5D6E-409C-BE32-E72D297353CC}">
                <c16:uniqueId val="{00000013-5981-43B6-99E2-30FA37E58945}"/>
              </c:ext>
            </c:extLst>
          </c:dPt>
          <c:dPt>
            <c:idx val="10"/>
            <c:invertIfNegative val="1"/>
            <c:bubble3D val="0"/>
            <c:spPr>
              <a:gradFill rotWithShape="1">
                <a:gsLst>
                  <a:gs pos="0">
                    <a:schemeClr val="accent5">
                      <a:lumMod val="60000"/>
                      <a:satMod val="103000"/>
                      <a:lumMod val="102000"/>
                      <a:tint val="94000"/>
                    </a:schemeClr>
                  </a:gs>
                  <a:gs pos="50000">
                    <a:schemeClr val="accent5">
                      <a:lumMod val="60000"/>
                      <a:satMod val="110000"/>
                      <a:lumMod val="100000"/>
                      <a:shade val="100000"/>
                    </a:schemeClr>
                  </a:gs>
                  <a:gs pos="100000">
                    <a:schemeClr val="accent5">
                      <a:lumMod val="60000"/>
                      <a:lumMod val="99000"/>
                      <a:satMod val="120000"/>
                      <a:shade val="78000"/>
                    </a:schemeClr>
                  </a:gs>
                </a:gsLst>
                <a:lin ang="5400000" scaled="0"/>
              </a:gradFill>
              <a:ln>
                <a:noFill/>
              </a:ln>
              <a:effectLst/>
            </c:spPr>
            <c:extLst>
              <c:ext xmlns:c16="http://schemas.microsoft.com/office/drawing/2014/chart" uri="{C3380CC4-5D6E-409C-BE32-E72D297353CC}">
                <c16:uniqueId val="{00000015-5981-43B6-99E2-30FA37E58945}"/>
              </c:ext>
            </c:extLst>
          </c:dPt>
          <c:dPt>
            <c:idx val="11"/>
            <c:invertIfNegative val="1"/>
            <c:bubble3D val="0"/>
            <c:spPr>
              <a:gradFill rotWithShape="1">
                <a:gsLst>
                  <a:gs pos="0">
                    <a:schemeClr val="accent6">
                      <a:lumMod val="60000"/>
                      <a:satMod val="103000"/>
                      <a:lumMod val="102000"/>
                      <a:tint val="94000"/>
                    </a:schemeClr>
                  </a:gs>
                  <a:gs pos="50000">
                    <a:schemeClr val="accent6">
                      <a:lumMod val="60000"/>
                      <a:satMod val="110000"/>
                      <a:lumMod val="100000"/>
                      <a:shade val="100000"/>
                    </a:schemeClr>
                  </a:gs>
                  <a:gs pos="100000">
                    <a:schemeClr val="accent6">
                      <a:lumMod val="60000"/>
                      <a:lumMod val="99000"/>
                      <a:satMod val="120000"/>
                      <a:shade val="78000"/>
                    </a:schemeClr>
                  </a:gs>
                </a:gsLst>
                <a:lin ang="5400000" scaled="0"/>
              </a:gradFill>
              <a:ln>
                <a:noFill/>
              </a:ln>
              <a:effectLst/>
            </c:spPr>
            <c:extLst>
              <c:ext xmlns:c16="http://schemas.microsoft.com/office/drawing/2014/chart" uri="{C3380CC4-5D6E-409C-BE32-E72D297353CC}">
                <c16:uniqueId val="{00000017-5981-43B6-99E2-30FA37E58945}"/>
              </c:ext>
            </c:extLst>
          </c:dPt>
          <c:dLbls>
            <c:delete val="1"/>
          </c:dLbls>
          <c:cat>
            <c:strRef>
              <c:f>Kidney_Top_States!$A$4:$A$15</c:f>
              <c:strCache>
                <c:ptCount val="12"/>
                <c:pt idx="0">
                  <c:v>District of Columbia</c:v>
                </c:pt>
                <c:pt idx="1">
                  <c:v>Massachusetts</c:v>
                </c:pt>
                <c:pt idx="2">
                  <c:v>California</c:v>
                </c:pt>
                <c:pt idx="3">
                  <c:v>South Dakota</c:v>
                </c:pt>
                <c:pt idx="4">
                  <c:v>Pennsylvania</c:v>
                </c:pt>
                <c:pt idx="5">
                  <c:v>Louisiana</c:v>
                </c:pt>
                <c:pt idx="6">
                  <c:v>Tennessee</c:v>
                </c:pt>
                <c:pt idx="7">
                  <c:v>New York</c:v>
                </c:pt>
                <c:pt idx="8">
                  <c:v>Rhode Island</c:v>
                </c:pt>
                <c:pt idx="9">
                  <c:v>Minnesota</c:v>
                </c:pt>
                <c:pt idx="10">
                  <c:v>North Carolina</c:v>
                </c:pt>
                <c:pt idx="11">
                  <c:v>Virginia</c:v>
                </c:pt>
              </c:strCache>
            </c:strRef>
          </c:cat>
          <c:val>
            <c:numRef>
              <c:f>Kidney_Top_States!$B$4:$B$15</c:f>
              <c:numCache>
                <c:formatCode>0.00</c:formatCode>
                <c:ptCount val="12"/>
                <c:pt idx="0">
                  <c:v>159.20256319999999</c:v>
                </c:pt>
                <c:pt idx="1">
                  <c:v>49.073936150000002</c:v>
                </c:pt>
                <c:pt idx="2">
                  <c:v>45.304153710000001</c:v>
                </c:pt>
                <c:pt idx="3">
                  <c:v>42.285401589999999</c:v>
                </c:pt>
                <c:pt idx="4">
                  <c:v>38.184074299999999</c:v>
                </c:pt>
                <c:pt idx="5">
                  <c:v>37.496683150000003</c:v>
                </c:pt>
                <c:pt idx="6">
                  <c:v>36.456711980000001</c:v>
                </c:pt>
                <c:pt idx="7">
                  <c:v>35.173467410000001</c:v>
                </c:pt>
                <c:pt idx="8">
                  <c:v>34.792521499999999</c:v>
                </c:pt>
                <c:pt idx="9">
                  <c:v>33.418773309999999</c:v>
                </c:pt>
                <c:pt idx="10">
                  <c:v>33.215571500000003</c:v>
                </c:pt>
                <c:pt idx="11">
                  <c:v>32.697040530000002</c:v>
                </c:pt>
              </c:numCache>
            </c:numRef>
          </c:val>
          <c:extLst>
            <c:ext xmlns:c16="http://schemas.microsoft.com/office/drawing/2014/chart" uri="{C3380CC4-5D6E-409C-BE32-E72D297353CC}">
              <c16:uniqueId val="{00000018-5981-43B6-99E2-30FA37E58945}"/>
            </c:ext>
          </c:extLst>
        </c:ser>
        <c:dLbls>
          <c:showLegendKey val="1"/>
          <c:showVal val="1"/>
          <c:showCatName val="1"/>
          <c:showSerName val="1"/>
          <c:showPercent val="1"/>
          <c:showBubbleSize val="1"/>
        </c:dLbls>
        <c:gapWidth val="100"/>
        <c:overlap val="-24"/>
        <c:axId val="10"/>
        <c:axId val="100"/>
      </c:barChart>
      <c:catAx>
        <c:axId val="10"/>
        <c:scaling>
          <c:orientation val="minMax"/>
        </c:scaling>
        <c:delete val="0"/>
        <c:axPos val="b"/>
        <c:title>
          <c:tx>
            <c:rich>
              <a:bodyPr rot="0" spcFirstLastPara="1" vertOverflow="ellipsis" vert="horz" wrap="square" anchor="ctr" anchorCtr="1"/>
              <a:lstStyle/>
              <a:p>
                <a:pPr>
                  <a:defRPr sz="2400" b="1" i="0" u="none" strike="noStrike" kern="1200" baseline="0">
                    <a:solidFill>
                      <a:schemeClr val="tx2"/>
                    </a:solidFill>
                    <a:latin typeface="+mn-lt"/>
                    <a:ea typeface="+mn-ea"/>
                    <a:cs typeface="+mn-cs"/>
                  </a:defRPr>
                </a:pPr>
                <a:r>
                  <a:rPr lang="en-US" sz="2400" dirty="0"/>
                  <a:t>State</a:t>
                </a:r>
              </a:p>
            </c:rich>
          </c:tx>
          <c:overlay val="1"/>
          <c:spPr>
            <a:noFill/>
            <a:ln>
              <a:noFill/>
            </a:ln>
            <a:effectLst/>
          </c:spPr>
          <c:txPr>
            <a:bodyPr rot="0" spcFirstLastPara="1" vertOverflow="ellipsis" vert="horz" wrap="square" anchor="ctr" anchorCtr="1"/>
            <a:lstStyle/>
            <a:p>
              <a:pPr>
                <a:defRPr sz="2400" b="1" i="0" u="none" strike="noStrike" kern="1200" baseline="0">
                  <a:solidFill>
                    <a:schemeClr val="tx2"/>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100"/>
        <c:crosses val="autoZero"/>
        <c:auto val="1"/>
        <c:lblAlgn val="ctr"/>
        <c:lblOffset val="100"/>
        <c:noMultiLvlLbl val="1"/>
      </c:catAx>
      <c:valAx>
        <c:axId val="100"/>
        <c:scaling>
          <c:orientation val="minMax"/>
        </c:scaling>
        <c:delete val="0"/>
        <c:axPos val="l"/>
        <c:majorGridlines>
          <c:spPr>
            <a:ln w="9525" cap="flat" cmpd="sng" algn="ctr">
              <a:solidFill>
                <a:schemeClr val="tx2">
                  <a:lumMod val="15000"/>
                  <a:lumOff val="85000"/>
                </a:schemeClr>
              </a:solidFill>
              <a:round/>
            </a:ln>
            <a:effectLst/>
          </c:spPr>
        </c:majorGridlines>
        <c:title>
          <c:tx>
            <c:rich>
              <a:bodyPr rot="-5400000" spcFirstLastPara="1" vertOverflow="ellipsis" vert="horz" wrap="square" anchor="ctr" anchorCtr="1"/>
              <a:lstStyle/>
              <a:p>
                <a:pPr>
                  <a:defRPr sz="1197" b="1" i="0" u="none" strike="noStrike" kern="1200" baseline="0">
                    <a:solidFill>
                      <a:schemeClr val="tx2"/>
                    </a:solidFill>
                    <a:latin typeface="+mn-lt"/>
                    <a:ea typeface="+mn-ea"/>
                    <a:cs typeface="+mn-cs"/>
                  </a:defRPr>
                </a:pPr>
                <a:r>
                  <a:rPr lang="en-US" dirty="0"/>
                  <a:t>Waitlist per 100k</a:t>
                </a:r>
              </a:p>
            </c:rich>
          </c:tx>
          <c:overlay val="1"/>
          <c:spPr>
            <a:noFill/>
            <a:ln>
              <a:noFill/>
            </a:ln>
            <a:effectLst/>
          </c:spPr>
          <c:txPr>
            <a:bodyPr rot="-5400000" spcFirstLastPara="1" vertOverflow="ellipsis" vert="horz" wrap="square" anchor="ctr" anchorCtr="1"/>
            <a:lstStyle/>
            <a:p>
              <a:pPr>
                <a:defRPr sz="1197" b="1" i="0" u="none" strike="noStrike" kern="1200" baseline="0">
                  <a:solidFill>
                    <a:schemeClr val="tx2"/>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10"/>
        <c:crosses val="autoZero"/>
        <c:crossBetween val="between"/>
      </c:valAx>
      <c:spPr>
        <a:noFill/>
        <a:ln>
          <a:noFill/>
        </a:ln>
        <a:effectLst/>
      </c:spPr>
    </c:plotArea>
    <c:plotVisOnly val="1"/>
    <c:dispBlanksAs val="gap"/>
    <c:showDLblsOverMax val="1"/>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476833333333333"/>
          <c:y val="4.5719035743973402E-2"/>
          <c:w val="0.82556407407407406"/>
          <c:h val="0.88130542892664732"/>
        </c:manualLayout>
      </c:layout>
      <c:barChart>
        <c:barDir val="col"/>
        <c:grouping val="clustered"/>
        <c:varyColors val="1"/>
        <c:ser>
          <c:idx val="0"/>
          <c:order val="0"/>
          <c:tx>
            <c:strRef>
              <c:f>Lung_Top_States!$A$4</c:f>
              <c:strCache>
                <c:ptCount val="1"/>
                <c:pt idx="0">
                  <c:v>Pennsylvania</c:v>
                </c:pt>
              </c:strCache>
            </c:strRef>
          </c:tx>
          <c:spPr>
            <a:solidFill>
              <a:srgbClr val="4F81BD"/>
            </a:solidFill>
            <a:ln>
              <a:noFill/>
            </a:ln>
            <a:effectLst/>
          </c:spPr>
          <c:invertIfNegative val="1"/>
          <c:dLbls>
            <c:delete val="1"/>
          </c:dLbls>
          <c:cat>
            <c:strRef>
              <c:f>Lung_Top_States!$B$3</c:f>
              <c:strCache>
                <c:ptCount val="1"/>
                <c:pt idx="0">
                  <c:v>Waitlist_per_100k</c:v>
                </c:pt>
              </c:strCache>
            </c:strRef>
          </c:cat>
          <c:val>
            <c:numRef>
              <c:f>Lung_Top_States!$B$4</c:f>
              <c:numCache>
                <c:formatCode>0.00</c:formatCode>
                <c:ptCount val="1"/>
                <c:pt idx="0">
                  <c:v>0.90987281600000003</c:v>
                </c:pt>
              </c:numCache>
            </c:numRef>
          </c:val>
          <c:extLst>
            <c:ext xmlns:c14="http://schemas.microsoft.com/office/drawing/2007/8/2/chart" uri="{6F2FDCE9-48DA-4B69-8628-5D25D57E5C99}">
              <c14:invertSolidFillFmt>
                <c14:spPr xmlns:c14="http://schemas.microsoft.com/office/drawing/2007/8/2/chart">
                  <a:solidFill>
                    <a:srgbClr val="FFFFFF"/>
                  </a:solidFill>
                  <a:ln>
                    <a:noFill/>
                  </a:ln>
                  <a:effectLst/>
                </c14:spPr>
              </c14:invertSolidFillFmt>
            </c:ext>
            <c:ext xmlns:c16="http://schemas.microsoft.com/office/drawing/2014/chart" uri="{C3380CC4-5D6E-409C-BE32-E72D297353CC}">
              <c16:uniqueId val="{00000000-CBAB-4161-923A-5502F710977F}"/>
            </c:ext>
          </c:extLst>
        </c:ser>
        <c:ser>
          <c:idx val="1"/>
          <c:order val="1"/>
          <c:tx>
            <c:strRef>
              <c:f>Lung_Top_States!$A$5</c:f>
              <c:strCache>
                <c:ptCount val="1"/>
                <c:pt idx="0">
                  <c:v>Michigan</c:v>
                </c:pt>
              </c:strCache>
            </c:strRef>
          </c:tx>
          <c:spPr>
            <a:solidFill>
              <a:schemeClr val="accent2"/>
            </a:solidFill>
            <a:ln>
              <a:noFill/>
            </a:ln>
            <a:effectLst/>
          </c:spPr>
          <c:invertIfNegative val="0"/>
          <c:dLbls>
            <c:delete val="1"/>
          </c:dLbls>
          <c:cat>
            <c:strRef>
              <c:f>Lung_Top_States!$B$3</c:f>
              <c:strCache>
                <c:ptCount val="1"/>
                <c:pt idx="0">
                  <c:v>Waitlist_per_100k</c:v>
                </c:pt>
              </c:strCache>
            </c:strRef>
          </c:cat>
          <c:val>
            <c:numRef>
              <c:f>Lung_Top_States!$B$5</c:f>
              <c:numCache>
                <c:formatCode>0.00</c:formatCode>
                <c:ptCount val="1"/>
                <c:pt idx="0">
                  <c:v>0.71002703099999998</c:v>
                </c:pt>
              </c:numCache>
            </c:numRef>
          </c:val>
          <c:extLst>
            <c:ext xmlns:c16="http://schemas.microsoft.com/office/drawing/2014/chart" uri="{C3380CC4-5D6E-409C-BE32-E72D297353CC}">
              <c16:uniqueId val="{00000001-CBAB-4161-923A-5502F710977F}"/>
            </c:ext>
          </c:extLst>
        </c:ser>
        <c:ser>
          <c:idx val="2"/>
          <c:order val="2"/>
          <c:tx>
            <c:strRef>
              <c:f>Lung_Top_States!$A$6</c:f>
              <c:strCache>
                <c:ptCount val="1"/>
                <c:pt idx="0">
                  <c:v>Washington</c:v>
                </c:pt>
              </c:strCache>
            </c:strRef>
          </c:tx>
          <c:spPr>
            <a:solidFill>
              <a:schemeClr val="accent3"/>
            </a:solidFill>
            <a:ln>
              <a:noFill/>
            </a:ln>
            <a:effectLst/>
          </c:spPr>
          <c:invertIfNegative val="0"/>
          <c:dLbls>
            <c:delete val="1"/>
          </c:dLbls>
          <c:cat>
            <c:strRef>
              <c:f>Lung_Top_States!$B$3</c:f>
              <c:strCache>
                <c:ptCount val="1"/>
                <c:pt idx="0">
                  <c:v>Waitlist_per_100k</c:v>
                </c:pt>
              </c:strCache>
            </c:strRef>
          </c:cat>
          <c:val>
            <c:numRef>
              <c:f>Lung_Top_States!$B$6</c:f>
              <c:numCache>
                <c:formatCode>0.00</c:formatCode>
                <c:ptCount val="1"/>
                <c:pt idx="0">
                  <c:v>0.66598141799999999</c:v>
                </c:pt>
              </c:numCache>
            </c:numRef>
          </c:val>
          <c:extLst>
            <c:ext xmlns:c16="http://schemas.microsoft.com/office/drawing/2014/chart" uri="{C3380CC4-5D6E-409C-BE32-E72D297353CC}">
              <c16:uniqueId val="{00000002-CBAB-4161-923A-5502F710977F}"/>
            </c:ext>
          </c:extLst>
        </c:ser>
        <c:ser>
          <c:idx val="3"/>
          <c:order val="3"/>
          <c:tx>
            <c:strRef>
              <c:f>Lung_Top_States!$A$7</c:f>
              <c:strCache>
                <c:ptCount val="1"/>
                <c:pt idx="0">
                  <c:v>Ohio</c:v>
                </c:pt>
              </c:strCache>
            </c:strRef>
          </c:tx>
          <c:spPr>
            <a:solidFill>
              <a:schemeClr val="accent4"/>
            </a:solidFill>
            <a:ln>
              <a:noFill/>
            </a:ln>
            <a:effectLst/>
          </c:spPr>
          <c:invertIfNegative val="0"/>
          <c:dLbls>
            <c:delete val="1"/>
          </c:dLbls>
          <c:cat>
            <c:strRef>
              <c:f>Lung_Top_States!$B$3</c:f>
              <c:strCache>
                <c:ptCount val="1"/>
                <c:pt idx="0">
                  <c:v>Waitlist_per_100k</c:v>
                </c:pt>
              </c:strCache>
            </c:strRef>
          </c:cat>
          <c:val>
            <c:numRef>
              <c:f>Lung_Top_States!$B$7</c:f>
              <c:numCache>
                <c:formatCode>0.00</c:formatCode>
                <c:ptCount val="1"/>
                <c:pt idx="0">
                  <c:v>0.62272243500000002</c:v>
                </c:pt>
              </c:numCache>
            </c:numRef>
          </c:val>
          <c:extLst>
            <c:ext xmlns:c16="http://schemas.microsoft.com/office/drawing/2014/chart" uri="{C3380CC4-5D6E-409C-BE32-E72D297353CC}">
              <c16:uniqueId val="{00000003-CBAB-4161-923A-5502F710977F}"/>
            </c:ext>
          </c:extLst>
        </c:ser>
        <c:ser>
          <c:idx val="4"/>
          <c:order val="4"/>
          <c:tx>
            <c:strRef>
              <c:f>Lung_Top_States!$A$8</c:f>
              <c:strCache>
                <c:ptCount val="1"/>
                <c:pt idx="0">
                  <c:v>Minnesota</c:v>
                </c:pt>
              </c:strCache>
            </c:strRef>
          </c:tx>
          <c:spPr>
            <a:solidFill>
              <a:schemeClr val="accent5"/>
            </a:solidFill>
            <a:ln>
              <a:noFill/>
            </a:ln>
            <a:effectLst/>
          </c:spPr>
          <c:invertIfNegative val="0"/>
          <c:dLbls>
            <c:delete val="1"/>
          </c:dLbls>
          <c:cat>
            <c:strRef>
              <c:f>Lung_Top_States!$B$3</c:f>
              <c:strCache>
                <c:ptCount val="1"/>
                <c:pt idx="0">
                  <c:v>Waitlist_per_100k</c:v>
                </c:pt>
              </c:strCache>
            </c:strRef>
          </c:cat>
          <c:val>
            <c:numRef>
              <c:f>Lung_Top_States!$B$8</c:f>
              <c:numCache>
                <c:formatCode>0.00</c:formatCode>
                <c:ptCount val="1"/>
                <c:pt idx="0">
                  <c:v>0.50059112900000002</c:v>
                </c:pt>
              </c:numCache>
            </c:numRef>
          </c:val>
          <c:extLst>
            <c:ext xmlns:c16="http://schemas.microsoft.com/office/drawing/2014/chart" uri="{C3380CC4-5D6E-409C-BE32-E72D297353CC}">
              <c16:uniqueId val="{00000004-CBAB-4161-923A-5502F710977F}"/>
            </c:ext>
          </c:extLst>
        </c:ser>
        <c:ser>
          <c:idx val="5"/>
          <c:order val="5"/>
          <c:tx>
            <c:strRef>
              <c:f>Lung_Top_States!$A$9</c:f>
              <c:strCache>
                <c:ptCount val="1"/>
                <c:pt idx="0">
                  <c:v>New York</c:v>
                </c:pt>
              </c:strCache>
            </c:strRef>
          </c:tx>
          <c:spPr>
            <a:solidFill>
              <a:schemeClr val="accent6"/>
            </a:solidFill>
            <a:ln>
              <a:noFill/>
            </a:ln>
            <a:effectLst/>
          </c:spPr>
          <c:invertIfNegative val="0"/>
          <c:dLbls>
            <c:delete val="1"/>
          </c:dLbls>
          <c:cat>
            <c:strRef>
              <c:f>Lung_Top_States!$B$3</c:f>
              <c:strCache>
                <c:ptCount val="1"/>
                <c:pt idx="0">
                  <c:v>Waitlist_per_100k</c:v>
                </c:pt>
              </c:strCache>
            </c:strRef>
          </c:cat>
          <c:val>
            <c:numRef>
              <c:f>Lung_Top_States!$B$9</c:f>
              <c:numCache>
                <c:formatCode>0.00</c:formatCode>
                <c:ptCount val="1"/>
                <c:pt idx="0">
                  <c:v>0.48824074699999997</c:v>
                </c:pt>
              </c:numCache>
            </c:numRef>
          </c:val>
          <c:extLst>
            <c:ext xmlns:c16="http://schemas.microsoft.com/office/drawing/2014/chart" uri="{C3380CC4-5D6E-409C-BE32-E72D297353CC}">
              <c16:uniqueId val="{00000005-CBAB-4161-923A-5502F710977F}"/>
            </c:ext>
          </c:extLst>
        </c:ser>
        <c:ser>
          <c:idx val="6"/>
          <c:order val="6"/>
          <c:tx>
            <c:strRef>
              <c:f>Lung_Top_States!$A$10</c:f>
              <c:strCache>
                <c:ptCount val="1"/>
                <c:pt idx="0">
                  <c:v>Missouri</c:v>
                </c:pt>
              </c:strCache>
            </c:strRef>
          </c:tx>
          <c:spPr>
            <a:solidFill>
              <a:schemeClr val="accent1">
                <a:lumMod val="60000"/>
              </a:schemeClr>
            </a:solidFill>
            <a:ln>
              <a:noFill/>
            </a:ln>
            <a:effectLst/>
          </c:spPr>
          <c:invertIfNegative val="0"/>
          <c:dLbls>
            <c:delete val="1"/>
          </c:dLbls>
          <c:cat>
            <c:strRef>
              <c:f>Lung_Top_States!$B$3</c:f>
              <c:strCache>
                <c:ptCount val="1"/>
                <c:pt idx="0">
                  <c:v>Waitlist_per_100k</c:v>
                </c:pt>
              </c:strCache>
            </c:strRef>
          </c:cat>
          <c:val>
            <c:numRef>
              <c:f>Lung_Top_States!$B$10</c:f>
              <c:numCache>
                <c:formatCode>0.00</c:formatCode>
                <c:ptCount val="1"/>
                <c:pt idx="0">
                  <c:v>0.44832523299999999</c:v>
                </c:pt>
              </c:numCache>
            </c:numRef>
          </c:val>
          <c:extLst>
            <c:ext xmlns:c16="http://schemas.microsoft.com/office/drawing/2014/chart" uri="{C3380CC4-5D6E-409C-BE32-E72D297353CC}">
              <c16:uniqueId val="{00000006-CBAB-4161-923A-5502F710977F}"/>
            </c:ext>
          </c:extLst>
        </c:ser>
        <c:ser>
          <c:idx val="7"/>
          <c:order val="7"/>
          <c:tx>
            <c:strRef>
              <c:f>Lung_Top_States!$A$11</c:f>
              <c:strCache>
                <c:ptCount val="1"/>
                <c:pt idx="0">
                  <c:v>Massachusetts</c:v>
                </c:pt>
              </c:strCache>
            </c:strRef>
          </c:tx>
          <c:spPr>
            <a:solidFill>
              <a:schemeClr val="accent2">
                <a:lumMod val="60000"/>
              </a:schemeClr>
            </a:solidFill>
            <a:ln>
              <a:noFill/>
            </a:ln>
            <a:effectLst/>
          </c:spPr>
          <c:invertIfNegative val="0"/>
          <c:dLbls>
            <c:delete val="1"/>
          </c:dLbls>
          <c:cat>
            <c:strRef>
              <c:f>Lung_Top_States!$B$3</c:f>
              <c:strCache>
                <c:ptCount val="1"/>
                <c:pt idx="0">
                  <c:v>Waitlist_per_100k</c:v>
                </c:pt>
              </c:strCache>
            </c:strRef>
          </c:cat>
          <c:val>
            <c:numRef>
              <c:f>Lung_Top_States!$B$11</c:f>
              <c:numCache>
                <c:formatCode>0.00</c:formatCode>
                <c:ptCount val="1"/>
                <c:pt idx="0">
                  <c:v>0.40638039599999998</c:v>
                </c:pt>
              </c:numCache>
            </c:numRef>
          </c:val>
          <c:extLst>
            <c:ext xmlns:c16="http://schemas.microsoft.com/office/drawing/2014/chart" uri="{C3380CC4-5D6E-409C-BE32-E72D297353CC}">
              <c16:uniqueId val="{00000007-CBAB-4161-923A-5502F710977F}"/>
            </c:ext>
          </c:extLst>
        </c:ser>
        <c:ser>
          <c:idx val="8"/>
          <c:order val="8"/>
          <c:tx>
            <c:strRef>
              <c:f>Lung_Top_States!$A$12</c:f>
              <c:strCache>
                <c:ptCount val="1"/>
                <c:pt idx="0">
                  <c:v>Oklahoma</c:v>
                </c:pt>
              </c:strCache>
            </c:strRef>
          </c:tx>
          <c:spPr>
            <a:solidFill>
              <a:schemeClr val="accent3">
                <a:lumMod val="60000"/>
              </a:schemeClr>
            </a:solidFill>
            <a:ln>
              <a:noFill/>
            </a:ln>
            <a:effectLst/>
          </c:spPr>
          <c:invertIfNegative val="0"/>
          <c:dLbls>
            <c:delete val="1"/>
          </c:dLbls>
          <c:cat>
            <c:strRef>
              <c:f>Lung_Top_States!$B$3</c:f>
              <c:strCache>
                <c:ptCount val="1"/>
                <c:pt idx="0">
                  <c:v>Waitlist_per_100k</c:v>
                </c:pt>
              </c:strCache>
            </c:strRef>
          </c:cat>
          <c:val>
            <c:numRef>
              <c:f>Lung_Top_States!$B$12</c:f>
              <c:numCache>
                <c:formatCode>0.00</c:formatCode>
                <c:ptCount val="1"/>
                <c:pt idx="0">
                  <c:v>0.39068289699999997</c:v>
                </c:pt>
              </c:numCache>
            </c:numRef>
          </c:val>
          <c:extLst>
            <c:ext xmlns:c16="http://schemas.microsoft.com/office/drawing/2014/chart" uri="{C3380CC4-5D6E-409C-BE32-E72D297353CC}">
              <c16:uniqueId val="{00000008-CBAB-4161-923A-5502F710977F}"/>
            </c:ext>
          </c:extLst>
        </c:ser>
        <c:ser>
          <c:idx val="9"/>
          <c:order val="9"/>
          <c:tx>
            <c:strRef>
              <c:f>Lung_Top_States!$A$13</c:f>
              <c:strCache>
                <c:ptCount val="1"/>
                <c:pt idx="0">
                  <c:v>Maryland</c:v>
                </c:pt>
              </c:strCache>
            </c:strRef>
          </c:tx>
          <c:spPr>
            <a:solidFill>
              <a:schemeClr val="accent4">
                <a:lumMod val="60000"/>
              </a:schemeClr>
            </a:solidFill>
            <a:ln>
              <a:noFill/>
            </a:ln>
            <a:effectLst/>
          </c:spPr>
          <c:invertIfNegative val="0"/>
          <c:dLbls>
            <c:delete val="1"/>
          </c:dLbls>
          <c:cat>
            <c:strRef>
              <c:f>Lung_Top_States!$B$3</c:f>
              <c:strCache>
                <c:ptCount val="1"/>
                <c:pt idx="0">
                  <c:v>Waitlist_per_100k</c:v>
                </c:pt>
              </c:strCache>
            </c:strRef>
          </c:cat>
          <c:val>
            <c:numRef>
              <c:f>Lung_Top_States!$B$13</c:f>
              <c:numCache>
                <c:formatCode>0.00</c:formatCode>
                <c:ptCount val="1"/>
                <c:pt idx="0">
                  <c:v>0.38318947799999997</c:v>
                </c:pt>
              </c:numCache>
            </c:numRef>
          </c:val>
          <c:extLst>
            <c:ext xmlns:c16="http://schemas.microsoft.com/office/drawing/2014/chart" uri="{C3380CC4-5D6E-409C-BE32-E72D297353CC}">
              <c16:uniqueId val="{00000009-CBAB-4161-923A-5502F710977F}"/>
            </c:ext>
          </c:extLst>
        </c:ser>
        <c:ser>
          <c:idx val="10"/>
          <c:order val="10"/>
          <c:tx>
            <c:strRef>
              <c:f>Lung_Top_States!$A$14</c:f>
              <c:strCache>
                <c:ptCount val="1"/>
                <c:pt idx="0">
                  <c:v>Illinois</c:v>
                </c:pt>
              </c:strCache>
            </c:strRef>
          </c:tx>
          <c:spPr>
            <a:solidFill>
              <a:schemeClr val="accent5">
                <a:lumMod val="60000"/>
              </a:schemeClr>
            </a:solidFill>
            <a:ln>
              <a:noFill/>
            </a:ln>
            <a:effectLst/>
          </c:spPr>
          <c:invertIfNegative val="0"/>
          <c:dLbls>
            <c:delete val="1"/>
          </c:dLbls>
          <c:cat>
            <c:strRef>
              <c:f>Lung_Top_States!$B$3</c:f>
              <c:strCache>
                <c:ptCount val="1"/>
                <c:pt idx="0">
                  <c:v>Waitlist_per_100k</c:v>
                </c:pt>
              </c:strCache>
            </c:strRef>
          </c:cat>
          <c:val>
            <c:numRef>
              <c:f>Lung_Top_States!$B$14</c:f>
              <c:numCache>
                <c:formatCode>0.00</c:formatCode>
                <c:ptCount val="1"/>
                <c:pt idx="0">
                  <c:v>0.36978297199999999</c:v>
                </c:pt>
              </c:numCache>
            </c:numRef>
          </c:val>
          <c:extLst>
            <c:ext xmlns:c16="http://schemas.microsoft.com/office/drawing/2014/chart" uri="{C3380CC4-5D6E-409C-BE32-E72D297353CC}">
              <c16:uniqueId val="{0000000A-CBAB-4161-923A-5502F710977F}"/>
            </c:ext>
          </c:extLst>
        </c:ser>
        <c:ser>
          <c:idx val="11"/>
          <c:order val="11"/>
          <c:tx>
            <c:strRef>
              <c:f>Lung_Top_States!$A$15</c:f>
              <c:strCache>
                <c:ptCount val="1"/>
                <c:pt idx="0">
                  <c:v>Wisconsin</c:v>
                </c:pt>
              </c:strCache>
            </c:strRef>
          </c:tx>
          <c:spPr>
            <a:solidFill>
              <a:schemeClr val="accent6">
                <a:lumMod val="60000"/>
              </a:schemeClr>
            </a:solidFill>
            <a:ln>
              <a:noFill/>
            </a:ln>
            <a:effectLst/>
          </c:spPr>
          <c:invertIfNegative val="0"/>
          <c:dLbls>
            <c:delete val="1"/>
          </c:dLbls>
          <c:cat>
            <c:strRef>
              <c:f>Lung_Top_States!$B$3</c:f>
              <c:strCache>
                <c:ptCount val="1"/>
                <c:pt idx="0">
                  <c:v>Waitlist_per_100k</c:v>
                </c:pt>
              </c:strCache>
            </c:strRef>
          </c:cat>
          <c:val>
            <c:numRef>
              <c:f>Lung_Top_States!$B$15</c:f>
              <c:numCache>
                <c:formatCode>0.00</c:formatCode>
                <c:ptCount val="1"/>
                <c:pt idx="0">
                  <c:v>0.36906714099999999</c:v>
                </c:pt>
              </c:numCache>
            </c:numRef>
          </c:val>
          <c:extLst>
            <c:ext xmlns:c16="http://schemas.microsoft.com/office/drawing/2014/chart" uri="{C3380CC4-5D6E-409C-BE32-E72D297353CC}">
              <c16:uniqueId val="{0000000B-CBAB-4161-923A-5502F710977F}"/>
            </c:ext>
          </c:extLst>
        </c:ser>
        <c:dLbls>
          <c:showLegendKey val="1"/>
          <c:showVal val="1"/>
          <c:showCatName val="1"/>
          <c:showSerName val="1"/>
          <c:showPercent val="1"/>
          <c:showBubbleSize val="1"/>
        </c:dLbls>
        <c:gapWidth val="219"/>
        <c:overlap val="-27"/>
        <c:axId val="10"/>
        <c:axId val="100"/>
      </c:barChart>
      <c:catAx>
        <c:axId val="10"/>
        <c:scaling>
          <c:orientation val="minMax"/>
        </c:scaling>
        <c:delete val="1"/>
        <c:axPos val="b"/>
        <c:title>
          <c:tx>
            <c:rich>
              <a:bodyPr rot="0" spcFirstLastPara="1" vertOverflow="ellipsis" vert="horz" wrap="square" anchor="ctr" anchorCtr="1"/>
              <a:lstStyle/>
              <a:p>
                <a:pPr>
                  <a:defRPr sz="2400" b="1" i="0" u="none" strike="noStrike" kern="1200" baseline="0">
                    <a:solidFill>
                      <a:schemeClr val="tx1"/>
                    </a:solidFill>
                    <a:latin typeface="+mn-lt"/>
                    <a:ea typeface="+mn-ea"/>
                    <a:cs typeface="+mn-cs"/>
                  </a:defRPr>
                </a:pPr>
                <a:r>
                  <a:rPr lang="en-US" sz="2400" b="1" dirty="0">
                    <a:solidFill>
                      <a:schemeClr val="tx1"/>
                    </a:solidFill>
                  </a:rPr>
                  <a:t>State</a:t>
                </a:r>
              </a:p>
            </c:rich>
          </c:tx>
          <c:overlay val="1"/>
          <c:spPr>
            <a:noFill/>
            <a:ln>
              <a:noFill/>
            </a:ln>
            <a:effectLst/>
          </c:spPr>
        </c:title>
        <c:numFmt formatCode="General" sourceLinked="1"/>
        <c:majorTickMark val="none"/>
        <c:minorTickMark val="none"/>
        <c:tickLblPos val="nextTo"/>
        <c:crossAx val="100"/>
        <c:crosses val="autoZero"/>
        <c:auto val="1"/>
        <c:lblAlgn val="ctr"/>
        <c:lblOffset val="100"/>
        <c:noMultiLvlLbl val="1"/>
      </c:catAx>
      <c:valAx>
        <c:axId val="10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600" b="1" i="0" u="none" strike="noStrike" kern="1200" baseline="0">
                    <a:solidFill>
                      <a:schemeClr val="tx1"/>
                    </a:solidFill>
                    <a:latin typeface="+mn-lt"/>
                    <a:ea typeface="+mn-ea"/>
                    <a:cs typeface="+mn-cs"/>
                  </a:defRPr>
                </a:pPr>
                <a:r>
                  <a:rPr lang="en-US" sz="1600" b="1" dirty="0">
                    <a:solidFill>
                      <a:schemeClr val="tx1"/>
                    </a:solidFill>
                  </a:rPr>
                  <a:t>Waitlist Per 100k</a:t>
                </a:r>
              </a:p>
            </c:rich>
          </c:tx>
          <c:overlay val="1"/>
          <c:spPr>
            <a:noFill/>
            <a:ln>
              <a:noFill/>
            </a:ln>
            <a:effectLst/>
          </c:sp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050" b="1" i="0" u="none" strike="noStrike" kern="1200" baseline="0">
                <a:solidFill>
                  <a:schemeClr val="tx1"/>
                </a:solidFill>
                <a:latin typeface="+mn-lt"/>
                <a:ea typeface="+mn-ea"/>
                <a:cs typeface="+mn-cs"/>
              </a:defRPr>
            </a:pPr>
            <a:endParaRPr lang="en-US"/>
          </a:p>
        </c:txPr>
        <c:crossAx val="10"/>
        <c:crosses val="autoZero"/>
        <c:crossBetween val="between"/>
      </c:valAx>
      <c:spPr>
        <a:noFill/>
        <a:ln>
          <a:noFill/>
        </a:ln>
        <a:effectLst/>
      </c:spPr>
    </c:plotArea>
    <c:legend>
      <c:legendPos val="b"/>
      <c:layout>
        <c:manualLayout>
          <c:xMode val="edge"/>
          <c:yMode val="edge"/>
          <c:x val="0.29982592592592594"/>
          <c:y val="5.8785403628750989E-2"/>
          <c:w val="0.66730881494454175"/>
          <c:h val="0.24296889347883915"/>
        </c:manualLayout>
      </c:layout>
      <c:overlay val="0"/>
      <c:spPr>
        <a:noFill/>
        <a:ln>
          <a:noFill/>
        </a:ln>
        <a:effectLst/>
      </c:spPr>
      <c:txPr>
        <a:bodyPr rot="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legend>
    <c:plotVisOnly val="1"/>
    <c:dispBlanksAs val="gap"/>
    <c:showDLblsOverMax val="1"/>
  </c:chart>
  <c:spPr>
    <a:noFill/>
    <a:ln>
      <a:noFill/>
    </a:ln>
    <a:effectLst/>
  </c:spPr>
  <c:txPr>
    <a:bodyPr/>
    <a:lstStyle/>
    <a:p>
      <a:pPr>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1116876118961951"/>
          <c:y val="3.3212560386473432E-2"/>
          <c:w val="0.7724742602538921"/>
          <c:h val="0.82375660922819427"/>
        </c:manualLayout>
      </c:layout>
      <c:barChart>
        <c:barDir val="col"/>
        <c:grouping val="clustered"/>
        <c:varyColors val="0"/>
        <c:ser>
          <c:idx val="0"/>
          <c:order val="0"/>
          <c:tx>
            <c:strRef>
              <c:f>Sheet1!$B$1</c:f>
              <c:strCache>
                <c:ptCount val="1"/>
                <c:pt idx="0">
                  <c:v>Heart</c:v>
                </c:pt>
              </c:strCache>
            </c:strRef>
          </c:tx>
          <c:spPr>
            <a:solidFill>
              <a:srgbClr val="345995"/>
            </a:solidFill>
            <a:effectLst/>
          </c:spPr>
          <c:invertIfNegative val="0"/>
          <c:cat>
            <c:strRef>
              <c:f>Sheet1!$A$2:$A$5</c:f>
              <c:strCache>
                <c:ptCount val="4"/>
                <c:pt idx="0">
                  <c:v>Northeast</c:v>
                </c:pt>
                <c:pt idx="1">
                  <c:v>Midwest</c:v>
                </c:pt>
                <c:pt idx="2">
                  <c:v>South</c:v>
                </c:pt>
                <c:pt idx="3">
                  <c:v>West</c:v>
                </c:pt>
              </c:strCache>
            </c:strRef>
          </c:cat>
          <c:val>
            <c:numRef>
              <c:f>Sheet1!$B$2:$B$5</c:f>
              <c:numCache>
                <c:formatCode>General</c:formatCode>
                <c:ptCount val="4"/>
                <c:pt idx="0">
                  <c:v>45.3</c:v>
                </c:pt>
                <c:pt idx="1">
                  <c:v>47.8</c:v>
                </c:pt>
                <c:pt idx="2">
                  <c:v>43.8</c:v>
                </c:pt>
                <c:pt idx="3">
                  <c:v>43.2</c:v>
                </c:pt>
              </c:numCache>
            </c:numRef>
          </c:val>
          <c:extLst>
            <c:ext xmlns:c16="http://schemas.microsoft.com/office/drawing/2014/chart" uri="{C3380CC4-5D6E-409C-BE32-E72D297353CC}">
              <c16:uniqueId val="{00000000-ECC1-4E5C-8D60-28F641028AA1}"/>
            </c:ext>
          </c:extLst>
        </c:ser>
        <c:ser>
          <c:idx val="1"/>
          <c:order val="1"/>
          <c:tx>
            <c:strRef>
              <c:f>Sheet1!$C$1</c:f>
              <c:strCache>
                <c:ptCount val="1"/>
                <c:pt idx="0">
                  <c:v>Kidney</c:v>
                </c:pt>
              </c:strCache>
            </c:strRef>
          </c:tx>
          <c:spPr>
            <a:solidFill>
              <a:srgbClr val="3A7D44"/>
            </a:solidFill>
            <a:effectLst/>
          </c:spPr>
          <c:invertIfNegative val="0"/>
          <c:cat>
            <c:strRef>
              <c:f>Sheet1!$A$2:$A$5</c:f>
              <c:strCache>
                <c:ptCount val="4"/>
                <c:pt idx="0">
                  <c:v>Northeast</c:v>
                </c:pt>
                <c:pt idx="1">
                  <c:v>Midwest</c:v>
                </c:pt>
                <c:pt idx="2">
                  <c:v>South</c:v>
                </c:pt>
                <c:pt idx="3">
                  <c:v>West</c:v>
                </c:pt>
              </c:strCache>
            </c:strRef>
          </c:cat>
          <c:val>
            <c:numRef>
              <c:f>Sheet1!$C$2:$C$5</c:f>
              <c:numCache>
                <c:formatCode>General</c:formatCode>
                <c:ptCount val="4"/>
                <c:pt idx="0">
                  <c:v>68.599999999999994</c:v>
                </c:pt>
                <c:pt idx="1">
                  <c:v>56.8</c:v>
                </c:pt>
                <c:pt idx="2">
                  <c:v>57</c:v>
                </c:pt>
                <c:pt idx="3">
                  <c:v>56.5</c:v>
                </c:pt>
              </c:numCache>
            </c:numRef>
          </c:val>
          <c:extLst>
            <c:ext xmlns:c16="http://schemas.microsoft.com/office/drawing/2014/chart" uri="{C3380CC4-5D6E-409C-BE32-E72D297353CC}">
              <c16:uniqueId val="{00000001-ECC1-4E5C-8D60-28F641028AA1}"/>
            </c:ext>
          </c:extLst>
        </c:ser>
        <c:ser>
          <c:idx val="2"/>
          <c:order val="2"/>
          <c:tx>
            <c:strRef>
              <c:f>Sheet1!$D$1</c:f>
              <c:strCache>
                <c:ptCount val="1"/>
                <c:pt idx="0">
                  <c:v>Lung</c:v>
                </c:pt>
              </c:strCache>
            </c:strRef>
          </c:tx>
          <c:spPr>
            <a:solidFill>
              <a:srgbClr val="C17C29"/>
            </a:solidFill>
            <a:effectLst/>
          </c:spPr>
          <c:invertIfNegative val="0"/>
          <c:cat>
            <c:strRef>
              <c:f>Sheet1!$A$2:$A$5</c:f>
              <c:strCache>
                <c:ptCount val="4"/>
                <c:pt idx="0">
                  <c:v>Northeast</c:v>
                </c:pt>
                <c:pt idx="1">
                  <c:v>Midwest</c:v>
                </c:pt>
                <c:pt idx="2">
                  <c:v>South</c:v>
                </c:pt>
                <c:pt idx="3">
                  <c:v>West</c:v>
                </c:pt>
              </c:strCache>
            </c:strRef>
          </c:cat>
          <c:val>
            <c:numRef>
              <c:f>Sheet1!$D$2:$D$5</c:f>
              <c:numCache>
                <c:formatCode>General</c:formatCode>
                <c:ptCount val="4"/>
                <c:pt idx="0">
                  <c:v>12.4</c:v>
                </c:pt>
                <c:pt idx="1">
                  <c:v>17.600000000000001</c:v>
                </c:pt>
                <c:pt idx="2">
                  <c:v>12.1</c:v>
                </c:pt>
                <c:pt idx="3">
                  <c:v>9.5</c:v>
                </c:pt>
              </c:numCache>
            </c:numRef>
          </c:val>
          <c:extLst>
            <c:ext xmlns:c16="http://schemas.microsoft.com/office/drawing/2014/chart" uri="{C3380CC4-5D6E-409C-BE32-E72D297353CC}">
              <c16:uniqueId val="{00000002-ECC1-4E5C-8D60-28F641028AA1}"/>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title>
          <c:tx>
            <c:rich>
              <a:bodyPr/>
              <a:lstStyle/>
              <a:p>
                <a:pPr>
                  <a:defRPr sz="1200" b="1" i="0" u="none" strike="noStrike">
                    <a:solidFill>
                      <a:schemeClr val="tx1"/>
                    </a:solidFill>
                    <a:latin typeface="Arial"/>
                  </a:defRPr>
                </a:pPr>
                <a:r>
                  <a:rPr lang="en-US" sz="1200" b="1" i="0" u="none" strike="noStrike" dirty="0">
                    <a:solidFill>
                      <a:schemeClr val="tx1"/>
                    </a:solidFill>
                    <a:latin typeface="Arial"/>
                  </a:rPr>
                  <a:t>Region</a:t>
                </a:r>
              </a:p>
            </c:rich>
          </c:tx>
          <c:overlay val="0"/>
        </c:title>
        <c:numFmt formatCode="General" sourceLinked="1"/>
        <c:majorTickMark val="out"/>
        <c:minorTickMark val="none"/>
        <c:tickLblPos val="low"/>
        <c:spPr>
          <a:ln w="12700" cap="flat">
            <a:solidFill>
              <a:srgbClr val="D9E0E6"/>
            </a:solidFill>
            <a:prstDash val="solid"/>
            <a:round/>
          </a:ln>
        </c:spPr>
        <c:txPr>
          <a:bodyPr/>
          <a:lstStyle/>
          <a:p>
            <a:pPr>
              <a:defRPr sz="1050" b="0" i="0" u="none" strike="noStrike">
                <a:solidFill>
                  <a:srgbClr val="24324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D9E0E6"/>
              </a:solidFill>
              <a:prstDash val="solid"/>
              <a:round/>
            </a:ln>
          </c:spPr>
        </c:majorGridlines>
        <c:title>
          <c:tx>
            <c:rich>
              <a:bodyPr/>
              <a:lstStyle/>
              <a:p>
                <a:pPr>
                  <a:defRPr sz="1200" b="1" i="0" u="none" strike="noStrike">
                    <a:solidFill>
                      <a:schemeClr val="tx1"/>
                    </a:solidFill>
                    <a:latin typeface="Arial"/>
                  </a:defRPr>
                </a:pPr>
                <a:r>
                  <a:rPr lang="en-US" sz="1200" b="1" i="0" u="none" strike="noStrike" dirty="0">
                    <a:solidFill>
                      <a:schemeClr val="tx1"/>
                    </a:solidFill>
                    <a:latin typeface="Arial"/>
                  </a:rPr>
                  <a:t>Share waiting ≥1 year (%)</a:t>
                </a:r>
              </a:p>
            </c:rich>
          </c:tx>
          <c:layout>
            <c:manualLayout>
              <c:xMode val="edge"/>
              <c:yMode val="edge"/>
              <c:x val="2.7750212350751913E-2"/>
              <c:y val="0.26011188139526037"/>
            </c:manualLayout>
          </c:layout>
          <c:overlay val="0"/>
        </c:title>
        <c:numFmt formatCode="General" sourceLinked="0"/>
        <c:majorTickMark val="out"/>
        <c:minorTickMark val="none"/>
        <c:tickLblPos val="nextTo"/>
        <c:spPr>
          <a:ln w="12700" cap="flat">
            <a:solidFill>
              <a:srgbClr val="D9E0E6"/>
            </a:solidFill>
            <a:prstDash val="solid"/>
            <a:round/>
          </a:ln>
        </c:spPr>
        <c:txPr>
          <a:bodyPr/>
          <a:lstStyle/>
          <a:p>
            <a:pPr>
              <a:defRPr sz="1050" b="0" i="0" u="none" strike="noStrike">
                <a:solidFill>
                  <a:srgbClr val="243240"/>
                </a:solidFill>
                <a:latin typeface="Arial"/>
              </a:defRPr>
            </a:pPr>
            <a:endParaRPr lang="en-US"/>
          </a:p>
        </c:txPr>
        <c:crossAx val="2094734554"/>
        <c:crosses val="autoZero"/>
        <c:crossBetween val="between"/>
      </c:valAx>
      <c:spPr>
        <a:solidFill>
          <a:srgbClr val="FFFFFF"/>
        </a:solidFill>
        <a:ln>
          <a:noFill/>
        </a:ln>
        <a:effectLst/>
      </c:spPr>
    </c:plotArea>
    <c:legend>
      <c:legendPos val="r"/>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Heart</c:v>
                </c:pt>
              </c:strCache>
            </c:strRef>
          </c:tx>
          <c:spPr>
            <a:solidFill>
              <a:srgbClr val="345995"/>
            </a:solidFill>
            <a:effectLst/>
          </c:spPr>
          <c:invertIfNegative val="0"/>
          <c:cat>
            <c:strRef>
              <c:f>Sheet1!$A$2:$A$10</c:f>
              <c:strCache>
                <c:ptCount val="9"/>
                <c:pt idx="0">
                  <c:v>AI/AN</c:v>
                </c:pt>
                <c:pt idx="1">
                  <c:v>Asian</c:v>
                </c:pt>
                <c:pt idx="2">
                  <c:v>Black</c:v>
                </c:pt>
                <c:pt idx="3">
                  <c:v>Hispanic</c:v>
                </c:pt>
                <c:pt idx="4">
                  <c:v>All Races</c:v>
                </c:pt>
                <c:pt idx="5">
                  <c:v>White</c:v>
                </c:pt>
                <c:pt idx="6">
                  <c:v>PI</c:v>
                </c:pt>
                <c:pt idx="7">
                  <c:v>Multiracial</c:v>
                </c:pt>
                <c:pt idx="8">
                  <c:v>Unknown</c:v>
                </c:pt>
              </c:strCache>
            </c:strRef>
          </c:cat>
          <c:val>
            <c:numRef>
              <c:f>Sheet1!$B$2:$B$10</c:f>
              <c:numCache>
                <c:formatCode>General</c:formatCode>
                <c:ptCount val="9"/>
                <c:pt idx="0">
                  <c:v>47.8</c:v>
                </c:pt>
                <c:pt idx="1">
                  <c:v>38</c:v>
                </c:pt>
                <c:pt idx="2">
                  <c:v>46.9</c:v>
                </c:pt>
                <c:pt idx="3">
                  <c:v>47.2</c:v>
                </c:pt>
                <c:pt idx="4">
                  <c:v>46.7</c:v>
                </c:pt>
                <c:pt idx="5">
                  <c:v>48</c:v>
                </c:pt>
                <c:pt idx="6">
                  <c:v>50</c:v>
                </c:pt>
                <c:pt idx="7">
                  <c:v>29.4</c:v>
                </c:pt>
                <c:pt idx="8">
                  <c:v>24.6</c:v>
                </c:pt>
              </c:numCache>
            </c:numRef>
          </c:val>
          <c:extLst>
            <c:ext xmlns:c16="http://schemas.microsoft.com/office/drawing/2014/chart" uri="{C3380CC4-5D6E-409C-BE32-E72D297353CC}">
              <c16:uniqueId val="{00000000-8810-4D89-9C2A-6F3FBF0977C0}"/>
            </c:ext>
          </c:extLst>
        </c:ser>
        <c:ser>
          <c:idx val="1"/>
          <c:order val="1"/>
          <c:tx>
            <c:strRef>
              <c:f>Sheet1!$C$1</c:f>
              <c:strCache>
                <c:ptCount val="1"/>
                <c:pt idx="0">
                  <c:v>Kidney</c:v>
                </c:pt>
              </c:strCache>
            </c:strRef>
          </c:tx>
          <c:spPr>
            <a:solidFill>
              <a:srgbClr val="3A7D44"/>
            </a:solidFill>
            <a:effectLst/>
          </c:spPr>
          <c:invertIfNegative val="0"/>
          <c:cat>
            <c:strRef>
              <c:f>Sheet1!$A$2:$A$10</c:f>
              <c:strCache>
                <c:ptCount val="9"/>
                <c:pt idx="0">
                  <c:v>AI/AN</c:v>
                </c:pt>
                <c:pt idx="1">
                  <c:v>Asian</c:v>
                </c:pt>
                <c:pt idx="2">
                  <c:v>Black</c:v>
                </c:pt>
                <c:pt idx="3">
                  <c:v>Hispanic</c:v>
                </c:pt>
                <c:pt idx="4">
                  <c:v>All Races</c:v>
                </c:pt>
                <c:pt idx="5">
                  <c:v>White</c:v>
                </c:pt>
                <c:pt idx="6">
                  <c:v>PI</c:v>
                </c:pt>
                <c:pt idx="7">
                  <c:v>Multiracial</c:v>
                </c:pt>
                <c:pt idx="8">
                  <c:v>Unknown</c:v>
                </c:pt>
              </c:strCache>
            </c:strRef>
          </c:cat>
          <c:val>
            <c:numRef>
              <c:f>Sheet1!$C$2:$C$10</c:f>
              <c:numCache>
                <c:formatCode>General</c:formatCode>
                <c:ptCount val="9"/>
                <c:pt idx="0">
                  <c:v>64.8</c:v>
                </c:pt>
                <c:pt idx="1">
                  <c:v>64.900000000000006</c:v>
                </c:pt>
                <c:pt idx="2">
                  <c:v>60.8</c:v>
                </c:pt>
                <c:pt idx="3">
                  <c:v>64.099999999999994</c:v>
                </c:pt>
                <c:pt idx="4">
                  <c:v>61.3</c:v>
                </c:pt>
                <c:pt idx="5">
                  <c:v>59.6</c:v>
                </c:pt>
                <c:pt idx="6">
                  <c:v>63.9</c:v>
                </c:pt>
                <c:pt idx="7">
                  <c:v>62.5</c:v>
                </c:pt>
                <c:pt idx="8">
                  <c:v>31.5</c:v>
                </c:pt>
              </c:numCache>
            </c:numRef>
          </c:val>
          <c:extLst>
            <c:ext xmlns:c16="http://schemas.microsoft.com/office/drawing/2014/chart" uri="{C3380CC4-5D6E-409C-BE32-E72D297353CC}">
              <c16:uniqueId val="{00000001-8810-4D89-9C2A-6F3FBF0977C0}"/>
            </c:ext>
          </c:extLst>
        </c:ser>
        <c:ser>
          <c:idx val="2"/>
          <c:order val="2"/>
          <c:tx>
            <c:strRef>
              <c:f>Sheet1!$D$1</c:f>
              <c:strCache>
                <c:ptCount val="1"/>
                <c:pt idx="0">
                  <c:v>Lung</c:v>
                </c:pt>
              </c:strCache>
            </c:strRef>
          </c:tx>
          <c:spPr>
            <a:solidFill>
              <a:srgbClr val="C17C29"/>
            </a:solidFill>
            <a:effectLst/>
          </c:spPr>
          <c:invertIfNegative val="0"/>
          <c:cat>
            <c:strRef>
              <c:f>Sheet1!$A$2:$A$10</c:f>
              <c:strCache>
                <c:ptCount val="9"/>
                <c:pt idx="0">
                  <c:v>AI/AN</c:v>
                </c:pt>
                <c:pt idx="1">
                  <c:v>Asian</c:v>
                </c:pt>
                <c:pt idx="2">
                  <c:v>Black</c:v>
                </c:pt>
                <c:pt idx="3">
                  <c:v>Hispanic</c:v>
                </c:pt>
                <c:pt idx="4">
                  <c:v>All Races</c:v>
                </c:pt>
                <c:pt idx="5">
                  <c:v>White</c:v>
                </c:pt>
                <c:pt idx="6">
                  <c:v>PI</c:v>
                </c:pt>
                <c:pt idx="7">
                  <c:v>Multiracial</c:v>
                </c:pt>
                <c:pt idx="8">
                  <c:v>Unknown</c:v>
                </c:pt>
              </c:strCache>
            </c:strRef>
          </c:cat>
          <c:val>
            <c:numRef>
              <c:f>Sheet1!$D$2:$D$10</c:f>
              <c:numCache>
                <c:formatCode>General</c:formatCode>
                <c:ptCount val="9"/>
                <c:pt idx="0">
                  <c:v>60</c:v>
                </c:pt>
                <c:pt idx="1">
                  <c:v>29</c:v>
                </c:pt>
                <c:pt idx="2">
                  <c:v>23.4</c:v>
                </c:pt>
                <c:pt idx="3">
                  <c:v>17.600000000000001</c:v>
                </c:pt>
                <c:pt idx="4">
                  <c:v>18.399999999999999</c:v>
                </c:pt>
                <c:pt idx="5">
                  <c:v>16.899999999999999</c:v>
                </c:pt>
                <c:pt idx="6">
                  <c:v>0</c:v>
                </c:pt>
                <c:pt idx="7">
                  <c:v>0</c:v>
                </c:pt>
                <c:pt idx="8">
                  <c:v>12.5</c:v>
                </c:pt>
              </c:numCache>
            </c:numRef>
          </c:val>
          <c:extLst>
            <c:ext xmlns:c16="http://schemas.microsoft.com/office/drawing/2014/chart" uri="{C3380CC4-5D6E-409C-BE32-E72D297353CC}">
              <c16:uniqueId val="{00000002-8810-4D89-9C2A-6F3FBF0977C0}"/>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l"/>
        <c:title>
          <c:tx>
            <c:rich>
              <a:bodyPr/>
              <a:lstStyle/>
              <a:p>
                <a:pPr>
                  <a:defRPr b="1" i="0" u="none" strike="noStrike">
                    <a:solidFill>
                      <a:schemeClr val="tx1"/>
                    </a:solidFill>
                    <a:latin typeface="Arial"/>
                  </a:defRPr>
                </a:pPr>
                <a:r>
                  <a:rPr lang="en-US" b="1" i="0" u="none" strike="noStrike" dirty="0">
                    <a:solidFill>
                      <a:schemeClr val="tx1"/>
                    </a:solidFill>
                    <a:latin typeface="Arial"/>
                  </a:rPr>
                  <a:t>Race / ethnicity group</a:t>
                </a:r>
              </a:p>
            </c:rich>
          </c:tx>
          <c:overlay val="0"/>
        </c:title>
        <c:numFmt formatCode="General" sourceLinked="1"/>
        <c:majorTickMark val="out"/>
        <c:minorTickMark val="none"/>
        <c:tickLblPos val="nextTo"/>
        <c:spPr>
          <a:ln w="12700" cap="flat">
            <a:solidFill>
              <a:srgbClr val="D9E0E6"/>
            </a:solidFill>
            <a:prstDash val="solid"/>
            <a:round/>
          </a:ln>
        </c:spPr>
        <c:txPr>
          <a:bodyPr/>
          <a:lstStyle/>
          <a:p>
            <a:pPr>
              <a:defRPr sz="950" b="1" i="0" u="none" strike="noStrike">
                <a:solidFill>
                  <a:srgbClr val="24324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D9E0E6"/>
              </a:solidFill>
              <a:prstDash val="solid"/>
              <a:round/>
            </a:ln>
          </c:spPr>
        </c:majorGridlines>
        <c:title>
          <c:tx>
            <c:rich>
              <a:bodyPr/>
              <a:lstStyle/>
              <a:p>
                <a:pPr>
                  <a:defRPr sz="1200" b="1" i="0" u="none" strike="noStrike">
                    <a:solidFill>
                      <a:schemeClr val="tx1"/>
                    </a:solidFill>
                    <a:latin typeface="Arial"/>
                  </a:defRPr>
                </a:pPr>
                <a:r>
                  <a:rPr lang="en-US" sz="1200" b="1" i="0" u="none" strike="noStrike" dirty="0">
                    <a:solidFill>
                      <a:schemeClr val="tx1"/>
                    </a:solidFill>
                    <a:latin typeface="Arial"/>
                  </a:rPr>
                  <a:t>Share waiting ≥1 year (%)</a:t>
                </a:r>
              </a:p>
            </c:rich>
          </c:tx>
          <c:overlay val="0"/>
        </c:title>
        <c:numFmt formatCode="General" sourceLinked="0"/>
        <c:majorTickMark val="out"/>
        <c:minorTickMark val="none"/>
        <c:tickLblPos val="low"/>
        <c:spPr>
          <a:ln w="12700" cap="flat">
            <a:solidFill>
              <a:srgbClr val="D9E0E6"/>
            </a:solidFill>
            <a:prstDash val="solid"/>
            <a:round/>
          </a:ln>
        </c:spPr>
        <c:txPr>
          <a:bodyPr/>
          <a:lstStyle/>
          <a:p>
            <a:pPr>
              <a:defRPr sz="950" b="0" i="0" u="none" strike="noStrike">
                <a:solidFill>
                  <a:srgbClr val="243240"/>
                </a:solidFill>
                <a:latin typeface="Arial"/>
              </a:defRPr>
            </a:pPr>
            <a:endParaRPr lang="en-US"/>
          </a:p>
        </c:txPr>
        <c:crossAx val="2094734554"/>
        <c:crosses val="autoZero"/>
        <c:crossBetween val="between"/>
      </c:valAx>
      <c:spPr>
        <a:solidFill>
          <a:srgbClr val="FFFFFF"/>
        </a:solidFill>
        <a:ln>
          <a:noFill/>
        </a:ln>
        <a:effectLst/>
      </c:spPr>
    </c:plotArea>
    <c:legend>
      <c:legendPos val="r"/>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Heart</c:v>
                </c:pt>
              </c:strCache>
            </c:strRef>
          </c:tx>
          <c:spPr>
            <a:solidFill>
              <a:srgbClr val="345995"/>
            </a:solidFill>
            <a:effectLst/>
          </c:spPr>
          <c:invertIfNegative val="0"/>
          <c:cat>
            <c:strRef>
              <c:f>Sheet1!$A$2:$A$5</c:f>
              <c:strCache>
                <c:ptCount val="4"/>
                <c:pt idx="0">
                  <c:v>Northeast</c:v>
                </c:pt>
                <c:pt idx="1">
                  <c:v>Midwest</c:v>
                </c:pt>
                <c:pt idx="2">
                  <c:v>South</c:v>
                </c:pt>
                <c:pt idx="3">
                  <c:v>West</c:v>
                </c:pt>
              </c:strCache>
            </c:strRef>
          </c:cat>
          <c:val>
            <c:numRef>
              <c:f>Sheet1!$B$2:$B$5</c:f>
              <c:numCache>
                <c:formatCode>General</c:formatCode>
                <c:ptCount val="4"/>
                <c:pt idx="0">
                  <c:v>0.80559727275000004</c:v>
                </c:pt>
                <c:pt idx="1">
                  <c:v>1.1960606663333333</c:v>
                </c:pt>
                <c:pt idx="2">
                  <c:v>1.3584843945882352</c:v>
                </c:pt>
                <c:pt idx="3">
                  <c:v>0.6397716911111111</c:v>
                </c:pt>
              </c:numCache>
            </c:numRef>
          </c:val>
          <c:extLst>
            <c:ext xmlns:c16="http://schemas.microsoft.com/office/drawing/2014/chart" uri="{C3380CC4-5D6E-409C-BE32-E72D297353CC}">
              <c16:uniqueId val="{00000000-8D39-4A39-A4F0-0182F94BC770}"/>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9E0E6"/>
            </a:solidFill>
            <a:prstDash val="solid"/>
            <a:round/>
          </a:ln>
        </c:spPr>
        <c:txPr>
          <a:bodyPr/>
          <a:lstStyle/>
          <a:p>
            <a:pPr>
              <a:defRPr sz="950" b="0" i="0" u="none" strike="noStrike">
                <a:solidFill>
                  <a:srgbClr val="24324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D9E0E6"/>
              </a:solidFill>
              <a:prstDash val="solid"/>
              <a:round/>
            </a:ln>
          </c:spPr>
        </c:majorGridlines>
        <c:title>
          <c:tx>
            <c:rich>
              <a:bodyPr/>
              <a:lstStyle/>
              <a:p>
                <a:pPr>
                  <a:defRPr b="0" i="0" u="none" strike="noStrike">
                    <a:solidFill>
                      <a:srgbClr val="5E6C79"/>
                    </a:solidFill>
                    <a:latin typeface="Arial"/>
                  </a:defRPr>
                </a:pPr>
                <a:r>
                  <a:rPr lang="en-US" b="0" i="0" u="none" strike="noStrike" dirty="0">
                    <a:solidFill>
                      <a:srgbClr val="5E6C79"/>
                    </a:solidFill>
                    <a:latin typeface="Arial"/>
                  </a:rPr>
                  <a:t>Waitlist per 100k</a:t>
                </a:r>
              </a:p>
            </c:rich>
          </c:tx>
          <c:overlay val="0"/>
        </c:title>
        <c:numFmt formatCode="General" sourceLinked="0"/>
        <c:majorTickMark val="out"/>
        <c:minorTickMark val="none"/>
        <c:tickLblPos val="nextTo"/>
        <c:spPr>
          <a:ln w="12700" cap="flat">
            <a:solidFill>
              <a:srgbClr val="D9E0E6"/>
            </a:solidFill>
            <a:prstDash val="solid"/>
            <a:round/>
          </a:ln>
        </c:spPr>
        <c:txPr>
          <a:bodyPr/>
          <a:lstStyle/>
          <a:p>
            <a:pPr>
              <a:defRPr sz="950" b="0" i="0" u="none" strike="noStrike">
                <a:solidFill>
                  <a:srgbClr val="24324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Kidney</c:v>
                </c:pt>
              </c:strCache>
            </c:strRef>
          </c:tx>
          <c:spPr>
            <a:solidFill>
              <a:srgbClr val="3A7D44"/>
            </a:solidFill>
            <a:effectLst/>
          </c:spPr>
          <c:invertIfNegative val="0"/>
          <c:cat>
            <c:strRef>
              <c:f>Sheet1!$A$2:$A$5</c:f>
              <c:strCache>
                <c:ptCount val="4"/>
                <c:pt idx="0">
                  <c:v>Northeast</c:v>
                </c:pt>
                <c:pt idx="1">
                  <c:v>Midwest</c:v>
                </c:pt>
                <c:pt idx="2">
                  <c:v>South</c:v>
                </c:pt>
                <c:pt idx="3">
                  <c:v>West</c:v>
                </c:pt>
              </c:strCache>
            </c:strRef>
          </c:cat>
          <c:val>
            <c:numRef>
              <c:f>Sheet1!$B$2:$B$5</c:f>
              <c:numCache>
                <c:formatCode>General</c:formatCode>
                <c:ptCount val="4"/>
                <c:pt idx="0">
                  <c:v>30.332225810000001</c:v>
                </c:pt>
                <c:pt idx="1">
                  <c:v>23.157624389166667</c:v>
                </c:pt>
                <c:pt idx="2">
                  <c:v>31.770209799882355</c:v>
                </c:pt>
                <c:pt idx="3">
                  <c:v>23.916339267777779</c:v>
                </c:pt>
              </c:numCache>
            </c:numRef>
          </c:val>
          <c:extLst>
            <c:ext xmlns:c16="http://schemas.microsoft.com/office/drawing/2014/chart" uri="{C3380CC4-5D6E-409C-BE32-E72D297353CC}">
              <c16:uniqueId val="{00000000-CCC4-45B1-84A6-129516D05128}"/>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9E0E6"/>
            </a:solidFill>
            <a:prstDash val="solid"/>
            <a:round/>
          </a:ln>
        </c:spPr>
        <c:txPr>
          <a:bodyPr/>
          <a:lstStyle/>
          <a:p>
            <a:pPr>
              <a:defRPr sz="950" b="0" i="0" u="none" strike="noStrike">
                <a:solidFill>
                  <a:srgbClr val="24324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D9E0E6"/>
              </a:solidFill>
              <a:prstDash val="solid"/>
              <a:round/>
            </a:ln>
          </c:spPr>
        </c:majorGridlines>
        <c:title>
          <c:tx>
            <c:rich>
              <a:bodyPr/>
              <a:lstStyle/>
              <a:p>
                <a:pPr>
                  <a:defRPr b="0" i="0" u="none" strike="noStrike">
                    <a:solidFill>
                      <a:srgbClr val="5E6C79"/>
                    </a:solidFill>
                    <a:latin typeface="Arial"/>
                  </a:defRPr>
                </a:pPr>
                <a:r>
                  <a:rPr lang="en-US" b="0" i="0" u="none" strike="noStrike" dirty="0">
                    <a:solidFill>
                      <a:srgbClr val="5E6C79"/>
                    </a:solidFill>
                    <a:latin typeface="Arial"/>
                  </a:rPr>
                  <a:t>Waitlist per 100k</a:t>
                </a:r>
              </a:p>
            </c:rich>
          </c:tx>
          <c:overlay val="0"/>
        </c:title>
        <c:numFmt formatCode="General" sourceLinked="0"/>
        <c:majorTickMark val="out"/>
        <c:minorTickMark val="none"/>
        <c:tickLblPos val="nextTo"/>
        <c:spPr>
          <a:ln w="12700" cap="flat">
            <a:solidFill>
              <a:srgbClr val="D9E0E6"/>
            </a:solidFill>
            <a:prstDash val="solid"/>
            <a:round/>
          </a:ln>
        </c:spPr>
        <c:txPr>
          <a:bodyPr/>
          <a:lstStyle/>
          <a:p>
            <a:pPr>
              <a:defRPr sz="950" b="0" i="0" u="none" strike="noStrike">
                <a:solidFill>
                  <a:srgbClr val="24324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Lung</c:v>
                </c:pt>
              </c:strCache>
            </c:strRef>
          </c:tx>
          <c:spPr>
            <a:solidFill>
              <a:srgbClr val="C17C29"/>
            </a:solidFill>
            <a:effectLst/>
          </c:spPr>
          <c:invertIfNegative val="0"/>
          <c:cat>
            <c:strRef>
              <c:f>Sheet1!$A$2:$A$5</c:f>
              <c:strCache>
                <c:ptCount val="4"/>
                <c:pt idx="0">
                  <c:v>Northeast</c:v>
                </c:pt>
                <c:pt idx="1">
                  <c:v>Midwest</c:v>
                </c:pt>
                <c:pt idx="2">
                  <c:v>South</c:v>
                </c:pt>
                <c:pt idx="3">
                  <c:v>West</c:v>
                </c:pt>
              </c:strCache>
            </c:strRef>
          </c:cat>
          <c:val>
            <c:numRef>
              <c:f>Sheet1!$B$2:$B$5</c:f>
              <c:numCache>
                <c:formatCode>General</c:formatCode>
                <c:ptCount val="4"/>
                <c:pt idx="0">
                  <c:v>0.228193088125</c:v>
                </c:pt>
                <c:pt idx="1">
                  <c:v>0.28616290808333333</c:v>
                </c:pt>
                <c:pt idx="2">
                  <c:v>0.15913748811764705</c:v>
                </c:pt>
                <c:pt idx="3">
                  <c:v>0.16020555655555554</c:v>
                </c:pt>
              </c:numCache>
            </c:numRef>
          </c:val>
          <c:extLst>
            <c:ext xmlns:c16="http://schemas.microsoft.com/office/drawing/2014/chart" uri="{C3380CC4-5D6E-409C-BE32-E72D297353CC}">
              <c16:uniqueId val="{00000000-BDB8-49D4-8A36-828D618464A1}"/>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9E0E6"/>
            </a:solidFill>
            <a:prstDash val="solid"/>
            <a:round/>
          </a:ln>
        </c:spPr>
        <c:txPr>
          <a:bodyPr/>
          <a:lstStyle/>
          <a:p>
            <a:pPr>
              <a:defRPr sz="950" b="0" i="0" u="none" strike="noStrike">
                <a:solidFill>
                  <a:srgbClr val="24324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D9E0E6"/>
              </a:solidFill>
              <a:prstDash val="solid"/>
              <a:round/>
            </a:ln>
          </c:spPr>
        </c:majorGridlines>
        <c:title>
          <c:tx>
            <c:rich>
              <a:bodyPr/>
              <a:lstStyle/>
              <a:p>
                <a:pPr>
                  <a:defRPr b="0" i="0" u="none" strike="noStrike">
                    <a:solidFill>
                      <a:srgbClr val="5E6C79"/>
                    </a:solidFill>
                    <a:latin typeface="Arial"/>
                  </a:defRPr>
                </a:pPr>
                <a:r>
                  <a:rPr lang="en-US" b="0" i="0" u="none" strike="noStrike" dirty="0">
                    <a:solidFill>
                      <a:srgbClr val="5E6C79"/>
                    </a:solidFill>
                    <a:latin typeface="Arial"/>
                  </a:rPr>
                  <a:t>Waitlist per 100k</a:t>
                </a:r>
              </a:p>
            </c:rich>
          </c:tx>
          <c:overlay val="0"/>
        </c:title>
        <c:numFmt formatCode="General" sourceLinked="0"/>
        <c:majorTickMark val="out"/>
        <c:minorTickMark val="none"/>
        <c:tickLblPos val="nextTo"/>
        <c:spPr>
          <a:ln w="12700" cap="flat">
            <a:solidFill>
              <a:srgbClr val="D9E0E6"/>
            </a:solidFill>
            <a:prstDash val="solid"/>
            <a:round/>
          </a:ln>
        </c:spPr>
        <c:txPr>
          <a:bodyPr/>
          <a:lstStyle/>
          <a:p>
            <a:pPr>
              <a:defRPr sz="950" b="0" i="0" u="none" strike="noStrike">
                <a:solidFill>
                  <a:srgbClr val="24324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Uninsured (%)</c:v>
                </c:pt>
              </c:strCache>
            </c:strRef>
          </c:tx>
          <c:spPr>
            <a:solidFill>
              <a:srgbClr val="345995"/>
            </a:solidFill>
            <a:effectLst/>
          </c:spPr>
          <c:invertIfNegative val="0"/>
          <c:cat>
            <c:strRef>
              <c:f>Sheet1!$A$2:$A$5</c:f>
              <c:strCache>
                <c:ptCount val="4"/>
                <c:pt idx="0">
                  <c:v>Northeast</c:v>
                </c:pt>
                <c:pt idx="1">
                  <c:v>Midwest</c:v>
                </c:pt>
                <c:pt idx="2">
                  <c:v>South</c:v>
                </c:pt>
                <c:pt idx="3">
                  <c:v>West</c:v>
                </c:pt>
              </c:strCache>
            </c:strRef>
          </c:cat>
          <c:val>
            <c:numRef>
              <c:f>Sheet1!$B$2:$B$5</c:f>
              <c:numCache>
                <c:formatCode>General</c:formatCode>
                <c:ptCount val="4"/>
                <c:pt idx="0">
                  <c:v>8.9834708125000002</c:v>
                </c:pt>
                <c:pt idx="1">
                  <c:v>10.099526691666666</c:v>
                </c:pt>
                <c:pt idx="2">
                  <c:v>13.192474052941177</c:v>
                </c:pt>
                <c:pt idx="3">
                  <c:v>13.088348411111111</c:v>
                </c:pt>
              </c:numCache>
            </c:numRef>
          </c:val>
          <c:extLst>
            <c:ext xmlns:c16="http://schemas.microsoft.com/office/drawing/2014/chart" uri="{C3380CC4-5D6E-409C-BE32-E72D297353CC}">
              <c16:uniqueId val="{00000000-719B-4107-B0F9-DA8B1BEDE772}"/>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9E0E6"/>
            </a:solidFill>
            <a:prstDash val="solid"/>
            <a:round/>
          </a:ln>
        </c:spPr>
        <c:txPr>
          <a:bodyPr/>
          <a:lstStyle/>
          <a:p>
            <a:pPr>
              <a:defRPr sz="950" b="1" i="0" u="none" strike="noStrike">
                <a:solidFill>
                  <a:srgbClr val="24324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D9E0E6"/>
              </a:solidFill>
              <a:prstDash val="solid"/>
              <a:round/>
            </a:ln>
          </c:spPr>
        </c:majorGridlines>
        <c:title>
          <c:tx>
            <c:rich>
              <a:bodyPr/>
              <a:lstStyle/>
              <a:p>
                <a:pPr>
                  <a:defRPr sz="1100" b="0" i="0" u="none" strike="noStrike">
                    <a:solidFill>
                      <a:schemeClr val="tx1"/>
                    </a:solidFill>
                    <a:latin typeface="Arial"/>
                  </a:defRPr>
                </a:pPr>
                <a:r>
                  <a:rPr lang="en-US" sz="1100" b="0" i="0" u="none" strike="noStrike" dirty="0">
                    <a:solidFill>
                      <a:schemeClr val="tx1"/>
                    </a:solidFill>
                    <a:latin typeface="Arial"/>
                  </a:rPr>
                  <a:t>Uninsured (%)</a:t>
                </a:r>
              </a:p>
            </c:rich>
          </c:tx>
          <c:overlay val="0"/>
        </c:title>
        <c:numFmt formatCode="General" sourceLinked="0"/>
        <c:majorTickMark val="out"/>
        <c:minorTickMark val="none"/>
        <c:tickLblPos val="nextTo"/>
        <c:spPr>
          <a:ln w="12700" cap="flat">
            <a:solidFill>
              <a:srgbClr val="D9E0E6"/>
            </a:solidFill>
            <a:prstDash val="solid"/>
            <a:round/>
          </a:ln>
        </c:spPr>
        <c:txPr>
          <a:bodyPr/>
          <a:lstStyle/>
          <a:p>
            <a:pPr>
              <a:defRPr sz="950" b="0" i="0" u="none" strike="noStrike">
                <a:solidFill>
                  <a:srgbClr val="24324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Median income ($)</c:v>
                </c:pt>
              </c:strCache>
            </c:strRef>
          </c:tx>
          <c:spPr>
            <a:solidFill>
              <a:srgbClr val="3A7D44"/>
            </a:solidFill>
            <a:effectLst/>
          </c:spPr>
          <c:invertIfNegative val="0"/>
          <c:cat>
            <c:strRef>
              <c:f>Sheet1!$A$2:$A$5</c:f>
              <c:strCache>
                <c:ptCount val="4"/>
                <c:pt idx="0">
                  <c:v>Northeast</c:v>
                </c:pt>
                <c:pt idx="1">
                  <c:v>Midwest</c:v>
                </c:pt>
                <c:pt idx="2">
                  <c:v>South</c:v>
                </c:pt>
                <c:pt idx="3">
                  <c:v>West</c:v>
                </c:pt>
              </c:strCache>
            </c:strRef>
          </c:cat>
          <c:val>
            <c:numRef>
              <c:f>Sheet1!$B$2:$B$5</c:f>
              <c:numCache>
                <c:formatCode>General</c:formatCode>
                <c:ptCount val="4"/>
                <c:pt idx="0">
                  <c:v>91100.25</c:v>
                </c:pt>
                <c:pt idx="1">
                  <c:v>76200.583333333328</c:v>
                </c:pt>
                <c:pt idx="2">
                  <c:v>74336.705882352937</c:v>
                </c:pt>
                <c:pt idx="3">
                  <c:v>88175.777777777781</c:v>
                </c:pt>
              </c:numCache>
            </c:numRef>
          </c:val>
          <c:extLst>
            <c:ext xmlns:c16="http://schemas.microsoft.com/office/drawing/2014/chart" uri="{C3380CC4-5D6E-409C-BE32-E72D297353CC}">
              <c16:uniqueId val="{00000000-E9D4-46E0-9419-B5B8F9D7D5EA}"/>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9E0E6"/>
            </a:solidFill>
            <a:prstDash val="solid"/>
            <a:round/>
          </a:ln>
        </c:spPr>
        <c:txPr>
          <a:bodyPr/>
          <a:lstStyle/>
          <a:p>
            <a:pPr>
              <a:defRPr sz="950" b="1" i="0" u="none" strike="noStrike">
                <a:solidFill>
                  <a:srgbClr val="24324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D9E0E6"/>
              </a:solidFill>
              <a:prstDash val="solid"/>
              <a:round/>
            </a:ln>
          </c:spPr>
        </c:majorGridlines>
        <c:title>
          <c:tx>
            <c:rich>
              <a:bodyPr/>
              <a:lstStyle/>
              <a:p>
                <a:pPr>
                  <a:defRPr b="1" i="0" u="none" strike="noStrike">
                    <a:solidFill>
                      <a:schemeClr val="tx1"/>
                    </a:solidFill>
                    <a:latin typeface="Arial"/>
                  </a:defRPr>
                </a:pPr>
                <a:r>
                  <a:rPr lang="en-US" b="1" i="0" u="none" strike="noStrike" dirty="0">
                    <a:solidFill>
                      <a:schemeClr val="tx1"/>
                    </a:solidFill>
                    <a:latin typeface="Arial"/>
                  </a:rPr>
                  <a:t>Median income ($)</a:t>
                </a:r>
              </a:p>
            </c:rich>
          </c:tx>
          <c:overlay val="0"/>
        </c:title>
        <c:numFmt formatCode="General" sourceLinked="0"/>
        <c:majorTickMark val="out"/>
        <c:minorTickMark val="none"/>
        <c:tickLblPos val="nextTo"/>
        <c:spPr>
          <a:ln w="12700" cap="flat">
            <a:solidFill>
              <a:srgbClr val="D9E0E6"/>
            </a:solidFill>
            <a:prstDash val="solid"/>
            <a:round/>
          </a:ln>
        </c:spPr>
        <c:txPr>
          <a:bodyPr/>
          <a:lstStyle/>
          <a:p>
            <a:pPr>
              <a:defRPr sz="950" b="1" i="0" u="none" strike="noStrike">
                <a:solidFill>
                  <a:srgbClr val="24324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Mortality crude rate</c:v>
                </c:pt>
              </c:strCache>
            </c:strRef>
          </c:tx>
          <c:spPr>
            <a:solidFill>
              <a:srgbClr val="C17C29"/>
            </a:solidFill>
            <a:effectLst/>
          </c:spPr>
          <c:invertIfNegative val="0"/>
          <c:cat>
            <c:strRef>
              <c:f>Sheet1!$A$2:$A$5</c:f>
              <c:strCache>
                <c:ptCount val="4"/>
                <c:pt idx="0">
                  <c:v>Northeast</c:v>
                </c:pt>
                <c:pt idx="1">
                  <c:v>Midwest</c:v>
                </c:pt>
                <c:pt idx="2">
                  <c:v>South</c:v>
                </c:pt>
                <c:pt idx="3">
                  <c:v>West</c:v>
                </c:pt>
              </c:strCache>
            </c:strRef>
          </c:cat>
          <c:val>
            <c:numRef>
              <c:f>Sheet1!$B$2:$B$5</c:f>
              <c:numCache>
                <c:formatCode>General</c:formatCode>
                <c:ptCount val="4"/>
                <c:pt idx="0">
                  <c:v>980.02499999999998</c:v>
                </c:pt>
                <c:pt idx="1">
                  <c:v>1001.6416666666668</c:v>
                </c:pt>
                <c:pt idx="2">
                  <c:v>1062.7058823529412</c:v>
                </c:pt>
                <c:pt idx="3">
                  <c:v>859.59999999999991</c:v>
                </c:pt>
              </c:numCache>
            </c:numRef>
          </c:val>
          <c:extLst>
            <c:ext xmlns:c16="http://schemas.microsoft.com/office/drawing/2014/chart" uri="{C3380CC4-5D6E-409C-BE32-E72D297353CC}">
              <c16:uniqueId val="{00000000-7858-4C36-B81C-4ACFE7AC890D}"/>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9E0E6"/>
            </a:solidFill>
            <a:prstDash val="solid"/>
            <a:round/>
          </a:ln>
        </c:spPr>
        <c:txPr>
          <a:bodyPr/>
          <a:lstStyle/>
          <a:p>
            <a:pPr>
              <a:defRPr sz="950" b="1" i="0" u="none" strike="noStrike">
                <a:solidFill>
                  <a:srgbClr val="24324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D9E0E6"/>
              </a:solidFill>
              <a:prstDash val="solid"/>
              <a:round/>
            </a:ln>
          </c:spPr>
        </c:majorGridlines>
        <c:title>
          <c:tx>
            <c:rich>
              <a:bodyPr/>
              <a:lstStyle/>
              <a:p>
                <a:pPr>
                  <a:defRPr b="1" i="0" u="none" strike="noStrike">
                    <a:solidFill>
                      <a:schemeClr val="tx1"/>
                    </a:solidFill>
                    <a:latin typeface="Arial"/>
                  </a:defRPr>
                </a:pPr>
                <a:r>
                  <a:rPr lang="en-US" b="1" i="0" u="none" strike="noStrike" dirty="0">
                    <a:solidFill>
                      <a:schemeClr val="tx1"/>
                    </a:solidFill>
                    <a:latin typeface="Arial"/>
                  </a:rPr>
                  <a:t>Crude rate</a:t>
                </a:r>
              </a:p>
            </c:rich>
          </c:tx>
          <c:overlay val="0"/>
        </c:title>
        <c:numFmt formatCode="General" sourceLinked="0"/>
        <c:majorTickMark val="out"/>
        <c:minorTickMark val="none"/>
        <c:tickLblPos val="nextTo"/>
        <c:spPr>
          <a:ln w="12700" cap="flat">
            <a:solidFill>
              <a:srgbClr val="D9E0E6"/>
            </a:solidFill>
            <a:prstDash val="solid"/>
            <a:round/>
          </a:ln>
        </c:spPr>
        <c:txPr>
          <a:bodyPr/>
          <a:lstStyle/>
          <a:p>
            <a:pPr>
              <a:defRPr sz="950" b="1" i="0" u="none" strike="noStrike">
                <a:solidFill>
                  <a:srgbClr val="24324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7">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charts/style3.xml><?xml version="1.0" encoding="utf-8"?>
<cs:chartStyle xmlns:cs="http://schemas.microsoft.com/office/drawing/2012/chartStyle" xmlns:a="http://schemas.openxmlformats.org/drawingml/2006/main" id="207">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4.xml><?xml version="1.0" encoding="utf-8"?>
<cs:chartStyle xmlns:cs="http://schemas.microsoft.com/office/drawing/2012/chartStyle" xmlns:a="http://schemas.openxmlformats.org/drawingml/2006/main" id="207">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8806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89BF9-E03F-7FE0-D10A-1905E072B3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41FA28-8017-8C18-A54C-86B9A9B0D0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010DFC-D906-6E5B-F458-3A3B6BA5D8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378261-F6DA-3C30-C741-4E0B04D07825}"/>
              </a:ext>
            </a:extLst>
          </p:cNvPr>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20144507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EF800-13B8-717A-F9C7-45A8EC205A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45B935-8070-41F6-ADB1-F11CC68498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75FED2-C91A-000F-1CFE-970000EDA4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0632AB-F81B-7478-B836-14F60210454C}"/>
              </a:ext>
            </a:extLst>
          </p:cNvPr>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3201692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B8D76-DE47-8FD3-80B3-6E75A52C4A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319420-C33F-1E95-11D4-0DDDDDF41D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4E5DAA-7DF2-D530-7A22-530AA3FB13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27C1ED-EB53-4068-F1CA-17663233DC23}"/>
              </a:ext>
            </a:extLst>
          </p:cNvPr>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8857806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6C03C-F8F1-7A99-9331-0D7819AD8F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5A1820-3CC5-56B9-829F-75CBB0F3CA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07C6D2-A7B8-77A2-B6A1-B772B5EC6B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B140CA-276D-1918-536D-9F4A8AFD15E8}"/>
              </a:ext>
            </a:extLst>
          </p:cNvPr>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38748312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6BFC6-F809-8E1E-CF55-8FBD8C6DB1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7BA27D-CCBD-50BD-2ED6-CAC3256C15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E155E1-2D86-F753-A00F-14A173CFA6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94C28E-B10C-69BA-A765-F78EAE051F4D}"/>
              </a:ext>
            </a:extLst>
          </p:cNvPr>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8052751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E2F00-A33C-8819-135B-510FBB1DE9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E90E95-5E61-4021-3032-A612694CA8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17BB8D-89E9-CF1D-6C88-495158B7C2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589CE2-34EF-C449-7D5E-9A986E033EA6}"/>
              </a:ext>
            </a:extLst>
          </p:cNvPr>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30566158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D0DDA-E44B-9AF4-6D60-401FA037E5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CA3E37-861F-0F36-1855-387F3EDBA5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6465AC-63E6-64AE-A050-55B53AD6CC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0B6035-1E2A-5043-3943-B21C48F5DCBA}"/>
              </a:ext>
            </a:extLst>
          </p:cNvPr>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32539963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AA6FA-936B-FEE9-CF7B-FA3AD614D9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FA9E94-DF5B-8FCB-5406-D64FE5F55D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5FF32A-F1D3-B592-D84C-4611CF06D1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558715-D74D-B853-B282-67F2B0BBA20D}"/>
              </a:ext>
            </a:extLst>
          </p:cNvPr>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5702726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F1C6E-CF36-B135-F16A-D393528FA3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96657B-9FB1-8499-18EB-1E9FD8F1C2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9F2828-F28C-7927-0983-FA9065D1DB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92BD56-F181-42DD-80DA-90364297FD39}"/>
              </a:ext>
            </a:extLst>
          </p:cNvPr>
          <p:cNvSpPr>
            <a:spLocks noGrp="1"/>
          </p:cNvSpPr>
          <p:nvPr>
            <p:ph type="sldNum" sz="quarter" idx="10"/>
          </p:nvPr>
        </p:nvSpPr>
        <p:spPr/>
        <p:txBody>
          <a:bodyPr/>
          <a:lstStyle/>
          <a:p>
            <a:fld id="{F7021451-1387-4CA6-816F-3879F97B5CBC}" type="slidenum">
              <a:rPr lang="en-US"/>
              <a:t>17</a:t>
            </a:fld>
            <a:endParaRPr lang="en-US" dirty="0"/>
          </a:p>
        </p:txBody>
      </p:sp>
    </p:spTree>
    <p:extLst>
      <p:ext uri="{BB962C8B-B14F-4D97-AF65-F5344CB8AC3E}">
        <p14:creationId xmlns:p14="http://schemas.microsoft.com/office/powerpoint/2010/main" val="15986758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FA610-4467-6387-BE16-4B6E23EF46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A6F665-BC9A-499C-384F-151811D6C2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A7E176-86CB-FFB0-9CDE-6DFAA74A73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34C41B-0E62-B020-6B46-FABCA963407B}"/>
              </a:ext>
            </a:extLst>
          </p:cNvPr>
          <p:cNvSpPr>
            <a:spLocks noGrp="1"/>
          </p:cNvSpPr>
          <p:nvPr>
            <p:ph type="sldNum" sz="quarter" idx="10"/>
          </p:nvPr>
        </p:nvSpPr>
        <p:spPr/>
        <p:txBody>
          <a:bodyPr/>
          <a:lstStyle/>
          <a:p>
            <a:fld id="{F7021451-1387-4CA6-816F-3879F97B5CBC}" type="slidenum">
              <a:rPr lang="en-US"/>
              <a:t>18</a:t>
            </a:fld>
            <a:endParaRPr lang="en-US" dirty="0"/>
          </a:p>
        </p:txBody>
      </p:sp>
    </p:spTree>
    <p:extLst>
      <p:ext uri="{BB962C8B-B14F-4D97-AF65-F5344CB8AC3E}">
        <p14:creationId xmlns:p14="http://schemas.microsoft.com/office/powerpoint/2010/main" val="37237295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86814-E506-7B80-9D02-3EF1F2EF01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3A4D14-1162-9A92-1304-D501DA04ED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BFD3D0-58B0-7F90-0B98-A4FBB07D1D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B17009-8ED1-2CB9-A1A2-F8E76AF95F59}"/>
              </a:ext>
            </a:extLst>
          </p:cNvPr>
          <p:cNvSpPr>
            <a:spLocks noGrp="1"/>
          </p:cNvSpPr>
          <p:nvPr>
            <p:ph type="sldNum" sz="quarter" idx="10"/>
          </p:nvPr>
        </p:nvSpPr>
        <p:spPr/>
        <p:txBody>
          <a:bodyPr/>
          <a:lstStyle/>
          <a:p>
            <a:fld id="{F7021451-1387-4CA6-816F-3879F97B5CBC}" type="slidenum">
              <a:rPr lang="en-US"/>
              <a:t>19</a:t>
            </a:fld>
            <a:endParaRPr lang="en-US" dirty="0"/>
          </a:p>
        </p:txBody>
      </p:sp>
    </p:spTree>
    <p:extLst>
      <p:ext uri="{BB962C8B-B14F-4D97-AF65-F5344CB8AC3E}">
        <p14:creationId xmlns:p14="http://schemas.microsoft.com/office/powerpoint/2010/main" val="16357693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6FA0E-BAA9-398B-10EA-809A5C31C7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337E45-FC23-8A6B-A242-5903A1ECCA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5EA8E6-3748-12A5-AB4C-69A06354D9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85C0CE-62ED-A24F-0188-4CCAA9E58D41}"/>
              </a:ext>
            </a:extLst>
          </p:cNvPr>
          <p:cNvSpPr>
            <a:spLocks noGrp="1"/>
          </p:cNvSpPr>
          <p:nvPr>
            <p:ph type="sldNum" sz="quarter" idx="10"/>
          </p:nvPr>
        </p:nvSpPr>
        <p:spPr/>
        <p:txBody>
          <a:bodyPr/>
          <a:lstStyle/>
          <a:p>
            <a:fld id="{F7021451-1387-4CA6-816F-3879F97B5CBC}" type="slidenum">
              <a:rPr lang="en-US"/>
              <a:t>20</a:t>
            </a:fld>
            <a:endParaRPr lang="en-US" dirty="0"/>
          </a:p>
        </p:txBody>
      </p:sp>
    </p:spTree>
    <p:extLst>
      <p:ext uri="{BB962C8B-B14F-4D97-AF65-F5344CB8AC3E}">
        <p14:creationId xmlns:p14="http://schemas.microsoft.com/office/powerpoint/2010/main" val="42817506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chart" Target="../charts/chart11.xml"/><Relationship Id="rId4" Type="http://schemas.openxmlformats.org/officeDocument/2006/relationships/chart" Target="../charts/chart10.xml"/></Relationships>
</file>

<file path=ppt/slides/_rels/slide15.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chart" Target="../charts/chart14.xml"/><Relationship Id="rId4" Type="http://schemas.openxmlformats.org/officeDocument/2006/relationships/chart" Target="../charts/char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4343400" cy="6858000"/>
          </a:xfrm>
          <a:prstGeom prst="rect">
            <a:avLst/>
          </a:prstGeom>
          <a:solidFill>
            <a:srgbClr val="16324F"/>
          </a:solidFill>
          <a:ln w="12700">
            <a:solidFill>
              <a:srgbClr val="16324F">
                <a:alpha val="0"/>
              </a:srgbClr>
            </a:solidFill>
            <a:prstDash val="solid"/>
          </a:ln>
        </p:spPr>
        <p:txBody>
          <a:bodyPr/>
          <a:lstStyle/>
          <a:p>
            <a:endParaRPr lang="en-US" dirty="0"/>
          </a:p>
        </p:txBody>
      </p:sp>
      <p:sp>
        <p:nvSpPr>
          <p:cNvPr id="3" name="Shape 1"/>
          <p:cNvSpPr/>
          <p:nvPr/>
        </p:nvSpPr>
        <p:spPr>
          <a:xfrm>
            <a:off x="4343400" y="0"/>
            <a:ext cx="7848295" cy="6858000"/>
          </a:xfrm>
          <a:prstGeom prst="rect">
            <a:avLst/>
          </a:prstGeom>
          <a:solidFill>
            <a:srgbClr val="F5F7FA"/>
          </a:solidFill>
          <a:ln w="12700">
            <a:solidFill>
              <a:srgbClr val="F5F7FA">
                <a:alpha val="0"/>
              </a:srgbClr>
            </a:solidFill>
            <a:prstDash val="solid"/>
          </a:ln>
        </p:spPr>
        <p:txBody>
          <a:bodyPr/>
          <a:lstStyle/>
          <a:p>
            <a:endParaRPr lang="en-US" dirty="0"/>
          </a:p>
        </p:txBody>
      </p:sp>
      <p:sp>
        <p:nvSpPr>
          <p:cNvPr id="4" name="Text 2"/>
          <p:cNvSpPr/>
          <p:nvPr/>
        </p:nvSpPr>
        <p:spPr>
          <a:xfrm>
            <a:off x="182880" y="868680"/>
            <a:ext cx="4091940" cy="2468880"/>
          </a:xfrm>
          <a:prstGeom prst="rect">
            <a:avLst/>
          </a:prstGeom>
          <a:noFill/>
          <a:ln/>
        </p:spPr>
        <p:txBody>
          <a:bodyPr wrap="square" lIns="0" tIns="0" rIns="0" bIns="0" rtlCol="0" anchor="ctr"/>
          <a:lstStyle/>
          <a:p>
            <a:pPr marL="0" indent="0">
              <a:buNone/>
            </a:pPr>
            <a:r>
              <a:rPr lang="en-US" sz="3200" b="1" dirty="0">
                <a:solidFill>
                  <a:srgbClr val="FFFFFF"/>
                </a:solidFill>
                <a:latin typeface="Aptos Display" pitchFamily="34" charset="0"/>
                <a:ea typeface="Aptos Display" pitchFamily="34" charset="-122"/>
                <a:cs typeface="Aptos Display" pitchFamily="34" charset="-120"/>
              </a:rPr>
              <a:t>TRANSPLANT</a:t>
            </a:r>
            <a:endParaRPr lang="en-US" sz="3200" dirty="0"/>
          </a:p>
          <a:p>
            <a:pPr marL="0" indent="0">
              <a:buNone/>
            </a:pPr>
            <a:r>
              <a:rPr lang="en-US" sz="3200" b="1" dirty="0">
                <a:solidFill>
                  <a:srgbClr val="FFFFFF"/>
                </a:solidFill>
                <a:latin typeface="Aptos Display" pitchFamily="34" charset="0"/>
                <a:ea typeface="Aptos Display" pitchFamily="34" charset="-122"/>
                <a:cs typeface="Aptos Display" pitchFamily="34" charset="-120"/>
              </a:rPr>
              <a:t>EQUITY IN</a:t>
            </a:r>
            <a:endParaRPr lang="en-US" sz="3200" dirty="0"/>
          </a:p>
          <a:p>
            <a:pPr marL="0" indent="0">
              <a:buNone/>
            </a:pPr>
            <a:r>
              <a:rPr lang="en-US" sz="3200" b="1" dirty="0">
                <a:solidFill>
                  <a:srgbClr val="FFFFFF"/>
                </a:solidFill>
                <a:latin typeface="Aptos Display" pitchFamily="34" charset="0"/>
                <a:ea typeface="Aptos Display" pitchFamily="34" charset="-122"/>
                <a:cs typeface="Aptos Display" pitchFamily="34" charset="-120"/>
              </a:rPr>
              <a:t>THE U.S.</a:t>
            </a:r>
            <a:endParaRPr lang="en-US" sz="3200" dirty="0"/>
          </a:p>
        </p:txBody>
      </p:sp>
      <p:sp>
        <p:nvSpPr>
          <p:cNvPr id="5" name="Text 3"/>
          <p:cNvSpPr/>
          <p:nvPr/>
        </p:nvSpPr>
        <p:spPr>
          <a:xfrm>
            <a:off x="4892040" y="1325880"/>
            <a:ext cx="6217920" cy="731520"/>
          </a:xfrm>
          <a:prstGeom prst="rect">
            <a:avLst/>
          </a:prstGeom>
          <a:noFill/>
          <a:ln/>
        </p:spPr>
        <p:txBody>
          <a:bodyPr wrap="square" lIns="0" tIns="0" rIns="0" bIns="0" rtlCol="0" anchor="ctr"/>
          <a:lstStyle/>
          <a:p>
            <a:pPr marL="0" indent="0">
              <a:buNone/>
            </a:pPr>
            <a:r>
              <a:rPr lang="en-US" sz="2600" b="1" dirty="0">
                <a:solidFill>
                  <a:srgbClr val="16324F"/>
                </a:solidFill>
                <a:latin typeface="Aptos Display" pitchFamily="34" charset="0"/>
                <a:ea typeface="Aptos Display" pitchFamily="34" charset="-122"/>
                <a:cs typeface="Aptos Display" pitchFamily="34" charset="-120"/>
              </a:rPr>
              <a:t>Disparities in access to heart, kidney, and lung transplants</a:t>
            </a:r>
            <a:endParaRPr lang="en-US" sz="2600" dirty="0"/>
          </a:p>
        </p:txBody>
      </p:sp>
      <p:sp>
        <p:nvSpPr>
          <p:cNvPr id="6" name="Text 4"/>
          <p:cNvSpPr/>
          <p:nvPr/>
        </p:nvSpPr>
        <p:spPr>
          <a:xfrm>
            <a:off x="4919472" y="2240280"/>
            <a:ext cx="5669280" cy="502920"/>
          </a:xfrm>
          <a:prstGeom prst="rect">
            <a:avLst/>
          </a:prstGeom>
          <a:noFill/>
          <a:ln/>
        </p:spPr>
        <p:txBody>
          <a:bodyPr wrap="square" lIns="0" tIns="0" rIns="0" bIns="0" rtlCol="0" anchor="ctr"/>
          <a:lstStyle/>
          <a:p>
            <a:pPr marL="0" indent="0">
              <a:buNone/>
            </a:pPr>
            <a:r>
              <a:rPr lang="en-US" sz="1500" dirty="0">
                <a:solidFill>
                  <a:srgbClr val="243240"/>
                </a:solidFill>
                <a:latin typeface="Aptos" pitchFamily="34" charset="0"/>
                <a:ea typeface="Aptos" pitchFamily="34" charset="-122"/>
                <a:cs typeface="Aptos" pitchFamily="34" charset="-120"/>
              </a:rPr>
              <a:t>Capstone presentation built from the waitlist, candidate waiting-time, CDC mortality, and Census datasets.</a:t>
            </a:r>
            <a:endParaRPr lang="en-US" sz="1500" dirty="0"/>
          </a:p>
        </p:txBody>
      </p:sp>
      <p:sp>
        <p:nvSpPr>
          <p:cNvPr id="9" name="Text 7"/>
          <p:cNvSpPr/>
          <p:nvPr/>
        </p:nvSpPr>
        <p:spPr>
          <a:xfrm>
            <a:off x="4957572" y="2926080"/>
            <a:ext cx="2834640" cy="219456"/>
          </a:xfrm>
          <a:prstGeom prst="rect">
            <a:avLst/>
          </a:prstGeom>
          <a:noFill/>
          <a:ln/>
        </p:spPr>
        <p:txBody>
          <a:bodyPr wrap="square" lIns="0" tIns="0" rIns="0" bIns="0" rtlCol="0" anchor="ctr"/>
          <a:lstStyle/>
          <a:p>
            <a:pPr marL="0" indent="0">
              <a:buNone/>
            </a:pPr>
            <a:r>
              <a:rPr lang="en-US" sz="1700" b="1" dirty="0">
                <a:solidFill>
                  <a:srgbClr val="29435C"/>
                </a:solidFill>
              </a:rPr>
              <a:t>Heart • Kidney • Lung</a:t>
            </a:r>
            <a:endParaRPr lang="en-US" sz="1700" dirty="0"/>
          </a:p>
        </p:txBody>
      </p:sp>
      <p:sp>
        <p:nvSpPr>
          <p:cNvPr id="10" name="Text 2">
            <a:extLst>
              <a:ext uri="{FF2B5EF4-FFF2-40B4-BE49-F238E27FC236}">
                <a16:creationId xmlns:a16="http://schemas.microsoft.com/office/drawing/2014/main" id="{262D4CD5-62ED-B9D1-B292-777061B8317B}"/>
              </a:ext>
            </a:extLst>
          </p:cNvPr>
          <p:cNvSpPr/>
          <p:nvPr/>
        </p:nvSpPr>
        <p:spPr>
          <a:xfrm>
            <a:off x="182880" y="3894582"/>
            <a:ext cx="4023360" cy="2468880"/>
          </a:xfrm>
          <a:prstGeom prst="rect">
            <a:avLst/>
          </a:prstGeom>
          <a:noFill/>
          <a:ln/>
        </p:spPr>
        <p:txBody>
          <a:bodyPr wrap="square" lIns="0" tIns="0" rIns="0" bIns="0" rtlCol="0" anchor="ctr"/>
          <a:lstStyle/>
          <a:p>
            <a:r>
              <a:rPr lang="en-US" sz="2800" b="1" dirty="0">
                <a:solidFill>
                  <a:schemeClr val="bg1"/>
                </a:solidFill>
              </a:rPr>
              <a:t>RICHARD ANSON</a:t>
            </a:r>
            <a:br>
              <a:rPr lang="en-US" sz="4000" b="1" dirty="0">
                <a:solidFill>
                  <a:schemeClr val="bg1"/>
                </a:solidFill>
              </a:rPr>
            </a:br>
            <a:r>
              <a:rPr lang="en-US" sz="2800" b="1" dirty="0">
                <a:solidFill>
                  <a:schemeClr val="bg1"/>
                </a:solidFill>
              </a:rPr>
              <a:t>NASHVILLE SOFTWARE SCHOOL</a:t>
            </a:r>
            <a:br>
              <a:rPr lang="en-US" sz="4000" b="1" dirty="0">
                <a:solidFill>
                  <a:schemeClr val="bg1"/>
                </a:solidFill>
              </a:rPr>
            </a:br>
            <a:r>
              <a:rPr lang="en-US" sz="2800" b="1" dirty="0">
                <a:solidFill>
                  <a:schemeClr val="bg1"/>
                </a:solidFill>
              </a:rPr>
              <a:t>COHORT DA16</a:t>
            </a:r>
            <a:endParaRPr lang="en-US" sz="3600" b="1"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6324F"/>
          </a:solidFill>
          <a:ln w="12700">
            <a:solidFill>
              <a:srgbClr val="16324F">
                <a:alpha val="0"/>
              </a:srgbClr>
            </a:solidFill>
            <a:prstDash val="solid"/>
          </a:ln>
        </p:spPr>
        <p:txBody>
          <a:bodyPr/>
          <a:lstStyle/>
          <a:p>
            <a:endParaRPr lang="en-US" dirty="0"/>
          </a:p>
        </p:txBody>
      </p:sp>
      <p:sp>
        <p:nvSpPr>
          <p:cNvPr id="3" name="Shape 1"/>
          <p:cNvSpPr/>
          <p:nvPr/>
        </p:nvSpPr>
        <p:spPr>
          <a:xfrm>
            <a:off x="0" y="6748272"/>
            <a:ext cx="12191695" cy="109728"/>
          </a:xfrm>
          <a:prstGeom prst="rect">
            <a:avLst/>
          </a:prstGeom>
          <a:solidFill>
            <a:srgbClr val="345995"/>
          </a:solidFill>
          <a:ln w="12700">
            <a:solidFill>
              <a:srgbClr val="345995">
                <a:alpha val="0"/>
              </a:srgbClr>
            </a:solidFill>
            <a:prstDash val="solid"/>
          </a:ln>
        </p:spPr>
        <p:txBody>
          <a:bodyPr/>
          <a:lstStyle/>
          <a:p>
            <a:endParaRPr lang="en-US" dirty="0"/>
          </a:p>
        </p:txBody>
      </p:sp>
      <p:sp>
        <p:nvSpPr>
          <p:cNvPr id="5" name="Text 3"/>
          <p:cNvSpPr/>
          <p:nvPr/>
        </p:nvSpPr>
        <p:spPr>
          <a:xfrm>
            <a:off x="795528" y="621792"/>
            <a:ext cx="8961120" cy="457200"/>
          </a:xfrm>
          <a:prstGeom prst="rect">
            <a:avLst/>
          </a:prstGeom>
          <a:noFill/>
          <a:ln/>
        </p:spPr>
        <p:txBody>
          <a:bodyPr wrap="square" lIns="0" tIns="0" rIns="0" bIns="0" rtlCol="0" anchor="ctr"/>
          <a:lstStyle/>
          <a:p>
            <a:pPr marL="0" indent="0">
              <a:buNone/>
            </a:pPr>
            <a:r>
              <a:rPr lang="en-US" sz="2500" b="1" dirty="0">
                <a:solidFill>
                  <a:srgbClr val="16324F"/>
                </a:solidFill>
                <a:latin typeface="Aptos Display" pitchFamily="34" charset="0"/>
                <a:ea typeface="Aptos Display" pitchFamily="34" charset="-122"/>
                <a:cs typeface="Aptos Display" pitchFamily="34" charset="-120"/>
              </a:rPr>
              <a:t>RESEARCH QUESTIONS AND SCOPE</a:t>
            </a:r>
            <a:endParaRPr lang="en-US" sz="2500" dirty="0"/>
          </a:p>
        </p:txBody>
      </p:sp>
      <p:sp>
        <p:nvSpPr>
          <p:cNvPr id="8" name="Text 6"/>
          <p:cNvSpPr/>
          <p:nvPr/>
        </p:nvSpPr>
        <p:spPr>
          <a:xfrm>
            <a:off x="795528" y="1362456"/>
            <a:ext cx="5129784" cy="270422"/>
          </a:xfrm>
          <a:prstGeom prst="rect">
            <a:avLst/>
          </a:prstGeom>
          <a:noFill/>
          <a:ln/>
        </p:spPr>
        <p:txBody>
          <a:bodyPr wrap="square" lIns="0" tIns="0" rIns="0" bIns="0" rtlCol="0" anchor="ctr"/>
          <a:lstStyle/>
          <a:p>
            <a:pPr marL="0" indent="0">
              <a:buNone/>
            </a:pPr>
            <a:r>
              <a:rPr lang="en-US" sz="2000" b="1" dirty="0">
                <a:solidFill>
                  <a:srgbClr val="16324F"/>
                </a:solidFill>
              </a:rPr>
              <a:t>Primary question</a:t>
            </a:r>
            <a:endParaRPr lang="en-US" sz="2000" dirty="0"/>
          </a:p>
        </p:txBody>
      </p:sp>
      <p:sp>
        <p:nvSpPr>
          <p:cNvPr id="9" name="Text 7"/>
          <p:cNvSpPr/>
          <p:nvPr/>
        </p:nvSpPr>
        <p:spPr>
          <a:xfrm>
            <a:off x="795528" y="1618488"/>
            <a:ext cx="11114532" cy="1074570"/>
          </a:xfrm>
          <a:prstGeom prst="rect">
            <a:avLst/>
          </a:prstGeom>
          <a:noFill/>
          <a:ln/>
        </p:spPr>
        <p:txBody>
          <a:bodyPr wrap="square" lIns="0" tIns="0" rIns="0" bIns="0" rtlCol="0" anchor="t"/>
          <a:lstStyle/>
          <a:p>
            <a:pPr marL="0" indent="0">
              <a:buNone/>
            </a:pPr>
            <a:r>
              <a:rPr lang="en-US" sz="2000" dirty="0"/>
              <a:t>Are there measurable disparities in access to heart, kidney, and lung transplants in the United States based on demographic, socioeconomic, and geographic factors?</a:t>
            </a:r>
          </a:p>
        </p:txBody>
      </p:sp>
      <p:sp>
        <p:nvSpPr>
          <p:cNvPr id="10" name="Text 8"/>
          <p:cNvSpPr/>
          <p:nvPr/>
        </p:nvSpPr>
        <p:spPr>
          <a:xfrm>
            <a:off x="795528" y="2693058"/>
            <a:ext cx="11114532" cy="2286000"/>
          </a:xfrm>
          <a:prstGeom prst="rect">
            <a:avLst/>
          </a:prstGeom>
          <a:noFill/>
          <a:ln/>
        </p:spPr>
        <p:txBody>
          <a:bodyPr wrap="square" lIns="508" tIns="508" rIns="508" bIns="508" rtlCol="0" anchor="t"/>
          <a:lstStyle/>
          <a:p>
            <a:pPr marL="228600" indent="-228600">
              <a:buSzPct val="100000"/>
              <a:buChar char="•"/>
            </a:pPr>
            <a:endParaRPr lang="en-US" sz="2400" dirty="0">
              <a:latin typeface="Aptos" pitchFamily="34" charset="0"/>
              <a:ea typeface="Aptos" pitchFamily="34" charset="-122"/>
              <a:cs typeface="Aptos" pitchFamily="34" charset="-120"/>
            </a:endParaRPr>
          </a:p>
          <a:p>
            <a:pPr marL="228600" indent="-228600">
              <a:buSzPct val="100000"/>
              <a:buChar char="•"/>
            </a:pPr>
            <a:endParaRPr lang="en-US" sz="2400" dirty="0">
              <a:latin typeface="Aptos" pitchFamily="34" charset="0"/>
              <a:ea typeface="Aptos" pitchFamily="34" charset="-122"/>
              <a:cs typeface="Aptos" pitchFamily="34" charset="-120"/>
            </a:endParaRPr>
          </a:p>
          <a:p>
            <a:pPr marL="228600" indent="-228600">
              <a:buSzPct val="100000"/>
              <a:buChar char="•"/>
            </a:pPr>
            <a:r>
              <a:rPr lang="en-US" sz="2400" dirty="0">
                <a:latin typeface="Aptos" pitchFamily="34" charset="0"/>
                <a:ea typeface="Aptos" pitchFamily="34" charset="-122"/>
                <a:cs typeface="Aptos" pitchFamily="34" charset="-120"/>
              </a:rPr>
              <a:t>Do transplant access patterns differ by race, ethnicity, sex, or age?</a:t>
            </a:r>
            <a:endParaRPr lang="en-US" sz="2400" dirty="0"/>
          </a:p>
          <a:p>
            <a:pPr marL="228600" indent="-228600">
              <a:buSzPct val="100000"/>
              <a:buChar char="•"/>
            </a:pPr>
            <a:r>
              <a:rPr lang="en-US" sz="2400" dirty="0">
                <a:latin typeface="Aptos" pitchFamily="34" charset="0"/>
                <a:ea typeface="Aptos" pitchFamily="34" charset="-122"/>
                <a:cs typeface="Aptos" pitchFamily="34" charset="-120"/>
              </a:rPr>
              <a:t>Are long waits uneven across demographic or geographic groups?</a:t>
            </a:r>
            <a:endParaRPr lang="en-US" sz="2400" dirty="0"/>
          </a:p>
          <a:p>
            <a:pPr marL="228600" indent="-228600">
              <a:buSzPct val="100000"/>
              <a:buChar char="•"/>
            </a:pPr>
            <a:r>
              <a:rPr lang="en-US" sz="2400" dirty="0">
                <a:latin typeface="Aptos" pitchFamily="34" charset="0"/>
                <a:ea typeface="Aptos" pitchFamily="34" charset="-122"/>
                <a:cs typeface="Aptos" pitchFamily="34" charset="-120"/>
              </a:rPr>
              <a:t>How do insurance status or region relate to the likelihood of reaching transplant?</a:t>
            </a:r>
            <a:endParaRPr lang="en-US" sz="2400" dirty="0"/>
          </a:p>
          <a:p>
            <a:pPr marL="228600" indent="-228600">
              <a:buSzPct val="100000"/>
              <a:buChar char="•"/>
            </a:pPr>
            <a:r>
              <a:rPr lang="en-US" sz="2400" dirty="0">
                <a:latin typeface="Aptos" pitchFamily="34" charset="0"/>
                <a:ea typeface="Aptos" pitchFamily="34" charset="-122"/>
                <a:cs typeface="Aptos" pitchFamily="34" charset="-120"/>
              </a:rPr>
              <a:t>Are outcome-related measures distributed unevenly across groups?</a:t>
            </a:r>
            <a:endParaRPr lang="en-US" sz="2400" dirty="0"/>
          </a:p>
        </p:txBody>
      </p:sp>
      <p:sp>
        <p:nvSpPr>
          <p:cNvPr id="24" name="Text 6">
            <a:extLst>
              <a:ext uri="{FF2B5EF4-FFF2-40B4-BE49-F238E27FC236}">
                <a16:creationId xmlns:a16="http://schemas.microsoft.com/office/drawing/2014/main" id="{D6027877-9EA7-9996-3ABC-43D9D8071305}"/>
              </a:ext>
            </a:extLst>
          </p:cNvPr>
          <p:cNvSpPr/>
          <p:nvPr/>
        </p:nvSpPr>
        <p:spPr>
          <a:xfrm>
            <a:off x="795528" y="3027939"/>
            <a:ext cx="5129784" cy="270422"/>
          </a:xfrm>
          <a:prstGeom prst="rect">
            <a:avLst/>
          </a:prstGeom>
          <a:noFill/>
          <a:ln/>
        </p:spPr>
        <p:txBody>
          <a:bodyPr wrap="square" lIns="0" tIns="0" rIns="0" bIns="0" rtlCol="0" anchor="ctr"/>
          <a:lstStyle/>
          <a:p>
            <a:pPr marL="0" indent="0">
              <a:buNone/>
            </a:pPr>
            <a:r>
              <a:rPr lang="en-US" b="1" dirty="0">
                <a:solidFill>
                  <a:srgbClr val="16324F"/>
                </a:solidFill>
              </a:rPr>
              <a:t>Supporting question</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a:extLst>
            <a:ext uri="{FF2B5EF4-FFF2-40B4-BE49-F238E27FC236}">
              <a16:creationId xmlns:a16="http://schemas.microsoft.com/office/drawing/2014/main" id="{826D4DB1-27FB-65DC-7C70-2421883A529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C56724F-8215-ECC1-8DBF-1491AA5BB5B2}"/>
              </a:ext>
            </a:extLst>
          </p:cNvPr>
          <p:cNvSpPr/>
          <p:nvPr/>
        </p:nvSpPr>
        <p:spPr>
          <a:xfrm>
            <a:off x="0" y="0"/>
            <a:ext cx="12191695" cy="164592"/>
          </a:xfrm>
          <a:prstGeom prst="rect">
            <a:avLst/>
          </a:prstGeom>
          <a:solidFill>
            <a:srgbClr val="16324F"/>
          </a:solidFill>
          <a:ln w="12700">
            <a:solidFill>
              <a:srgbClr val="16324F">
                <a:alpha val="0"/>
              </a:srgbClr>
            </a:solidFill>
            <a:prstDash val="solid"/>
          </a:ln>
        </p:spPr>
        <p:txBody>
          <a:bodyPr/>
          <a:lstStyle/>
          <a:p>
            <a:endParaRPr lang="en-US" dirty="0"/>
          </a:p>
        </p:txBody>
      </p:sp>
      <p:sp>
        <p:nvSpPr>
          <p:cNvPr id="3" name="Shape 1">
            <a:extLst>
              <a:ext uri="{FF2B5EF4-FFF2-40B4-BE49-F238E27FC236}">
                <a16:creationId xmlns:a16="http://schemas.microsoft.com/office/drawing/2014/main" id="{85F31727-0A9E-3BF8-9158-71E0D15BB7A0}"/>
              </a:ext>
            </a:extLst>
          </p:cNvPr>
          <p:cNvSpPr/>
          <p:nvPr/>
        </p:nvSpPr>
        <p:spPr>
          <a:xfrm>
            <a:off x="0" y="6748272"/>
            <a:ext cx="12191695" cy="109728"/>
          </a:xfrm>
          <a:prstGeom prst="rect">
            <a:avLst/>
          </a:prstGeom>
          <a:solidFill>
            <a:srgbClr val="345995"/>
          </a:solidFill>
          <a:ln w="12700">
            <a:solidFill>
              <a:srgbClr val="345995">
                <a:alpha val="0"/>
              </a:srgbClr>
            </a:solidFill>
            <a:prstDash val="solid"/>
          </a:ln>
        </p:spPr>
        <p:txBody>
          <a:bodyPr/>
          <a:lstStyle/>
          <a:p>
            <a:endParaRPr lang="en-US" dirty="0"/>
          </a:p>
        </p:txBody>
      </p:sp>
      <p:sp>
        <p:nvSpPr>
          <p:cNvPr id="5" name="Text 3">
            <a:extLst>
              <a:ext uri="{FF2B5EF4-FFF2-40B4-BE49-F238E27FC236}">
                <a16:creationId xmlns:a16="http://schemas.microsoft.com/office/drawing/2014/main" id="{681BFDD3-A2D5-C928-1B48-03B5A156744E}"/>
              </a:ext>
            </a:extLst>
          </p:cNvPr>
          <p:cNvSpPr/>
          <p:nvPr/>
        </p:nvSpPr>
        <p:spPr>
          <a:xfrm>
            <a:off x="733806" y="297180"/>
            <a:ext cx="8961120" cy="457200"/>
          </a:xfrm>
          <a:prstGeom prst="rect">
            <a:avLst/>
          </a:prstGeom>
          <a:noFill/>
          <a:ln/>
        </p:spPr>
        <p:txBody>
          <a:bodyPr wrap="square" lIns="0" tIns="0" rIns="0" bIns="0" rtlCol="0" anchor="ctr"/>
          <a:lstStyle/>
          <a:p>
            <a:pPr marL="0" indent="0">
              <a:buNone/>
            </a:pPr>
            <a:r>
              <a:rPr lang="en-US" sz="2500" b="1" dirty="0">
                <a:solidFill>
                  <a:srgbClr val="16324F"/>
                </a:solidFill>
                <a:latin typeface="Aptos Display" pitchFamily="34" charset="0"/>
              </a:rPr>
              <a:t>KEY DEFINITION </a:t>
            </a:r>
            <a:endParaRPr lang="en-US" sz="2500" dirty="0"/>
          </a:p>
        </p:txBody>
      </p:sp>
      <p:sp>
        <p:nvSpPr>
          <p:cNvPr id="10" name="Shape 8">
            <a:extLst>
              <a:ext uri="{FF2B5EF4-FFF2-40B4-BE49-F238E27FC236}">
                <a16:creationId xmlns:a16="http://schemas.microsoft.com/office/drawing/2014/main" id="{1709F33E-A0D2-B540-4D06-85D502BA8494}"/>
              </a:ext>
            </a:extLst>
          </p:cNvPr>
          <p:cNvSpPr/>
          <p:nvPr/>
        </p:nvSpPr>
        <p:spPr>
          <a:xfrm>
            <a:off x="566928" y="886968"/>
            <a:ext cx="11475720" cy="5673852"/>
          </a:xfrm>
          <a:prstGeom prst="roundRect">
            <a:avLst>
              <a:gd name="adj" fmla="val 3902"/>
            </a:avLst>
          </a:prstGeom>
          <a:solidFill>
            <a:srgbClr val="FFFFFF"/>
          </a:solidFill>
          <a:ln w="12700">
            <a:solidFill>
              <a:srgbClr val="3A7D44"/>
            </a:solidFill>
            <a:prstDash val="solid"/>
          </a:ln>
        </p:spPr>
        <p:txBody>
          <a:bodyPr/>
          <a:lstStyle/>
          <a:p>
            <a:pPr marL="285750" indent="-285750">
              <a:buFont typeface="Wingdings" panose="05000000000000000000" pitchFamily="2" charset="2"/>
              <a:buChar char="q"/>
            </a:pPr>
            <a:r>
              <a:rPr lang="en-US" sz="2000" b="1" dirty="0"/>
              <a:t>Registration</a:t>
            </a:r>
            <a:r>
              <a:rPr lang="en-US" sz="2000" dirty="0"/>
              <a:t> — A listing on a transplant waitlist; a single patient may hold multiple listings across centers or organs.</a:t>
            </a:r>
          </a:p>
          <a:p>
            <a:pPr marL="285750" indent="-285750">
              <a:buFont typeface="Wingdings" panose="05000000000000000000" pitchFamily="2" charset="2"/>
              <a:buChar char="q"/>
            </a:pPr>
            <a:endParaRPr lang="en-US" sz="2000" dirty="0"/>
          </a:p>
          <a:p>
            <a:pPr marL="285750" indent="-285750">
              <a:buFont typeface="Wingdings" panose="05000000000000000000" pitchFamily="2" charset="2"/>
              <a:buChar char="q"/>
            </a:pPr>
            <a:r>
              <a:rPr lang="en-US" sz="2000" b="1" dirty="0"/>
              <a:t>Candidate</a:t>
            </a:r>
            <a:r>
              <a:rPr lang="en-US" sz="2000" dirty="0"/>
              <a:t> — A unique patient counted once, regardless of how many listings they have.</a:t>
            </a:r>
          </a:p>
          <a:p>
            <a:pPr marL="285750" indent="-285750">
              <a:buFont typeface="Wingdings" panose="05000000000000000000" pitchFamily="2" charset="2"/>
              <a:buChar char="q"/>
            </a:pPr>
            <a:endParaRPr lang="en-US" sz="2000" dirty="0"/>
          </a:p>
          <a:p>
            <a:pPr marL="285750" indent="-285750">
              <a:buFont typeface="Wingdings" panose="05000000000000000000" pitchFamily="2" charset="2"/>
              <a:buChar char="q"/>
            </a:pPr>
            <a:r>
              <a:rPr lang="en-US" sz="2000" b="1" dirty="0"/>
              <a:t>Waitlist burden </a:t>
            </a:r>
            <a:r>
              <a:rPr lang="en-US" sz="2000" dirty="0"/>
              <a:t>— The intensity of the waitlist in a state or region relative to its population.</a:t>
            </a:r>
          </a:p>
          <a:p>
            <a:pPr marL="285750" indent="-285750">
              <a:buFont typeface="Wingdings" panose="05000000000000000000" pitchFamily="2" charset="2"/>
              <a:buChar char="q"/>
            </a:pPr>
            <a:endParaRPr lang="en-US" sz="2000" dirty="0"/>
          </a:p>
          <a:p>
            <a:pPr marL="285750" indent="-285750">
              <a:buFont typeface="Wingdings" panose="05000000000000000000" pitchFamily="2" charset="2"/>
              <a:buChar char="q"/>
            </a:pPr>
            <a:r>
              <a:rPr lang="en-US" sz="2000" b="1" dirty="0"/>
              <a:t>Waitlist per 100k </a:t>
            </a:r>
            <a:r>
              <a:rPr lang="en-US" sz="2000" dirty="0"/>
              <a:t>— A population-normalized waitlist measure.</a:t>
            </a:r>
          </a:p>
          <a:p>
            <a:pPr marL="285750" indent="-285750">
              <a:buFont typeface="Wingdings" panose="05000000000000000000" pitchFamily="2" charset="2"/>
              <a:buChar char="q"/>
            </a:pPr>
            <a:endParaRPr lang="en-US" sz="2000" b="1" dirty="0"/>
          </a:p>
          <a:p>
            <a:pPr marL="285750" indent="-285750">
              <a:buFont typeface="Wingdings" panose="05000000000000000000" pitchFamily="2" charset="2"/>
              <a:buChar char="q"/>
            </a:pPr>
            <a:r>
              <a:rPr lang="en-US" sz="2000" b="1" dirty="0"/>
              <a:t>Long‑wait share (≥1 year) </a:t>
            </a:r>
            <a:r>
              <a:rPr lang="en-US" sz="2000" dirty="0"/>
              <a:t>—  The proportion of candidates or registrations waiting at least one year.</a:t>
            </a:r>
          </a:p>
          <a:p>
            <a:pPr marL="285750" indent="-285750">
              <a:buFont typeface="Wingdings" panose="05000000000000000000" pitchFamily="2" charset="2"/>
              <a:buChar char="q"/>
            </a:pPr>
            <a:endParaRPr lang="en-US" sz="2000" dirty="0"/>
          </a:p>
          <a:p>
            <a:pPr marL="285750" indent="-285750">
              <a:buFont typeface="Wingdings" panose="05000000000000000000" pitchFamily="2" charset="2"/>
              <a:buChar char="q"/>
            </a:pPr>
            <a:r>
              <a:rPr lang="en-US" sz="2000" b="1" dirty="0"/>
              <a:t>Wait‑time buckets </a:t>
            </a:r>
            <a:r>
              <a:rPr lang="en-US" sz="2000" dirty="0"/>
              <a:t>— Grouped waiting‑time categories (e.g., &lt;30 days, 1–&lt;2 years, 2+ years) showing distribution across short vs. long waits.</a:t>
            </a:r>
          </a:p>
          <a:p>
            <a:pPr marL="285750" indent="-285750">
              <a:buFont typeface="Wingdings" panose="05000000000000000000" pitchFamily="2" charset="2"/>
              <a:buChar char="q"/>
            </a:pPr>
            <a:endParaRPr lang="en-US" sz="2000" dirty="0"/>
          </a:p>
          <a:p>
            <a:pPr marL="285750" indent="-285750">
              <a:buFont typeface="Wingdings" panose="05000000000000000000" pitchFamily="2" charset="2"/>
              <a:buChar char="q"/>
            </a:pPr>
            <a:r>
              <a:rPr lang="en-US" sz="2000" b="1" dirty="0"/>
              <a:t>Crude mortality rate</a:t>
            </a:r>
            <a:r>
              <a:rPr lang="en-US" sz="2000" dirty="0"/>
              <a:t> = overall deaths per population (unadjusted); used here as </a:t>
            </a:r>
            <a:r>
              <a:rPr lang="en-US" sz="2000" b="1" dirty="0"/>
              <a:t>regional context</a:t>
            </a:r>
            <a:r>
              <a:rPr lang="en-US" sz="2000" dirty="0"/>
              <a:t>, not waitlist-specific mortality</a:t>
            </a:r>
          </a:p>
          <a:p>
            <a:endParaRPr lang="en-US" sz="2000" dirty="0"/>
          </a:p>
          <a:p>
            <a:pPr marL="285750" indent="-285750">
              <a:buFont typeface="Wingdings" panose="05000000000000000000" pitchFamily="2" charset="2"/>
              <a:buChar char="q"/>
            </a:pPr>
            <a:r>
              <a:rPr lang="en-US" sz="2000" dirty="0"/>
              <a:t>UNOS – United Network for Organ Sharing</a:t>
            </a:r>
          </a:p>
        </p:txBody>
      </p:sp>
      <p:sp>
        <p:nvSpPr>
          <p:cNvPr id="11" name="Shape 9">
            <a:extLst>
              <a:ext uri="{FF2B5EF4-FFF2-40B4-BE49-F238E27FC236}">
                <a16:creationId xmlns:a16="http://schemas.microsoft.com/office/drawing/2014/main" id="{FC95738C-B95B-19A5-045F-FDA45B9AAFA2}"/>
              </a:ext>
            </a:extLst>
          </p:cNvPr>
          <p:cNvSpPr/>
          <p:nvPr/>
        </p:nvSpPr>
        <p:spPr>
          <a:xfrm>
            <a:off x="448056" y="1657350"/>
            <a:ext cx="118872" cy="4640580"/>
          </a:xfrm>
          <a:prstGeom prst="rect">
            <a:avLst/>
          </a:prstGeom>
          <a:solidFill>
            <a:srgbClr val="3A7D44"/>
          </a:solidFill>
          <a:ln w="12700">
            <a:solidFill>
              <a:srgbClr val="3A7D44">
                <a:alpha val="0"/>
              </a:srgbClr>
            </a:solidFill>
            <a:prstDash val="solid"/>
          </a:ln>
        </p:spPr>
        <p:txBody>
          <a:bodyPr/>
          <a:lstStyle/>
          <a:p>
            <a:endParaRPr lang="en-US" dirty="0"/>
          </a:p>
        </p:txBody>
      </p:sp>
    </p:spTree>
    <p:extLst>
      <p:ext uri="{BB962C8B-B14F-4D97-AF65-F5344CB8AC3E}">
        <p14:creationId xmlns:p14="http://schemas.microsoft.com/office/powerpoint/2010/main" val="734002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a:extLst>
            <a:ext uri="{FF2B5EF4-FFF2-40B4-BE49-F238E27FC236}">
              <a16:creationId xmlns:a16="http://schemas.microsoft.com/office/drawing/2014/main" id="{B52E626C-8350-9171-E1E9-A6CD25BFAA7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59264E7-CC2F-A940-677F-225A73568570}"/>
              </a:ext>
            </a:extLst>
          </p:cNvPr>
          <p:cNvSpPr/>
          <p:nvPr/>
        </p:nvSpPr>
        <p:spPr>
          <a:xfrm>
            <a:off x="0" y="0"/>
            <a:ext cx="12191695" cy="164592"/>
          </a:xfrm>
          <a:prstGeom prst="rect">
            <a:avLst/>
          </a:prstGeom>
          <a:solidFill>
            <a:srgbClr val="16324F"/>
          </a:solidFill>
          <a:ln w="12700">
            <a:solidFill>
              <a:srgbClr val="16324F">
                <a:alpha val="0"/>
              </a:srgbClr>
            </a:solidFill>
            <a:prstDash val="solid"/>
          </a:ln>
        </p:spPr>
        <p:txBody>
          <a:bodyPr/>
          <a:lstStyle/>
          <a:p>
            <a:endParaRPr lang="en-US" dirty="0"/>
          </a:p>
        </p:txBody>
      </p:sp>
      <p:sp>
        <p:nvSpPr>
          <p:cNvPr id="3" name="Shape 1">
            <a:extLst>
              <a:ext uri="{FF2B5EF4-FFF2-40B4-BE49-F238E27FC236}">
                <a16:creationId xmlns:a16="http://schemas.microsoft.com/office/drawing/2014/main" id="{DC2AA0E7-9299-030E-245E-057823180453}"/>
              </a:ext>
            </a:extLst>
          </p:cNvPr>
          <p:cNvSpPr/>
          <p:nvPr/>
        </p:nvSpPr>
        <p:spPr>
          <a:xfrm>
            <a:off x="0" y="6748272"/>
            <a:ext cx="12191695" cy="109728"/>
          </a:xfrm>
          <a:prstGeom prst="rect">
            <a:avLst/>
          </a:prstGeom>
          <a:solidFill>
            <a:srgbClr val="345995"/>
          </a:solidFill>
          <a:ln w="12700">
            <a:solidFill>
              <a:srgbClr val="345995">
                <a:alpha val="0"/>
              </a:srgbClr>
            </a:solidFill>
            <a:prstDash val="solid"/>
          </a:ln>
        </p:spPr>
        <p:txBody>
          <a:bodyPr/>
          <a:lstStyle/>
          <a:p>
            <a:endParaRPr lang="en-US" dirty="0"/>
          </a:p>
        </p:txBody>
      </p:sp>
      <p:sp>
        <p:nvSpPr>
          <p:cNvPr id="5" name="Text 3">
            <a:extLst>
              <a:ext uri="{FF2B5EF4-FFF2-40B4-BE49-F238E27FC236}">
                <a16:creationId xmlns:a16="http://schemas.microsoft.com/office/drawing/2014/main" id="{066E78C3-1842-B2CD-8EF8-BC4430910AE1}"/>
              </a:ext>
            </a:extLst>
          </p:cNvPr>
          <p:cNvSpPr/>
          <p:nvPr/>
        </p:nvSpPr>
        <p:spPr>
          <a:xfrm>
            <a:off x="628650" y="1129284"/>
            <a:ext cx="8961120" cy="457200"/>
          </a:xfrm>
          <a:prstGeom prst="rect">
            <a:avLst/>
          </a:prstGeom>
          <a:noFill/>
          <a:ln/>
        </p:spPr>
        <p:txBody>
          <a:bodyPr wrap="square" lIns="0" tIns="0" rIns="0" bIns="0" rtlCol="0" anchor="ctr"/>
          <a:lstStyle/>
          <a:p>
            <a:r>
              <a:rPr lang="en-US" sz="2800" b="1" dirty="0">
                <a:solidFill>
                  <a:schemeClr val="accent1">
                    <a:lumMod val="50000"/>
                  </a:schemeClr>
                </a:solidFill>
                <a:latin typeface="Calibri"/>
              </a:rPr>
              <a:t>WHY I CHOSE THIS PROJECT</a:t>
            </a:r>
          </a:p>
        </p:txBody>
      </p:sp>
      <p:sp>
        <p:nvSpPr>
          <p:cNvPr id="10" name="Shape 8">
            <a:extLst>
              <a:ext uri="{FF2B5EF4-FFF2-40B4-BE49-F238E27FC236}">
                <a16:creationId xmlns:a16="http://schemas.microsoft.com/office/drawing/2014/main" id="{D2DC8F1B-8E49-FD41-DE86-934E1A23A791}"/>
              </a:ext>
            </a:extLst>
          </p:cNvPr>
          <p:cNvSpPr/>
          <p:nvPr/>
        </p:nvSpPr>
        <p:spPr>
          <a:xfrm>
            <a:off x="357987" y="1874520"/>
            <a:ext cx="11475720" cy="3989070"/>
          </a:xfrm>
          <a:prstGeom prst="roundRect">
            <a:avLst>
              <a:gd name="adj" fmla="val 3902"/>
            </a:avLst>
          </a:prstGeom>
          <a:solidFill>
            <a:srgbClr val="FFFFFF"/>
          </a:solidFill>
          <a:ln w="12700">
            <a:solidFill>
              <a:srgbClr val="3A7D44"/>
            </a:solidFill>
            <a:prstDash val="solid"/>
          </a:ln>
        </p:spPr>
        <p:txBody>
          <a:bodyPr/>
          <a:lstStyle/>
          <a:p>
            <a:pPr>
              <a:lnSpc>
                <a:spcPct val="150000"/>
              </a:lnSpc>
            </a:pPr>
            <a:endParaRPr lang="en-US" sz="2000" dirty="0">
              <a:solidFill>
                <a:srgbClr val="000000"/>
              </a:solidFill>
              <a:effectLst/>
              <a:latin typeface="Aptos" panose="020B0004020202020204" pitchFamily="34" charset="0"/>
            </a:endParaRPr>
          </a:p>
          <a:p>
            <a:pPr>
              <a:lnSpc>
                <a:spcPct val="150000"/>
              </a:lnSpc>
            </a:pPr>
            <a:r>
              <a:rPr lang="en-US" sz="2000" dirty="0">
                <a:solidFill>
                  <a:srgbClr val="000000"/>
                </a:solidFill>
                <a:effectLst/>
                <a:latin typeface="Aptos" panose="020B0004020202020204" pitchFamily="34" charset="0"/>
              </a:rPr>
              <a:t>This subject is very personal to me. My son received a heart transplant, which provided me with direct experience of the urgency, complexity, and emotional challenges involved in obtaining life-saving transplant care. Throughout the process, it became evident that factors beyond medical necessity, such as geographic location, available resources, and systemic obstacles within healthcare, can greatly affect access and outcomes. This experience deepened my dedication to employing data analytics to explore disparities in heart transplant access and to provide evidence that promotes more equitable and inclusive healthcare decisions.</a:t>
            </a:r>
            <a:endParaRPr lang="en-US" sz="2000" dirty="0"/>
          </a:p>
        </p:txBody>
      </p:sp>
      <p:sp>
        <p:nvSpPr>
          <p:cNvPr id="11" name="Shape 9">
            <a:extLst>
              <a:ext uri="{FF2B5EF4-FFF2-40B4-BE49-F238E27FC236}">
                <a16:creationId xmlns:a16="http://schemas.microsoft.com/office/drawing/2014/main" id="{E96492F6-C5CC-D380-95D3-324D1A7FD42C}"/>
              </a:ext>
            </a:extLst>
          </p:cNvPr>
          <p:cNvSpPr/>
          <p:nvPr/>
        </p:nvSpPr>
        <p:spPr>
          <a:xfrm>
            <a:off x="266547" y="2255711"/>
            <a:ext cx="91440" cy="2869500"/>
          </a:xfrm>
          <a:prstGeom prst="rect">
            <a:avLst/>
          </a:prstGeom>
          <a:solidFill>
            <a:srgbClr val="3A7D44"/>
          </a:solidFill>
          <a:ln w="12700">
            <a:solidFill>
              <a:srgbClr val="3A7D44">
                <a:alpha val="0"/>
              </a:srgbClr>
            </a:solidFill>
            <a:prstDash val="solid"/>
          </a:ln>
        </p:spPr>
        <p:txBody>
          <a:bodyPr/>
          <a:lstStyle/>
          <a:p>
            <a:endParaRPr lang="en-US" dirty="0"/>
          </a:p>
        </p:txBody>
      </p:sp>
    </p:spTree>
    <p:extLst>
      <p:ext uri="{BB962C8B-B14F-4D97-AF65-F5344CB8AC3E}">
        <p14:creationId xmlns:p14="http://schemas.microsoft.com/office/powerpoint/2010/main" val="8462340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6324F"/>
          </a:solidFill>
          <a:ln w="12700">
            <a:solidFill>
              <a:srgbClr val="16324F">
                <a:alpha val="0"/>
              </a:srgbClr>
            </a:solidFill>
            <a:prstDash val="solid"/>
          </a:ln>
        </p:spPr>
        <p:txBody>
          <a:bodyPr/>
          <a:lstStyle/>
          <a:p>
            <a:endParaRPr lang="en-US" dirty="0"/>
          </a:p>
        </p:txBody>
      </p:sp>
      <p:sp>
        <p:nvSpPr>
          <p:cNvPr id="3" name="Shape 1"/>
          <p:cNvSpPr/>
          <p:nvPr/>
        </p:nvSpPr>
        <p:spPr>
          <a:xfrm>
            <a:off x="0" y="6748272"/>
            <a:ext cx="12191695" cy="109728"/>
          </a:xfrm>
          <a:prstGeom prst="rect">
            <a:avLst/>
          </a:prstGeom>
          <a:solidFill>
            <a:srgbClr val="345995"/>
          </a:solidFill>
          <a:ln w="12700">
            <a:solidFill>
              <a:srgbClr val="345995">
                <a:alpha val="0"/>
              </a:srgbClr>
            </a:solidFill>
            <a:prstDash val="solid"/>
          </a:ln>
        </p:spPr>
        <p:txBody>
          <a:bodyPr/>
          <a:lstStyle/>
          <a:p>
            <a:endParaRPr lang="en-US" dirty="0"/>
          </a:p>
        </p:txBody>
      </p:sp>
      <p:sp>
        <p:nvSpPr>
          <p:cNvPr id="5" name="Text 3"/>
          <p:cNvSpPr/>
          <p:nvPr/>
        </p:nvSpPr>
        <p:spPr>
          <a:xfrm>
            <a:off x="502920" y="621792"/>
            <a:ext cx="8961120" cy="457200"/>
          </a:xfrm>
          <a:prstGeom prst="rect">
            <a:avLst/>
          </a:prstGeom>
          <a:noFill/>
          <a:ln/>
        </p:spPr>
        <p:txBody>
          <a:bodyPr wrap="square" lIns="0" tIns="0" rIns="0" bIns="0" rtlCol="0" anchor="ctr"/>
          <a:lstStyle/>
          <a:p>
            <a:pPr marL="0" indent="0">
              <a:buNone/>
            </a:pPr>
            <a:r>
              <a:rPr lang="en-US" sz="2500" b="1" dirty="0">
                <a:solidFill>
                  <a:srgbClr val="16324F"/>
                </a:solidFill>
                <a:latin typeface="Aptos Display" pitchFamily="34" charset="0"/>
                <a:ea typeface="Aptos Display" pitchFamily="34" charset="-122"/>
                <a:cs typeface="Aptos Display" pitchFamily="34" charset="-120"/>
              </a:rPr>
              <a:t>DATA INPUTS AND ANALYTIC WORKFLOW</a:t>
            </a:r>
            <a:endParaRPr lang="en-US" sz="2500" dirty="0"/>
          </a:p>
        </p:txBody>
      </p:sp>
      <p:sp>
        <p:nvSpPr>
          <p:cNvPr id="6" name="Shape 4"/>
          <p:cNvSpPr/>
          <p:nvPr/>
        </p:nvSpPr>
        <p:spPr>
          <a:xfrm>
            <a:off x="594360" y="1965960"/>
            <a:ext cx="4183380" cy="2842446"/>
          </a:xfrm>
          <a:prstGeom prst="roundRect">
            <a:avLst>
              <a:gd name="adj" fmla="val 3902"/>
            </a:avLst>
          </a:prstGeom>
          <a:solidFill>
            <a:srgbClr val="FFFFFF"/>
          </a:solidFill>
          <a:ln w="12700">
            <a:solidFill>
              <a:srgbClr val="345995"/>
            </a:solidFill>
            <a:prstDash val="solid"/>
          </a:ln>
        </p:spPr>
        <p:txBody>
          <a:bodyPr/>
          <a:lstStyle/>
          <a:p>
            <a:endParaRPr lang="en-US" dirty="0"/>
          </a:p>
        </p:txBody>
      </p:sp>
      <p:sp>
        <p:nvSpPr>
          <p:cNvPr id="7" name="Shape 5"/>
          <p:cNvSpPr/>
          <p:nvPr/>
        </p:nvSpPr>
        <p:spPr>
          <a:xfrm>
            <a:off x="594359" y="1965960"/>
            <a:ext cx="196865" cy="2842446"/>
          </a:xfrm>
          <a:prstGeom prst="rect">
            <a:avLst/>
          </a:prstGeom>
          <a:solidFill>
            <a:srgbClr val="345995"/>
          </a:solidFill>
          <a:ln w="12700">
            <a:solidFill>
              <a:srgbClr val="345995">
                <a:alpha val="0"/>
              </a:srgbClr>
            </a:solidFill>
            <a:prstDash val="solid"/>
          </a:ln>
        </p:spPr>
        <p:txBody>
          <a:bodyPr/>
          <a:lstStyle/>
          <a:p>
            <a:endParaRPr lang="en-US" dirty="0"/>
          </a:p>
        </p:txBody>
      </p:sp>
      <p:sp>
        <p:nvSpPr>
          <p:cNvPr id="8" name="Text 6"/>
          <p:cNvSpPr/>
          <p:nvPr/>
        </p:nvSpPr>
        <p:spPr>
          <a:xfrm>
            <a:off x="791224" y="1660917"/>
            <a:ext cx="3625596" cy="305043"/>
          </a:xfrm>
          <a:prstGeom prst="rect">
            <a:avLst/>
          </a:prstGeom>
          <a:noFill/>
          <a:ln/>
        </p:spPr>
        <p:txBody>
          <a:bodyPr wrap="square" lIns="0" tIns="0" rIns="0" bIns="0" rtlCol="0" anchor="ctr"/>
          <a:lstStyle/>
          <a:p>
            <a:pPr marL="0" indent="0">
              <a:buNone/>
            </a:pPr>
            <a:r>
              <a:rPr lang="en-US" sz="1400" b="1" dirty="0">
                <a:solidFill>
                  <a:srgbClr val="16324F"/>
                </a:solidFill>
              </a:rPr>
              <a:t>1. </a:t>
            </a:r>
            <a:r>
              <a:rPr lang="en-US" b="1" dirty="0">
                <a:solidFill>
                  <a:srgbClr val="16324F"/>
                </a:solidFill>
              </a:rPr>
              <a:t>Source</a:t>
            </a:r>
            <a:r>
              <a:rPr lang="en-US" sz="1400" b="1" dirty="0">
                <a:solidFill>
                  <a:srgbClr val="16324F"/>
                </a:solidFill>
              </a:rPr>
              <a:t> files</a:t>
            </a:r>
            <a:endParaRPr lang="en-US" sz="1400" dirty="0"/>
          </a:p>
        </p:txBody>
      </p:sp>
      <p:sp>
        <p:nvSpPr>
          <p:cNvPr id="9" name="Text 7"/>
          <p:cNvSpPr/>
          <p:nvPr/>
        </p:nvSpPr>
        <p:spPr>
          <a:xfrm>
            <a:off x="946672" y="2430018"/>
            <a:ext cx="3474452" cy="2093704"/>
          </a:xfrm>
          <a:prstGeom prst="rect">
            <a:avLst/>
          </a:prstGeom>
          <a:noFill/>
          <a:ln/>
        </p:spPr>
        <p:txBody>
          <a:bodyPr wrap="square" lIns="0" tIns="0" rIns="0" bIns="0" rtlCol="0" anchor="t"/>
          <a:lstStyle/>
          <a:p>
            <a:pPr marL="285750" indent="-285750">
              <a:buFont typeface="Wingdings" panose="05000000000000000000" pitchFamily="2" charset="2"/>
              <a:buChar char="q"/>
            </a:pPr>
            <a:r>
              <a:rPr lang="en-US" sz="1600" dirty="0">
                <a:solidFill>
                  <a:srgbClr val="243240"/>
                </a:solidFill>
              </a:rPr>
              <a:t>unos_waitlist.csv</a:t>
            </a:r>
            <a:endParaRPr lang="en-US" sz="1600" dirty="0"/>
          </a:p>
          <a:p>
            <a:pPr marL="285750" indent="-285750">
              <a:buFont typeface="Wingdings" panose="05000000000000000000" pitchFamily="2" charset="2"/>
              <a:buChar char="q"/>
            </a:pPr>
            <a:r>
              <a:rPr lang="en-US" sz="1600" dirty="0">
                <a:solidFill>
                  <a:srgbClr val="243240"/>
                </a:solidFill>
              </a:rPr>
              <a:t>Cand+reg_Organ_by_Waiting._Time.csv</a:t>
            </a:r>
            <a:endParaRPr lang="en-US" sz="1600" dirty="0"/>
          </a:p>
          <a:p>
            <a:pPr marL="285750" indent="-285750">
              <a:buFont typeface="Wingdings" panose="05000000000000000000" pitchFamily="2" charset="2"/>
              <a:buChar char="q"/>
            </a:pPr>
            <a:r>
              <a:rPr lang="en-US" sz="1600" dirty="0">
                <a:solidFill>
                  <a:srgbClr val="243240"/>
                </a:solidFill>
              </a:rPr>
              <a:t>uno_transplant.csv</a:t>
            </a:r>
            <a:endParaRPr lang="en-US" sz="1600" dirty="0"/>
          </a:p>
          <a:p>
            <a:pPr marL="285750" indent="-285750">
              <a:buFont typeface="Wingdings" panose="05000000000000000000" pitchFamily="2" charset="2"/>
              <a:buChar char="q"/>
            </a:pPr>
            <a:r>
              <a:rPr lang="en-US" sz="1600" dirty="0">
                <a:solidFill>
                  <a:srgbClr val="243240"/>
                </a:solidFill>
              </a:rPr>
              <a:t>CDC_MORTALITY_cleaned_joined_long.csv</a:t>
            </a:r>
            <a:endParaRPr lang="en-US" sz="1600" dirty="0"/>
          </a:p>
          <a:p>
            <a:pPr marL="285750" indent="-285750">
              <a:buFont typeface="Wingdings" panose="05000000000000000000" pitchFamily="2" charset="2"/>
              <a:buChar char="q"/>
            </a:pPr>
            <a:r>
              <a:rPr lang="en-US" sz="1600" dirty="0">
                <a:solidFill>
                  <a:srgbClr val="243240"/>
                </a:solidFill>
              </a:rPr>
              <a:t>census_cleaned.csv</a:t>
            </a:r>
            <a:endParaRPr lang="en-US" sz="1600" dirty="0"/>
          </a:p>
        </p:txBody>
      </p:sp>
      <p:sp>
        <p:nvSpPr>
          <p:cNvPr id="10" name="Shape 8"/>
          <p:cNvSpPr/>
          <p:nvPr/>
        </p:nvSpPr>
        <p:spPr>
          <a:xfrm>
            <a:off x="6440424" y="1898310"/>
            <a:ext cx="4956048" cy="2842446"/>
          </a:xfrm>
          <a:prstGeom prst="roundRect">
            <a:avLst>
              <a:gd name="adj" fmla="val 3902"/>
            </a:avLst>
          </a:prstGeom>
          <a:solidFill>
            <a:srgbClr val="FFFFFF"/>
          </a:solidFill>
          <a:ln w="12700">
            <a:solidFill>
              <a:srgbClr val="3A7D44"/>
            </a:solidFill>
            <a:prstDash val="solid"/>
          </a:ln>
        </p:spPr>
        <p:txBody>
          <a:bodyPr/>
          <a:lstStyle/>
          <a:p>
            <a:endParaRPr lang="en-US" dirty="0"/>
          </a:p>
        </p:txBody>
      </p:sp>
      <p:sp>
        <p:nvSpPr>
          <p:cNvPr id="11" name="Shape 9"/>
          <p:cNvSpPr/>
          <p:nvPr/>
        </p:nvSpPr>
        <p:spPr>
          <a:xfrm>
            <a:off x="6440424" y="1885950"/>
            <a:ext cx="233226" cy="2842446"/>
          </a:xfrm>
          <a:prstGeom prst="rect">
            <a:avLst/>
          </a:prstGeom>
          <a:solidFill>
            <a:srgbClr val="3A7D44"/>
          </a:solidFill>
          <a:ln w="12700">
            <a:solidFill>
              <a:srgbClr val="3A7D44">
                <a:alpha val="0"/>
              </a:srgbClr>
            </a:solidFill>
            <a:prstDash val="solid"/>
          </a:ln>
        </p:spPr>
        <p:txBody>
          <a:bodyPr/>
          <a:lstStyle/>
          <a:p>
            <a:endParaRPr lang="en-US" dirty="0"/>
          </a:p>
        </p:txBody>
      </p:sp>
      <p:sp>
        <p:nvSpPr>
          <p:cNvPr id="12" name="Text 10"/>
          <p:cNvSpPr/>
          <p:nvPr/>
        </p:nvSpPr>
        <p:spPr>
          <a:xfrm>
            <a:off x="6587947" y="1605515"/>
            <a:ext cx="4295242" cy="305043"/>
          </a:xfrm>
          <a:prstGeom prst="rect">
            <a:avLst/>
          </a:prstGeom>
          <a:noFill/>
          <a:ln/>
        </p:spPr>
        <p:txBody>
          <a:bodyPr wrap="square" lIns="0" tIns="0" rIns="0" bIns="0" rtlCol="0" anchor="ctr"/>
          <a:lstStyle/>
          <a:p>
            <a:pPr marL="0" indent="0">
              <a:buNone/>
            </a:pPr>
            <a:r>
              <a:rPr lang="en-US" b="1" dirty="0">
                <a:solidFill>
                  <a:srgbClr val="16324F"/>
                </a:solidFill>
              </a:rPr>
              <a:t>2. Standardize</a:t>
            </a:r>
            <a:endParaRPr lang="en-US" dirty="0"/>
          </a:p>
        </p:txBody>
      </p:sp>
      <p:sp>
        <p:nvSpPr>
          <p:cNvPr id="13" name="Text 11"/>
          <p:cNvSpPr/>
          <p:nvPr/>
        </p:nvSpPr>
        <p:spPr>
          <a:xfrm>
            <a:off x="6770827" y="2300091"/>
            <a:ext cx="4295242" cy="2440665"/>
          </a:xfrm>
          <a:prstGeom prst="rect">
            <a:avLst/>
          </a:prstGeom>
          <a:noFill/>
          <a:ln/>
        </p:spPr>
        <p:txBody>
          <a:bodyPr wrap="square" lIns="0" tIns="0" rIns="0" bIns="0" rtlCol="0" anchor="t"/>
          <a:lstStyle/>
          <a:p>
            <a:pPr marL="285750" indent="-285750">
              <a:buFont typeface="Wingdings" panose="05000000000000000000" pitchFamily="2" charset="2"/>
              <a:buChar char="q"/>
            </a:pPr>
            <a:r>
              <a:rPr lang="en-US" sz="1600" dirty="0">
                <a:solidFill>
                  <a:srgbClr val="243240"/>
                </a:solidFill>
              </a:rPr>
              <a:t>Clean and standardize numeric fields (counts, rates, percents).</a:t>
            </a:r>
          </a:p>
          <a:p>
            <a:pPr marL="285750" indent="-285750">
              <a:buFont typeface="Wingdings" panose="05000000000000000000" pitchFamily="2" charset="2"/>
              <a:buChar char="q"/>
            </a:pPr>
            <a:r>
              <a:rPr lang="en-US" sz="1600" dirty="0">
                <a:solidFill>
                  <a:srgbClr val="243240"/>
                </a:solidFill>
              </a:rPr>
              <a:t> Align geography (state names/abbreviations + consistent region labels).</a:t>
            </a:r>
          </a:p>
          <a:p>
            <a:pPr marL="285750" indent="-285750">
              <a:buFont typeface="Wingdings" panose="05000000000000000000" pitchFamily="2" charset="2"/>
              <a:buChar char="q"/>
            </a:pPr>
            <a:r>
              <a:rPr lang="en-US" sz="1600" dirty="0">
                <a:solidFill>
                  <a:srgbClr val="243240"/>
                </a:solidFill>
              </a:rPr>
              <a:t>Forward-fill organ labels in grouped tables.</a:t>
            </a:r>
          </a:p>
          <a:p>
            <a:pPr marL="285750" indent="-285750">
              <a:buFont typeface="Wingdings" panose="05000000000000000000" pitchFamily="2" charset="2"/>
              <a:buChar char="q"/>
            </a:pPr>
            <a:r>
              <a:rPr lang="en-US" sz="1600" dirty="0">
                <a:solidFill>
                  <a:srgbClr val="243240"/>
                </a:solidFill>
              </a:rPr>
              <a:t> Reshape wait-time buckets (wide → long) and compute % waiting ≥ 1 year for apples-to-apples comparisons.</a:t>
            </a:r>
            <a:endParaRPr lang="en-US" sz="1600" dirty="0"/>
          </a:p>
        </p:txBody>
      </p:sp>
      <p:sp>
        <p:nvSpPr>
          <p:cNvPr id="22" name="Text 20"/>
          <p:cNvSpPr/>
          <p:nvPr/>
        </p:nvSpPr>
        <p:spPr>
          <a:xfrm>
            <a:off x="749808" y="4069080"/>
            <a:ext cx="10881360" cy="2148840"/>
          </a:xfrm>
          <a:prstGeom prst="rect">
            <a:avLst/>
          </a:prstGeom>
          <a:noFill/>
          <a:ln/>
        </p:spPr>
        <p:txBody>
          <a:bodyPr wrap="square" lIns="508" tIns="508" rIns="508" bIns="508" rtlCol="0" anchor="t"/>
          <a:lstStyle/>
          <a:p>
            <a:pPr marL="196850" indent="-196850">
              <a:buSzPct val="100000"/>
              <a:buChar char="•"/>
            </a:pPr>
            <a:endParaRPr lang="en-US" dirty="0">
              <a:solidFill>
                <a:srgbClr val="243240"/>
              </a:solidFill>
              <a:latin typeface="Aptos" pitchFamily="34" charset="0"/>
              <a:ea typeface="Aptos" pitchFamily="34" charset="-122"/>
              <a:cs typeface="Aptos" pitchFamily="34" charset="-120"/>
            </a:endParaRPr>
          </a:p>
          <a:p>
            <a:pPr marL="196850" indent="-196850">
              <a:buSzPct val="100000"/>
              <a:buChar char="•"/>
            </a:pPr>
            <a:endParaRPr lang="en-US" dirty="0">
              <a:solidFill>
                <a:srgbClr val="243240"/>
              </a:solidFill>
              <a:latin typeface="Aptos" pitchFamily="34" charset="0"/>
              <a:ea typeface="Aptos" pitchFamily="34" charset="-122"/>
              <a:cs typeface="Aptos" pitchFamily="34" charset="-120"/>
            </a:endParaRPr>
          </a:p>
          <a:p>
            <a:pPr marL="196850" indent="-196850">
              <a:buSzPct val="100000"/>
              <a:buChar char="•"/>
            </a:pPr>
            <a:endParaRPr lang="en-US" dirty="0">
              <a:solidFill>
                <a:srgbClr val="243240"/>
              </a:solidFill>
              <a:latin typeface="Aptos" pitchFamily="34" charset="0"/>
              <a:ea typeface="Aptos" pitchFamily="34" charset="-122"/>
              <a:cs typeface="Aptos" pitchFamily="34" charset="-120"/>
            </a:endParaRPr>
          </a:p>
          <a:p>
            <a:pPr marL="196850" indent="-196850">
              <a:buSzPct val="100000"/>
              <a:buChar char="•"/>
            </a:pPr>
            <a:endParaRPr lang="en-US" dirty="0">
              <a:solidFill>
                <a:srgbClr val="243240"/>
              </a:solidFill>
              <a:latin typeface="Aptos" pitchFamily="34" charset="0"/>
              <a:ea typeface="Aptos" pitchFamily="34" charset="-122"/>
              <a:cs typeface="Aptos" pitchFamily="34" charset="-120"/>
            </a:endParaRPr>
          </a:p>
          <a:p>
            <a:pPr marL="196850" indent="-196850">
              <a:buSzPct val="100000"/>
              <a:buChar char="•"/>
            </a:pPr>
            <a:endParaRPr lang="en-US" dirty="0">
              <a:solidFill>
                <a:srgbClr val="243240"/>
              </a:solidFill>
              <a:latin typeface="Aptos" pitchFamily="34" charset="0"/>
              <a:ea typeface="Aptos" pitchFamily="34" charset="-122"/>
              <a:cs typeface="Aptos" pitchFamily="34" charset="-120"/>
            </a:endParaRPr>
          </a:p>
          <a:p>
            <a:pPr marL="196850" indent="-196850">
              <a:buSzPct val="100000"/>
              <a:buChar char="•"/>
            </a:pPr>
            <a:r>
              <a:rPr lang="en-US" dirty="0">
                <a:solidFill>
                  <a:srgbClr val="243240"/>
                </a:solidFill>
                <a:latin typeface="Aptos" pitchFamily="34" charset="0"/>
                <a:ea typeface="Aptos" pitchFamily="34" charset="-122"/>
                <a:cs typeface="Aptos" pitchFamily="34" charset="-120"/>
              </a:rPr>
              <a:t>Main analysis units: states, regions, and candidate waiting-time subgroups.</a:t>
            </a:r>
            <a:endParaRPr lang="en-US" dirty="0"/>
          </a:p>
          <a:p>
            <a:pPr marL="196850" indent="-196850">
              <a:buSzPct val="100000"/>
              <a:buChar char="•"/>
            </a:pPr>
            <a:r>
              <a:rPr lang="en-US" dirty="0">
                <a:solidFill>
                  <a:srgbClr val="243240"/>
                </a:solidFill>
                <a:latin typeface="Aptos" pitchFamily="34" charset="0"/>
                <a:ea typeface="Aptos" pitchFamily="34" charset="-122"/>
                <a:cs typeface="Aptos" pitchFamily="34" charset="-120"/>
              </a:rPr>
              <a:t>The strongest disparity measure in these files is long-wait share rather than mean wait days, because several wait-time summary fields are constant within organ.</a:t>
            </a:r>
            <a:endParaRPr lang="en-US" dirty="0"/>
          </a:p>
          <a:p>
            <a:pPr marL="196850" indent="-196850">
              <a:buSzPct val="100000"/>
              <a:buChar char="•"/>
            </a:pPr>
            <a:r>
              <a:rPr lang="en-US" dirty="0">
                <a:solidFill>
                  <a:srgbClr val="243240"/>
                </a:solidFill>
                <a:latin typeface="Aptos" pitchFamily="34" charset="0"/>
                <a:ea typeface="Aptos" pitchFamily="34" charset="-122"/>
                <a:cs typeface="Aptos" pitchFamily="34" charset="-120"/>
              </a:rPr>
              <a:t>CDC mortality is used here only as a population context, not as waitlist mortality.</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a:extLst>
            <a:ext uri="{FF2B5EF4-FFF2-40B4-BE49-F238E27FC236}">
              <a16:creationId xmlns:a16="http://schemas.microsoft.com/office/drawing/2014/main" id="{6A6FC386-2E1D-2FB9-8A54-74458F1F0C3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EC60BD5-C5F1-F4DF-ADBA-9A080AC36950}"/>
              </a:ext>
            </a:extLst>
          </p:cNvPr>
          <p:cNvSpPr/>
          <p:nvPr/>
        </p:nvSpPr>
        <p:spPr>
          <a:xfrm>
            <a:off x="0" y="0"/>
            <a:ext cx="12191695" cy="164592"/>
          </a:xfrm>
          <a:prstGeom prst="rect">
            <a:avLst/>
          </a:prstGeom>
          <a:solidFill>
            <a:srgbClr val="16324F"/>
          </a:solidFill>
          <a:ln w="12700">
            <a:solidFill>
              <a:srgbClr val="16324F">
                <a:alpha val="0"/>
              </a:srgbClr>
            </a:solidFill>
            <a:prstDash val="solid"/>
          </a:ln>
        </p:spPr>
        <p:txBody>
          <a:bodyPr/>
          <a:lstStyle/>
          <a:p>
            <a:endParaRPr lang="en-US" dirty="0"/>
          </a:p>
        </p:txBody>
      </p:sp>
      <p:sp>
        <p:nvSpPr>
          <p:cNvPr id="3" name="Shape 1">
            <a:extLst>
              <a:ext uri="{FF2B5EF4-FFF2-40B4-BE49-F238E27FC236}">
                <a16:creationId xmlns:a16="http://schemas.microsoft.com/office/drawing/2014/main" id="{6322A3FF-F0A7-7D3D-430D-952DF4F5888A}"/>
              </a:ext>
            </a:extLst>
          </p:cNvPr>
          <p:cNvSpPr/>
          <p:nvPr/>
        </p:nvSpPr>
        <p:spPr>
          <a:xfrm>
            <a:off x="0" y="6748272"/>
            <a:ext cx="12191695" cy="109728"/>
          </a:xfrm>
          <a:prstGeom prst="rect">
            <a:avLst/>
          </a:prstGeom>
          <a:solidFill>
            <a:srgbClr val="345995"/>
          </a:solidFill>
          <a:ln w="12700">
            <a:solidFill>
              <a:srgbClr val="345995">
                <a:alpha val="0"/>
              </a:srgbClr>
            </a:solidFill>
            <a:prstDash val="solid"/>
          </a:ln>
        </p:spPr>
        <p:txBody>
          <a:bodyPr/>
          <a:lstStyle/>
          <a:p>
            <a:endParaRPr lang="en-US" dirty="0"/>
          </a:p>
        </p:txBody>
      </p:sp>
      <p:sp>
        <p:nvSpPr>
          <p:cNvPr id="5" name="Text 3">
            <a:extLst>
              <a:ext uri="{FF2B5EF4-FFF2-40B4-BE49-F238E27FC236}">
                <a16:creationId xmlns:a16="http://schemas.microsoft.com/office/drawing/2014/main" id="{62DF584A-0FD2-5592-8ACB-98A131850A1D}"/>
              </a:ext>
            </a:extLst>
          </p:cNvPr>
          <p:cNvSpPr/>
          <p:nvPr/>
        </p:nvSpPr>
        <p:spPr>
          <a:xfrm>
            <a:off x="502920" y="621792"/>
            <a:ext cx="8961120" cy="457200"/>
          </a:xfrm>
          <a:prstGeom prst="rect">
            <a:avLst/>
          </a:prstGeom>
          <a:noFill/>
          <a:ln/>
        </p:spPr>
        <p:txBody>
          <a:bodyPr wrap="square" lIns="0" tIns="0" rIns="0" bIns="0" rtlCol="0" anchor="ctr"/>
          <a:lstStyle/>
          <a:p>
            <a:pPr algn="ctr">
              <a:defRPr sz="1400" b="0" i="0" u="none" strike="noStrike" kern="1200" spc="0" baseline="0">
                <a:solidFill>
                  <a:prstClr val="black">
                    <a:lumMod val="65000"/>
                    <a:lumOff val="35000"/>
                  </a:prstClr>
                </a:solidFill>
                <a:latin typeface="+mn-lt"/>
                <a:ea typeface="+mn-ea"/>
                <a:cs typeface="+mn-cs"/>
              </a:defRPr>
            </a:pPr>
            <a:r>
              <a:rPr lang="en-US" sz="2800" b="1" dirty="0">
                <a:solidFill>
                  <a:schemeClr val="accent1">
                    <a:lumMod val="75000"/>
                  </a:schemeClr>
                </a:solidFill>
              </a:rPr>
              <a:t>TOTAL TRANSPLANTS OVER TIME (US) — ALL RECIPIENT AGES</a:t>
            </a:r>
          </a:p>
        </p:txBody>
      </p:sp>
      <p:sp>
        <p:nvSpPr>
          <p:cNvPr id="7" name="Shape 4">
            <a:extLst>
              <a:ext uri="{FF2B5EF4-FFF2-40B4-BE49-F238E27FC236}">
                <a16:creationId xmlns:a16="http://schemas.microsoft.com/office/drawing/2014/main" id="{4CB9DB3D-E93C-17B0-6EBC-CE3348BA6F9B}"/>
              </a:ext>
            </a:extLst>
          </p:cNvPr>
          <p:cNvSpPr/>
          <p:nvPr/>
        </p:nvSpPr>
        <p:spPr>
          <a:xfrm>
            <a:off x="7818120" y="1623060"/>
            <a:ext cx="3657600" cy="1520190"/>
          </a:xfrm>
          <a:prstGeom prst="roundRect">
            <a:avLst>
              <a:gd name="adj" fmla="val 5926"/>
            </a:avLst>
          </a:prstGeom>
          <a:solidFill>
            <a:srgbClr val="FFFFFF"/>
          </a:solidFill>
          <a:ln w="12700">
            <a:solidFill>
              <a:srgbClr val="345995"/>
            </a:solidFill>
            <a:prstDash val="solid"/>
          </a:ln>
        </p:spPr>
        <p:txBody>
          <a:bodyPr/>
          <a:lstStyle/>
          <a:p>
            <a:endParaRPr lang="en-US" dirty="0"/>
          </a:p>
        </p:txBody>
      </p:sp>
      <p:sp>
        <p:nvSpPr>
          <p:cNvPr id="8" name="Shape 5">
            <a:extLst>
              <a:ext uri="{FF2B5EF4-FFF2-40B4-BE49-F238E27FC236}">
                <a16:creationId xmlns:a16="http://schemas.microsoft.com/office/drawing/2014/main" id="{B7E7221E-D841-2486-0632-81CF584869A1}"/>
              </a:ext>
            </a:extLst>
          </p:cNvPr>
          <p:cNvSpPr/>
          <p:nvPr/>
        </p:nvSpPr>
        <p:spPr>
          <a:xfrm>
            <a:off x="7818120" y="1623060"/>
            <a:ext cx="109728" cy="1520190"/>
          </a:xfrm>
          <a:prstGeom prst="rect">
            <a:avLst/>
          </a:prstGeom>
          <a:solidFill>
            <a:srgbClr val="345995"/>
          </a:solidFill>
          <a:ln w="12700">
            <a:solidFill>
              <a:srgbClr val="345995">
                <a:alpha val="0"/>
              </a:srgbClr>
            </a:solidFill>
            <a:prstDash val="solid"/>
          </a:ln>
        </p:spPr>
        <p:txBody>
          <a:bodyPr/>
          <a:lstStyle/>
          <a:p>
            <a:endParaRPr lang="en-US" dirty="0"/>
          </a:p>
        </p:txBody>
      </p:sp>
      <p:sp>
        <p:nvSpPr>
          <p:cNvPr id="10" name="Text 7">
            <a:extLst>
              <a:ext uri="{FF2B5EF4-FFF2-40B4-BE49-F238E27FC236}">
                <a16:creationId xmlns:a16="http://schemas.microsoft.com/office/drawing/2014/main" id="{D5AE9C08-7457-C48E-B59A-4A6903CEB16A}"/>
              </a:ext>
            </a:extLst>
          </p:cNvPr>
          <p:cNvSpPr/>
          <p:nvPr/>
        </p:nvSpPr>
        <p:spPr>
          <a:xfrm>
            <a:off x="8019288" y="1725930"/>
            <a:ext cx="3346704" cy="1309878"/>
          </a:xfrm>
          <a:prstGeom prst="rect">
            <a:avLst/>
          </a:prstGeom>
          <a:noFill/>
          <a:ln/>
        </p:spPr>
        <p:txBody>
          <a:bodyPr wrap="square" lIns="0" tIns="0" rIns="0" bIns="0" rtlCol="0" anchor="t"/>
          <a:lstStyle/>
          <a:p>
            <a:r>
              <a:rPr lang="en-US" sz="1600" dirty="0"/>
              <a:t>This line chart tracks the </a:t>
            </a:r>
            <a:r>
              <a:rPr lang="en-US" sz="1600" b="1" dirty="0"/>
              <a:t>total number of U.S. transplants each year</a:t>
            </a:r>
            <a:r>
              <a:rPr lang="en-US" sz="1600" dirty="0"/>
              <a:t> (all organs combined), using the </a:t>
            </a:r>
            <a:r>
              <a:rPr lang="en-US" sz="1600" b="1" dirty="0"/>
              <a:t>“All Recipient Ages”</a:t>
            </a:r>
            <a:r>
              <a:rPr lang="en-US" sz="1600" dirty="0"/>
              <a:t> total.</a:t>
            </a:r>
            <a:endParaRPr lang="en-US" sz="1400" dirty="0"/>
          </a:p>
        </p:txBody>
      </p:sp>
      <p:sp>
        <p:nvSpPr>
          <p:cNvPr id="11" name="Text 8">
            <a:extLst>
              <a:ext uri="{FF2B5EF4-FFF2-40B4-BE49-F238E27FC236}">
                <a16:creationId xmlns:a16="http://schemas.microsoft.com/office/drawing/2014/main" id="{9845A282-AFEC-8C5B-F4E5-D2AE9D50564D}"/>
              </a:ext>
            </a:extLst>
          </p:cNvPr>
          <p:cNvSpPr/>
          <p:nvPr/>
        </p:nvSpPr>
        <p:spPr>
          <a:xfrm>
            <a:off x="7973568" y="3328416"/>
            <a:ext cx="3337560" cy="1975104"/>
          </a:xfrm>
          <a:prstGeom prst="rect">
            <a:avLst/>
          </a:prstGeom>
          <a:noFill/>
          <a:ln/>
        </p:spPr>
        <p:txBody>
          <a:bodyPr wrap="square" lIns="508" tIns="508" rIns="508" bIns="508" rtlCol="0" anchor="t"/>
          <a:lstStyle/>
          <a:p>
            <a:pPr marL="196850" indent="-196850">
              <a:buSzPct val="100000"/>
              <a:buChar char="•"/>
            </a:pPr>
            <a:r>
              <a:rPr lang="en-US" sz="1550" dirty="0">
                <a:solidFill>
                  <a:srgbClr val="243240"/>
                </a:solidFill>
                <a:latin typeface="Aptos" pitchFamily="34" charset="0"/>
                <a:ea typeface="Aptos" pitchFamily="34" charset="-122"/>
                <a:cs typeface="Aptos" pitchFamily="34" charset="-120"/>
              </a:rPr>
              <a:t>There’s a steady long-term increase from the late 1980s through the 2000s. There’s a flattening/slow growth period around the late 2000s to early 2010s. Growth accelerates strongly after 2015, reaching the highest levels around 2023–2025.</a:t>
            </a:r>
            <a:endParaRPr lang="en-US" sz="1550" dirty="0"/>
          </a:p>
        </p:txBody>
      </p:sp>
      <p:graphicFrame>
        <p:nvGraphicFramePr>
          <p:cNvPr id="12" name="Chart 11">
            <a:extLst>
              <a:ext uri="{FF2B5EF4-FFF2-40B4-BE49-F238E27FC236}">
                <a16:creationId xmlns:a16="http://schemas.microsoft.com/office/drawing/2014/main" id="{00000000-0008-0000-0000-000002000000}"/>
              </a:ext>
            </a:extLst>
          </p:cNvPr>
          <p:cNvGraphicFramePr>
            <a:graphicFrameLocks/>
          </p:cNvGraphicFramePr>
          <p:nvPr>
            <p:extLst>
              <p:ext uri="{D42A27DB-BD31-4B8C-83A1-F6EECF244321}">
                <p14:modId xmlns:p14="http://schemas.microsoft.com/office/powerpoint/2010/main" val="2575610344"/>
              </p:ext>
            </p:extLst>
          </p:nvPr>
        </p:nvGraphicFramePr>
        <p:xfrm>
          <a:off x="240030" y="1213632"/>
          <a:ext cx="7292340" cy="4620240"/>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 8">
            <a:extLst>
              <a:ext uri="{FF2B5EF4-FFF2-40B4-BE49-F238E27FC236}">
                <a16:creationId xmlns:a16="http://schemas.microsoft.com/office/drawing/2014/main" id="{321F6BF2-AC7F-6BFC-8A2A-66A1D408AA43}"/>
              </a:ext>
            </a:extLst>
          </p:cNvPr>
          <p:cNvSpPr/>
          <p:nvPr/>
        </p:nvSpPr>
        <p:spPr>
          <a:xfrm>
            <a:off x="502158" y="5390388"/>
            <a:ext cx="10973562" cy="1248156"/>
          </a:xfrm>
          <a:prstGeom prst="rect">
            <a:avLst/>
          </a:prstGeom>
          <a:noFill/>
          <a:ln/>
        </p:spPr>
        <p:txBody>
          <a:bodyPr wrap="square" lIns="508" tIns="508" rIns="508" bIns="508" rtlCol="0" anchor="t"/>
          <a:lstStyle/>
          <a:p>
            <a:pPr marL="196850" indent="-196850">
              <a:buSzPct val="100000"/>
              <a:buChar char="•"/>
            </a:pPr>
            <a:r>
              <a:rPr lang="en-US" sz="1550" dirty="0">
                <a:solidFill>
                  <a:srgbClr val="243240"/>
                </a:solidFill>
                <a:latin typeface="Aptos" pitchFamily="34" charset="0"/>
                <a:ea typeface="Aptos" pitchFamily="34" charset="-122"/>
                <a:cs typeface="Aptos" pitchFamily="34" charset="-120"/>
              </a:rPr>
              <a:t>Why does the line drop sharply at the end? That big drop at the last point is almost always a data reporting issue, not a real collapse, most likely: the last year is incomplete/partial-year, the newest year hasn’t finished being updated in the dataset. One slide-ready takeaway: “Total transplants have increased substantially over time, with especially rapid growth in the last decade; the final-year drop likely reflects partial-year reporting rather than a true decline.”</a:t>
            </a:r>
            <a:endParaRPr lang="en-US" sz="1550" dirty="0"/>
          </a:p>
        </p:txBody>
      </p:sp>
    </p:spTree>
    <p:extLst>
      <p:ext uri="{BB962C8B-B14F-4D97-AF65-F5344CB8AC3E}">
        <p14:creationId xmlns:p14="http://schemas.microsoft.com/office/powerpoint/2010/main" val="3275199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a:extLst>
            <a:ext uri="{FF2B5EF4-FFF2-40B4-BE49-F238E27FC236}">
              <a16:creationId xmlns:a16="http://schemas.microsoft.com/office/drawing/2014/main" id="{6A7B9F21-45E7-AAD9-7CEF-258AEE56EC0B}"/>
            </a:ext>
          </a:extLst>
        </p:cNvPr>
        <p:cNvGrpSpPr/>
        <p:nvPr/>
      </p:nvGrpSpPr>
      <p:grpSpPr>
        <a:xfrm>
          <a:off x="0" y="0"/>
          <a:ext cx="0" cy="0"/>
          <a:chOff x="0" y="0"/>
          <a:chExt cx="0" cy="0"/>
        </a:xfrm>
      </p:grpSpPr>
      <p:sp>
        <p:nvSpPr>
          <p:cNvPr id="15" name="Shape 4">
            <a:extLst>
              <a:ext uri="{FF2B5EF4-FFF2-40B4-BE49-F238E27FC236}">
                <a16:creationId xmlns:a16="http://schemas.microsoft.com/office/drawing/2014/main" id="{EB5A016C-B874-C57B-B49C-249AB5A9C908}"/>
              </a:ext>
            </a:extLst>
          </p:cNvPr>
          <p:cNvSpPr/>
          <p:nvPr/>
        </p:nvSpPr>
        <p:spPr>
          <a:xfrm>
            <a:off x="7847838" y="1783080"/>
            <a:ext cx="3657600" cy="1771650"/>
          </a:xfrm>
          <a:prstGeom prst="roundRect">
            <a:avLst>
              <a:gd name="adj" fmla="val 5926"/>
            </a:avLst>
          </a:prstGeom>
          <a:solidFill>
            <a:srgbClr val="FFFFFF"/>
          </a:solidFill>
          <a:ln w="12700">
            <a:solidFill>
              <a:srgbClr val="345995"/>
            </a:solidFill>
            <a:prstDash val="solid"/>
          </a:ln>
        </p:spPr>
        <p:txBody>
          <a:bodyPr/>
          <a:lstStyle/>
          <a:p>
            <a:r>
              <a:rPr lang="en-US" sz="1600" dirty="0"/>
              <a:t>The male bar is noticeably higher than the female bar. Interpreting the bar heights: males have a higher transplant rate per 100k than females in 2025 (roughly 30k vs 19k on this chart’s scale).</a:t>
            </a:r>
          </a:p>
        </p:txBody>
      </p:sp>
      <p:sp>
        <p:nvSpPr>
          <p:cNvPr id="2" name="Shape 0">
            <a:extLst>
              <a:ext uri="{FF2B5EF4-FFF2-40B4-BE49-F238E27FC236}">
                <a16:creationId xmlns:a16="http://schemas.microsoft.com/office/drawing/2014/main" id="{4A3FC333-B72F-8112-AFF4-774F91B28067}"/>
              </a:ext>
            </a:extLst>
          </p:cNvPr>
          <p:cNvSpPr/>
          <p:nvPr/>
        </p:nvSpPr>
        <p:spPr>
          <a:xfrm>
            <a:off x="0" y="0"/>
            <a:ext cx="12191695" cy="164592"/>
          </a:xfrm>
          <a:prstGeom prst="rect">
            <a:avLst/>
          </a:prstGeom>
          <a:solidFill>
            <a:srgbClr val="16324F"/>
          </a:solidFill>
          <a:ln w="12700">
            <a:solidFill>
              <a:srgbClr val="16324F">
                <a:alpha val="0"/>
              </a:srgbClr>
            </a:solidFill>
            <a:prstDash val="solid"/>
          </a:ln>
        </p:spPr>
        <p:txBody>
          <a:bodyPr/>
          <a:lstStyle/>
          <a:p>
            <a:endParaRPr lang="en-US" dirty="0"/>
          </a:p>
        </p:txBody>
      </p:sp>
      <p:sp>
        <p:nvSpPr>
          <p:cNvPr id="3" name="Shape 1">
            <a:extLst>
              <a:ext uri="{FF2B5EF4-FFF2-40B4-BE49-F238E27FC236}">
                <a16:creationId xmlns:a16="http://schemas.microsoft.com/office/drawing/2014/main" id="{289AB8E9-8C96-4DDD-2F4A-F54753A4CAC1}"/>
              </a:ext>
            </a:extLst>
          </p:cNvPr>
          <p:cNvSpPr/>
          <p:nvPr/>
        </p:nvSpPr>
        <p:spPr>
          <a:xfrm>
            <a:off x="0" y="6748272"/>
            <a:ext cx="12191695" cy="109728"/>
          </a:xfrm>
          <a:prstGeom prst="rect">
            <a:avLst/>
          </a:prstGeom>
          <a:solidFill>
            <a:srgbClr val="345995"/>
          </a:solidFill>
          <a:ln w="12700">
            <a:solidFill>
              <a:srgbClr val="345995">
                <a:alpha val="0"/>
              </a:srgbClr>
            </a:solidFill>
            <a:prstDash val="solid"/>
          </a:ln>
        </p:spPr>
        <p:txBody>
          <a:bodyPr/>
          <a:lstStyle/>
          <a:p>
            <a:endParaRPr lang="en-US" dirty="0"/>
          </a:p>
        </p:txBody>
      </p:sp>
      <p:sp>
        <p:nvSpPr>
          <p:cNvPr id="5" name="Text 3">
            <a:extLst>
              <a:ext uri="{FF2B5EF4-FFF2-40B4-BE49-F238E27FC236}">
                <a16:creationId xmlns:a16="http://schemas.microsoft.com/office/drawing/2014/main" id="{F0A7DD02-60C9-8A80-D9E6-EB3A4374B4F6}"/>
              </a:ext>
            </a:extLst>
          </p:cNvPr>
          <p:cNvSpPr/>
          <p:nvPr/>
        </p:nvSpPr>
        <p:spPr>
          <a:xfrm>
            <a:off x="502920" y="621792"/>
            <a:ext cx="8961120" cy="457200"/>
          </a:xfrm>
          <a:prstGeom prst="rect">
            <a:avLst/>
          </a:prstGeom>
          <a:noFill/>
          <a:ln/>
        </p:spPr>
        <p:txBody>
          <a:bodyPr wrap="square" lIns="0" tIns="0" rIns="0" bIns="0" rtlCol="0" anchor="ctr"/>
          <a:lstStyle/>
          <a:p>
            <a:pPr marL="0" indent="0">
              <a:buNone/>
            </a:pPr>
            <a:r>
              <a:rPr lang="en-US" sz="2500" b="1" dirty="0">
                <a:solidFill>
                  <a:srgbClr val="16324F"/>
                </a:solidFill>
                <a:latin typeface="Aptos Display" pitchFamily="34" charset="0"/>
                <a:ea typeface="Aptos Display" pitchFamily="34" charset="-122"/>
                <a:cs typeface="Aptos Display" pitchFamily="34" charset="-120"/>
              </a:rPr>
              <a:t>ALL ORGAN TRANPLANT PER 100K (SEX)</a:t>
            </a:r>
            <a:endParaRPr lang="en-US" sz="2500" dirty="0"/>
          </a:p>
        </p:txBody>
      </p:sp>
      <p:sp>
        <p:nvSpPr>
          <p:cNvPr id="8" name="Shape 5">
            <a:extLst>
              <a:ext uri="{FF2B5EF4-FFF2-40B4-BE49-F238E27FC236}">
                <a16:creationId xmlns:a16="http://schemas.microsoft.com/office/drawing/2014/main" id="{BC0ECB51-D03E-99E2-D395-110973CCA832}"/>
              </a:ext>
            </a:extLst>
          </p:cNvPr>
          <p:cNvSpPr/>
          <p:nvPr/>
        </p:nvSpPr>
        <p:spPr>
          <a:xfrm>
            <a:off x="7847838" y="1920240"/>
            <a:ext cx="91440" cy="1474470"/>
          </a:xfrm>
          <a:prstGeom prst="rect">
            <a:avLst/>
          </a:prstGeom>
          <a:solidFill>
            <a:srgbClr val="345995"/>
          </a:solidFill>
          <a:ln w="12700">
            <a:solidFill>
              <a:srgbClr val="345995">
                <a:alpha val="0"/>
              </a:srgbClr>
            </a:solidFill>
            <a:prstDash val="solid"/>
          </a:ln>
        </p:spPr>
        <p:txBody>
          <a:bodyPr/>
          <a:lstStyle/>
          <a:p>
            <a:endParaRPr lang="en-US" dirty="0"/>
          </a:p>
        </p:txBody>
      </p:sp>
      <p:sp>
        <p:nvSpPr>
          <p:cNvPr id="11" name="Text 8">
            <a:extLst>
              <a:ext uri="{FF2B5EF4-FFF2-40B4-BE49-F238E27FC236}">
                <a16:creationId xmlns:a16="http://schemas.microsoft.com/office/drawing/2014/main" id="{5BFBB095-FE9A-91AA-1EE1-710FB52F7F9A}"/>
              </a:ext>
            </a:extLst>
          </p:cNvPr>
          <p:cNvSpPr/>
          <p:nvPr/>
        </p:nvSpPr>
        <p:spPr>
          <a:xfrm>
            <a:off x="7973568" y="4011930"/>
            <a:ext cx="3337560" cy="2114550"/>
          </a:xfrm>
          <a:prstGeom prst="rect">
            <a:avLst/>
          </a:prstGeom>
          <a:noFill/>
          <a:ln/>
        </p:spPr>
        <p:txBody>
          <a:bodyPr wrap="square" lIns="508" tIns="508" rIns="508" bIns="508" rtlCol="0" anchor="t"/>
          <a:lstStyle/>
          <a:p>
            <a:pPr marL="196850" indent="-196850">
              <a:buSzPct val="100000"/>
              <a:buChar char="•"/>
            </a:pPr>
            <a:r>
              <a:rPr lang="en-US" sz="1550" dirty="0">
                <a:solidFill>
                  <a:srgbClr val="243240"/>
                </a:solidFill>
                <a:latin typeface="Aptos" pitchFamily="34" charset="0"/>
                <a:ea typeface="Aptos" pitchFamily="34" charset="-122"/>
                <a:cs typeface="Aptos" pitchFamily="34" charset="-120"/>
              </a:rPr>
              <a:t>Males received transplants at a higher per-capita rate than females in 2025.</a:t>
            </a:r>
          </a:p>
          <a:p>
            <a:pPr marL="196850" indent="-196850">
              <a:buSzPct val="100000"/>
              <a:buChar char="•"/>
            </a:pPr>
            <a:r>
              <a:rPr lang="en-US" sz="1550" dirty="0">
                <a:solidFill>
                  <a:srgbClr val="243240"/>
                </a:solidFill>
                <a:latin typeface="Aptos" pitchFamily="34" charset="0"/>
                <a:ea typeface="Aptos" pitchFamily="34" charset="-122"/>
                <a:cs typeface="Aptos" pitchFamily="34" charset="-120"/>
              </a:rPr>
              <a:t>The gap is about 6.4 more transplants per 100k for males.</a:t>
            </a:r>
          </a:p>
          <a:p>
            <a:pPr marL="196850" indent="-196850">
              <a:buSzPct val="100000"/>
              <a:buChar char="•"/>
            </a:pPr>
            <a:r>
              <a:rPr lang="en-US" sz="1550" dirty="0">
                <a:solidFill>
                  <a:srgbClr val="243240"/>
                </a:solidFill>
                <a:latin typeface="Aptos" pitchFamily="34" charset="0"/>
                <a:ea typeface="Aptos" pitchFamily="34" charset="-122"/>
                <a:cs typeface="Aptos" pitchFamily="34" charset="-120"/>
              </a:rPr>
              <a:t>In relative terms, the male rate is roughly 1.6× (about 60%) higher than the female rate.</a:t>
            </a:r>
            <a:endParaRPr lang="en-US" sz="1550" dirty="0"/>
          </a:p>
        </p:txBody>
      </p:sp>
      <p:sp>
        <p:nvSpPr>
          <p:cNvPr id="17" name="Text 8">
            <a:extLst>
              <a:ext uri="{FF2B5EF4-FFF2-40B4-BE49-F238E27FC236}">
                <a16:creationId xmlns:a16="http://schemas.microsoft.com/office/drawing/2014/main" id="{303D2964-3DEC-E74D-8EA8-6F7AA97CDFB1}"/>
              </a:ext>
            </a:extLst>
          </p:cNvPr>
          <p:cNvSpPr/>
          <p:nvPr/>
        </p:nvSpPr>
        <p:spPr>
          <a:xfrm>
            <a:off x="7914132" y="2088261"/>
            <a:ext cx="3451860" cy="728091"/>
          </a:xfrm>
          <a:prstGeom prst="rect">
            <a:avLst/>
          </a:prstGeom>
          <a:noFill/>
          <a:ln/>
        </p:spPr>
        <p:txBody>
          <a:bodyPr wrap="square" lIns="508" tIns="508" rIns="508" bIns="508" rtlCol="0" anchor="t"/>
          <a:lstStyle/>
          <a:p>
            <a:pPr marL="196850" indent="-196850">
              <a:buSzPct val="100000"/>
              <a:buChar char="•"/>
            </a:pPr>
            <a:endParaRPr lang="en-US" sz="1550" dirty="0"/>
          </a:p>
        </p:txBody>
      </p:sp>
      <p:graphicFrame>
        <p:nvGraphicFramePr>
          <p:cNvPr id="19" name="Chart 18">
            <a:extLst>
              <a:ext uri="{FF2B5EF4-FFF2-40B4-BE49-F238E27FC236}">
                <a16:creationId xmlns:a16="http://schemas.microsoft.com/office/drawing/2014/main" id="{00000000-0008-0000-0000-000002000000}"/>
              </a:ext>
            </a:extLst>
          </p:cNvPr>
          <p:cNvGraphicFramePr>
            <a:graphicFrameLocks/>
          </p:cNvGraphicFramePr>
          <p:nvPr>
            <p:extLst>
              <p:ext uri="{D42A27DB-BD31-4B8C-83A1-F6EECF244321}">
                <p14:modId xmlns:p14="http://schemas.microsoft.com/office/powerpoint/2010/main" val="3427511292"/>
              </p:ext>
            </p:extLst>
          </p:nvPr>
        </p:nvGraphicFramePr>
        <p:xfrm>
          <a:off x="184170" y="1267206"/>
          <a:ext cx="7494504" cy="527075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0330971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a:extLst>
            <a:ext uri="{FF2B5EF4-FFF2-40B4-BE49-F238E27FC236}">
              <a16:creationId xmlns:a16="http://schemas.microsoft.com/office/drawing/2014/main" id="{9618E36E-82EE-B7A4-6B71-5052545F608C}"/>
            </a:ext>
          </a:extLst>
        </p:cNvPr>
        <p:cNvGrpSpPr/>
        <p:nvPr/>
      </p:nvGrpSpPr>
      <p:grpSpPr>
        <a:xfrm>
          <a:off x="0" y="0"/>
          <a:ext cx="0" cy="0"/>
          <a:chOff x="0" y="0"/>
          <a:chExt cx="0" cy="0"/>
        </a:xfrm>
      </p:grpSpPr>
      <p:sp>
        <p:nvSpPr>
          <p:cNvPr id="15" name="Shape 4">
            <a:extLst>
              <a:ext uri="{FF2B5EF4-FFF2-40B4-BE49-F238E27FC236}">
                <a16:creationId xmlns:a16="http://schemas.microsoft.com/office/drawing/2014/main" id="{13F8039D-331B-124E-B22C-2C5EF9C14446}"/>
              </a:ext>
            </a:extLst>
          </p:cNvPr>
          <p:cNvSpPr/>
          <p:nvPr/>
        </p:nvSpPr>
        <p:spPr>
          <a:xfrm>
            <a:off x="7904988" y="1474470"/>
            <a:ext cx="3657600" cy="2018538"/>
          </a:xfrm>
          <a:prstGeom prst="roundRect">
            <a:avLst>
              <a:gd name="adj" fmla="val 5926"/>
            </a:avLst>
          </a:prstGeom>
          <a:solidFill>
            <a:srgbClr val="FFFFFF"/>
          </a:solidFill>
          <a:ln w="12700">
            <a:solidFill>
              <a:srgbClr val="345995"/>
            </a:solidFill>
            <a:prstDash val="solid"/>
          </a:ln>
        </p:spPr>
        <p:txBody>
          <a:bodyPr/>
          <a:lstStyle/>
          <a:p>
            <a:endParaRPr lang="en-US" sz="1600" dirty="0"/>
          </a:p>
          <a:p>
            <a:r>
              <a:rPr lang="en-US" sz="1600" dirty="0"/>
              <a:t>This bar chart shows the </a:t>
            </a:r>
            <a:r>
              <a:rPr lang="en-US" sz="1600" b="1" dirty="0"/>
              <a:t>share of all U.S. transplants in 2025</a:t>
            </a:r>
            <a:r>
              <a:rPr lang="en-US" sz="1600" dirty="0"/>
              <a:t> (all organs combined) by </a:t>
            </a:r>
            <a:r>
              <a:rPr lang="en-US" sz="1600" b="1" dirty="0"/>
              <a:t>race/ethnicity</a:t>
            </a:r>
            <a:r>
              <a:rPr lang="en-US" sz="1600" dirty="0"/>
              <a:t>. The y-axis is a proportion (0 to 1), so each bar represents </a:t>
            </a:r>
            <a:r>
              <a:rPr lang="en-US" sz="1600" b="1" dirty="0"/>
              <a:t>what percent of total transplants</a:t>
            </a:r>
            <a:r>
              <a:rPr lang="en-US" sz="1600" dirty="0"/>
              <a:t> went to that group.</a:t>
            </a:r>
          </a:p>
        </p:txBody>
      </p:sp>
      <p:sp>
        <p:nvSpPr>
          <p:cNvPr id="2" name="Shape 0">
            <a:extLst>
              <a:ext uri="{FF2B5EF4-FFF2-40B4-BE49-F238E27FC236}">
                <a16:creationId xmlns:a16="http://schemas.microsoft.com/office/drawing/2014/main" id="{E2A3650A-A47A-7CB0-4521-C7E7C6C2B074}"/>
              </a:ext>
            </a:extLst>
          </p:cNvPr>
          <p:cNvSpPr/>
          <p:nvPr/>
        </p:nvSpPr>
        <p:spPr>
          <a:xfrm>
            <a:off x="0" y="0"/>
            <a:ext cx="12191695" cy="164592"/>
          </a:xfrm>
          <a:prstGeom prst="rect">
            <a:avLst/>
          </a:prstGeom>
          <a:solidFill>
            <a:srgbClr val="16324F"/>
          </a:solidFill>
          <a:ln w="12700">
            <a:solidFill>
              <a:srgbClr val="16324F">
                <a:alpha val="0"/>
              </a:srgbClr>
            </a:solidFill>
            <a:prstDash val="solid"/>
          </a:ln>
        </p:spPr>
        <p:txBody>
          <a:bodyPr/>
          <a:lstStyle/>
          <a:p>
            <a:endParaRPr lang="en-US" dirty="0"/>
          </a:p>
        </p:txBody>
      </p:sp>
      <p:sp>
        <p:nvSpPr>
          <p:cNvPr id="3" name="Shape 1">
            <a:extLst>
              <a:ext uri="{FF2B5EF4-FFF2-40B4-BE49-F238E27FC236}">
                <a16:creationId xmlns:a16="http://schemas.microsoft.com/office/drawing/2014/main" id="{7B2F74C1-0C65-11FB-70F7-E0B3DF8EC0D5}"/>
              </a:ext>
            </a:extLst>
          </p:cNvPr>
          <p:cNvSpPr/>
          <p:nvPr/>
        </p:nvSpPr>
        <p:spPr>
          <a:xfrm>
            <a:off x="0" y="6748272"/>
            <a:ext cx="12191695" cy="109728"/>
          </a:xfrm>
          <a:prstGeom prst="rect">
            <a:avLst/>
          </a:prstGeom>
          <a:solidFill>
            <a:srgbClr val="345995"/>
          </a:solidFill>
          <a:ln w="12700">
            <a:solidFill>
              <a:srgbClr val="345995">
                <a:alpha val="0"/>
              </a:srgbClr>
            </a:solidFill>
            <a:prstDash val="solid"/>
          </a:ln>
        </p:spPr>
        <p:txBody>
          <a:bodyPr/>
          <a:lstStyle/>
          <a:p>
            <a:endParaRPr lang="en-US" dirty="0"/>
          </a:p>
        </p:txBody>
      </p:sp>
      <p:sp>
        <p:nvSpPr>
          <p:cNvPr id="5" name="Text 3">
            <a:extLst>
              <a:ext uri="{FF2B5EF4-FFF2-40B4-BE49-F238E27FC236}">
                <a16:creationId xmlns:a16="http://schemas.microsoft.com/office/drawing/2014/main" id="{0FD631DA-129B-AABB-2904-112D4AE285A5}"/>
              </a:ext>
            </a:extLst>
          </p:cNvPr>
          <p:cNvSpPr/>
          <p:nvPr/>
        </p:nvSpPr>
        <p:spPr>
          <a:xfrm>
            <a:off x="502920" y="621792"/>
            <a:ext cx="8961120" cy="457200"/>
          </a:xfrm>
          <a:prstGeom prst="rect">
            <a:avLst/>
          </a:prstGeom>
          <a:noFill/>
          <a:ln/>
        </p:spPr>
        <p:txBody>
          <a:bodyPr wrap="square" lIns="0" tIns="0" rIns="0" bIns="0" rtlCol="0" anchor="ctr"/>
          <a:lstStyle/>
          <a:p>
            <a:pPr marL="0" indent="0">
              <a:buNone/>
            </a:pPr>
            <a:r>
              <a:rPr lang="en-US" sz="2500" b="1" dirty="0">
                <a:solidFill>
                  <a:srgbClr val="16324F"/>
                </a:solidFill>
                <a:latin typeface="Aptos Display" pitchFamily="34" charset="0"/>
                <a:ea typeface="Aptos Display" pitchFamily="34" charset="-122"/>
                <a:cs typeface="Aptos Display" pitchFamily="34" charset="-120"/>
              </a:rPr>
              <a:t>ALL ORGAN TRANPLANT  (RACE/ETHNICITY)</a:t>
            </a:r>
            <a:endParaRPr lang="en-US" sz="2500" dirty="0"/>
          </a:p>
        </p:txBody>
      </p:sp>
      <p:sp>
        <p:nvSpPr>
          <p:cNvPr id="8" name="Shape 5">
            <a:extLst>
              <a:ext uri="{FF2B5EF4-FFF2-40B4-BE49-F238E27FC236}">
                <a16:creationId xmlns:a16="http://schemas.microsoft.com/office/drawing/2014/main" id="{64C37049-D5E8-24B2-BC58-46010A867CB7}"/>
              </a:ext>
            </a:extLst>
          </p:cNvPr>
          <p:cNvSpPr/>
          <p:nvPr/>
        </p:nvSpPr>
        <p:spPr>
          <a:xfrm>
            <a:off x="7852410" y="1520190"/>
            <a:ext cx="109728" cy="1908810"/>
          </a:xfrm>
          <a:prstGeom prst="rect">
            <a:avLst/>
          </a:prstGeom>
          <a:solidFill>
            <a:srgbClr val="345995"/>
          </a:solidFill>
          <a:ln w="12700">
            <a:solidFill>
              <a:srgbClr val="345995">
                <a:alpha val="0"/>
              </a:srgbClr>
            </a:solidFill>
            <a:prstDash val="solid"/>
          </a:ln>
        </p:spPr>
        <p:txBody>
          <a:bodyPr/>
          <a:lstStyle/>
          <a:p>
            <a:endParaRPr lang="en-US" dirty="0"/>
          </a:p>
        </p:txBody>
      </p:sp>
      <p:sp>
        <p:nvSpPr>
          <p:cNvPr id="11" name="Text 8">
            <a:extLst>
              <a:ext uri="{FF2B5EF4-FFF2-40B4-BE49-F238E27FC236}">
                <a16:creationId xmlns:a16="http://schemas.microsoft.com/office/drawing/2014/main" id="{6BEE2E82-D96B-7DA4-7177-5DD1E76F0412}"/>
              </a:ext>
            </a:extLst>
          </p:cNvPr>
          <p:cNvSpPr/>
          <p:nvPr/>
        </p:nvSpPr>
        <p:spPr>
          <a:xfrm>
            <a:off x="8028432" y="3848481"/>
            <a:ext cx="3337560" cy="2129409"/>
          </a:xfrm>
          <a:prstGeom prst="rect">
            <a:avLst/>
          </a:prstGeom>
          <a:noFill/>
          <a:ln/>
        </p:spPr>
        <p:txBody>
          <a:bodyPr wrap="square" lIns="508" tIns="508" rIns="508" bIns="508" rtlCol="0" anchor="t"/>
          <a:lstStyle/>
          <a:p>
            <a:r>
              <a:rPr lang="en-US" sz="1600" dirty="0"/>
              <a:t>This shows the </a:t>
            </a:r>
            <a:r>
              <a:rPr lang="en-US" sz="1600" b="1" dirty="0"/>
              <a:t>distribution of transplants</a:t>
            </a:r>
          </a:p>
          <a:p>
            <a:r>
              <a:rPr lang="en-US" sz="1600" dirty="0"/>
              <a:t>Transplants in 2025 were concentrated among White recipients </a:t>
            </a:r>
            <a:r>
              <a:rPr lang="en-US" sz="1600" b="1" dirty="0"/>
              <a:t>(49%), </a:t>
            </a:r>
            <a:r>
              <a:rPr lang="en-US" sz="1600" dirty="0"/>
              <a:t>with Black </a:t>
            </a:r>
            <a:r>
              <a:rPr lang="en-US" sz="1600" b="1" dirty="0"/>
              <a:t>(22%) </a:t>
            </a:r>
            <a:r>
              <a:rPr lang="en-US" sz="1600" dirty="0"/>
              <a:t>and Hispanic/Latino (</a:t>
            </a:r>
            <a:r>
              <a:rPr lang="en-US" sz="1600" b="1" dirty="0"/>
              <a:t>19%) </a:t>
            </a:r>
            <a:r>
              <a:rPr lang="en-US" sz="1600" dirty="0"/>
              <a:t>recipients comprising substantial but smaller shares.</a:t>
            </a:r>
          </a:p>
        </p:txBody>
      </p:sp>
      <p:sp>
        <p:nvSpPr>
          <p:cNvPr id="17" name="Text 8">
            <a:extLst>
              <a:ext uri="{FF2B5EF4-FFF2-40B4-BE49-F238E27FC236}">
                <a16:creationId xmlns:a16="http://schemas.microsoft.com/office/drawing/2014/main" id="{698A53CE-BD4F-5CC9-57EC-BA5B995CCE73}"/>
              </a:ext>
            </a:extLst>
          </p:cNvPr>
          <p:cNvSpPr/>
          <p:nvPr/>
        </p:nvSpPr>
        <p:spPr>
          <a:xfrm>
            <a:off x="7914132" y="2088261"/>
            <a:ext cx="3451860" cy="728091"/>
          </a:xfrm>
          <a:prstGeom prst="rect">
            <a:avLst/>
          </a:prstGeom>
          <a:noFill/>
          <a:ln/>
        </p:spPr>
        <p:txBody>
          <a:bodyPr wrap="square" lIns="508" tIns="508" rIns="508" bIns="508" rtlCol="0" anchor="t"/>
          <a:lstStyle/>
          <a:p>
            <a:pPr marL="196850" indent="-196850">
              <a:buSzPct val="100000"/>
              <a:buChar char="•"/>
            </a:pPr>
            <a:endParaRPr lang="en-US" sz="1550" dirty="0"/>
          </a:p>
        </p:txBody>
      </p:sp>
      <p:graphicFrame>
        <p:nvGraphicFramePr>
          <p:cNvPr id="18" name="Chart 17">
            <a:extLst>
              <a:ext uri="{FF2B5EF4-FFF2-40B4-BE49-F238E27FC236}">
                <a16:creationId xmlns:a16="http://schemas.microsoft.com/office/drawing/2014/main" id="{00000000-0008-0000-0000-000002000000}"/>
              </a:ext>
            </a:extLst>
          </p:cNvPr>
          <p:cNvGraphicFramePr>
            <a:graphicFrameLocks/>
          </p:cNvGraphicFramePr>
          <p:nvPr>
            <p:extLst>
              <p:ext uri="{D42A27DB-BD31-4B8C-83A1-F6EECF244321}">
                <p14:modId xmlns:p14="http://schemas.microsoft.com/office/powerpoint/2010/main" val="4102179451"/>
              </p:ext>
            </p:extLst>
          </p:nvPr>
        </p:nvGraphicFramePr>
        <p:xfrm>
          <a:off x="80010" y="1152144"/>
          <a:ext cx="7610094" cy="521208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844824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a:extLst>
            <a:ext uri="{FF2B5EF4-FFF2-40B4-BE49-F238E27FC236}">
              <a16:creationId xmlns:a16="http://schemas.microsoft.com/office/drawing/2014/main" id="{FB71A37A-3B0D-C9C8-21F9-583B7C89EF0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FAE9A39-B92D-CECA-467E-2D7ACE716039}"/>
              </a:ext>
            </a:extLst>
          </p:cNvPr>
          <p:cNvSpPr/>
          <p:nvPr/>
        </p:nvSpPr>
        <p:spPr>
          <a:xfrm>
            <a:off x="0" y="0"/>
            <a:ext cx="12191695" cy="164592"/>
          </a:xfrm>
          <a:prstGeom prst="rect">
            <a:avLst/>
          </a:prstGeom>
          <a:solidFill>
            <a:srgbClr val="16324F"/>
          </a:solidFill>
          <a:ln w="12700">
            <a:solidFill>
              <a:srgbClr val="16324F">
                <a:alpha val="0"/>
              </a:srgbClr>
            </a:solidFill>
            <a:prstDash val="solid"/>
          </a:ln>
        </p:spPr>
        <p:txBody>
          <a:bodyPr/>
          <a:lstStyle/>
          <a:p>
            <a:endParaRPr lang="en-US" dirty="0"/>
          </a:p>
        </p:txBody>
      </p:sp>
      <p:sp>
        <p:nvSpPr>
          <p:cNvPr id="3" name="Shape 1">
            <a:extLst>
              <a:ext uri="{FF2B5EF4-FFF2-40B4-BE49-F238E27FC236}">
                <a16:creationId xmlns:a16="http://schemas.microsoft.com/office/drawing/2014/main" id="{7B33CC8C-C1C7-D112-508A-08DA122ACA6B}"/>
              </a:ext>
            </a:extLst>
          </p:cNvPr>
          <p:cNvSpPr/>
          <p:nvPr/>
        </p:nvSpPr>
        <p:spPr>
          <a:xfrm>
            <a:off x="0" y="6748272"/>
            <a:ext cx="12191695" cy="109728"/>
          </a:xfrm>
          <a:prstGeom prst="rect">
            <a:avLst/>
          </a:prstGeom>
          <a:solidFill>
            <a:srgbClr val="345995"/>
          </a:solidFill>
          <a:ln w="12700">
            <a:solidFill>
              <a:srgbClr val="345995">
                <a:alpha val="0"/>
              </a:srgbClr>
            </a:solidFill>
            <a:prstDash val="solid"/>
          </a:ln>
        </p:spPr>
        <p:txBody>
          <a:bodyPr/>
          <a:lstStyle/>
          <a:p>
            <a:endParaRPr lang="en-US" dirty="0"/>
          </a:p>
        </p:txBody>
      </p:sp>
      <p:sp>
        <p:nvSpPr>
          <p:cNvPr id="5" name="Text 3">
            <a:extLst>
              <a:ext uri="{FF2B5EF4-FFF2-40B4-BE49-F238E27FC236}">
                <a16:creationId xmlns:a16="http://schemas.microsoft.com/office/drawing/2014/main" id="{49286EC7-704B-3232-D25C-54F4170C1BBF}"/>
              </a:ext>
            </a:extLst>
          </p:cNvPr>
          <p:cNvSpPr/>
          <p:nvPr/>
        </p:nvSpPr>
        <p:spPr>
          <a:xfrm>
            <a:off x="502920" y="621792"/>
            <a:ext cx="8961120" cy="457200"/>
          </a:xfrm>
          <a:prstGeom prst="rect">
            <a:avLst/>
          </a:prstGeom>
          <a:noFill/>
          <a:ln/>
        </p:spPr>
        <p:txBody>
          <a:bodyPr wrap="square" lIns="0" tIns="0" rIns="0" bIns="0" rtlCol="0" anchor="ctr"/>
          <a:lstStyle/>
          <a:p>
            <a:pPr>
              <a:defRPr sz="3200" b="1"/>
            </a:pPr>
            <a:r>
              <a:rPr lang="en-US" sz="2800" dirty="0">
                <a:solidFill>
                  <a:schemeClr val="accent1">
                    <a:lumMod val="50000"/>
                  </a:schemeClr>
                </a:solidFill>
              </a:rPr>
              <a:t>HEART: STATES WITH HIGHEST WAITLIST PER 100K</a:t>
            </a:r>
          </a:p>
        </p:txBody>
      </p:sp>
      <p:graphicFrame>
        <p:nvGraphicFramePr>
          <p:cNvPr id="7" name="Chart 6">
            <a:extLst>
              <a:ext uri="{FF2B5EF4-FFF2-40B4-BE49-F238E27FC236}">
                <a16:creationId xmlns:a16="http://schemas.microsoft.com/office/drawing/2014/main" id="{00000000-0008-0000-0000-000002000000}"/>
              </a:ext>
            </a:extLst>
          </p:cNvPr>
          <p:cNvGraphicFramePr>
            <a:graphicFrameLocks/>
          </p:cNvGraphicFramePr>
          <p:nvPr>
            <p:extLst>
              <p:ext uri="{D42A27DB-BD31-4B8C-83A1-F6EECF244321}">
                <p14:modId xmlns:p14="http://schemas.microsoft.com/office/powerpoint/2010/main" val="943143506"/>
              </p:ext>
            </p:extLst>
          </p:nvPr>
        </p:nvGraphicFramePr>
        <p:xfrm>
          <a:off x="400050" y="1152144"/>
          <a:ext cx="7223760" cy="5157216"/>
        </p:xfrm>
        <a:graphic>
          <a:graphicData uri="http://schemas.openxmlformats.org/drawingml/2006/chart">
            <c:chart xmlns:c="http://schemas.openxmlformats.org/drawingml/2006/chart" xmlns:r="http://schemas.openxmlformats.org/officeDocument/2006/relationships" r:id="rId3"/>
          </a:graphicData>
        </a:graphic>
      </p:graphicFrame>
      <p:sp>
        <p:nvSpPr>
          <p:cNvPr id="12" name="Shape 4">
            <a:extLst>
              <a:ext uri="{FF2B5EF4-FFF2-40B4-BE49-F238E27FC236}">
                <a16:creationId xmlns:a16="http://schemas.microsoft.com/office/drawing/2014/main" id="{6A441164-E105-E1F8-EE9A-E90DFDBC2142}"/>
              </a:ext>
            </a:extLst>
          </p:cNvPr>
          <p:cNvSpPr/>
          <p:nvPr/>
        </p:nvSpPr>
        <p:spPr>
          <a:xfrm>
            <a:off x="8534401" y="1474470"/>
            <a:ext cx="3512820" cy="1177290"/>
          </a:xfrm>
          <a:prstGeom prst="roundRect">
            <a:avLst>
              <a:gd name="adj" fmla="val 5926"/>
            </a:avLst>
          </a:prstGeom>
          <a:solidFill>
            <a:srgbClr val="FFFFFF"/>
          </a:solidFill>
          <a:ln w="12700">
            <a:solidFill>
              <a:srgbClr val="345995"/>
            </a:solidFill>
            <a:prstDash val="solid"/>
          </a:ln>
        </p:spPr>
        <p:txBody>
          <a:bodyPr/>
          <a:lstStyle/>
          <a:p>
            <a:r>
              <a:rPr lang="en-US" sz="1600" dirty="0"/>
              <a:t>It ranks the top 12 states (and DC) with the highest heart waitlist burden, measured as Heart waitlist per 100,000 residents.</a:t>
            </a:r>
          </a:p>
        </p:txBody>
      </p:sp>
      <p:sp>
        <p:nvSpPr>
          <p:cNvPr id="14" name="Shape 4">
            <a:extLst>
              <a:ext uri="{FF2B5EF4-FFF2-40B4-BE49-F238E27FC236}">
                <a16:creationId xmlns:a16="http://schemas.microsoft.com/office/drawing/2014/main" id="{91F2CB5D-D91A-4CA7-293F-53B92D8016A4}"/>
              </a:ext>
            </a:extLst>
          </p:cNvPr>
          <p:cNvSpPr/>
          <p:nvPr/>
        </p:nvSpPr>
        <p:spPr>
          <a:xfrm>
            <a:off x="8534401" y="3047238"/>
            <a:ext cx="3512820" cy="3479292"/>
          </a:xfrm>
          <a:prstGeom prst="roundRect">
            <a:avLst>
              <a:gd name="adj" fmla="val 5926"/>
            </a:avLst>
          </a:prstGeom>
          <a:solidFill>
            <a:srgbClr val="FFFFFF"/>
          </a:solidFill>
          <a:ln w="12700">
            <a:solidFill>
              <a:srgbClr val="345995"/>
            </a:solidFill>
            <a:prstDash val="solid"/>
          </a:ln>
        </p:spPr>
        <p:txBody>
          <a:bodyPr/>
          <a:lstStyle/>
          <a:p>
            <a:r>
              <a:rPr lang="en-US" sz="1600" dirty="0"/>
              <a:t>District of Columbia is a clear outlier with the highest waitlist per 100k by a wide margin. After DC, states like Ohio, Nebraska, Utah, Massachusetts, Minnesota, New York, Illinois, Tennessee, Georgia, South Carolina, and Virginia follow with smaller differences among them. This suggests geographic variation in heart transplant demand and/or access patterns (referrals, listing practices, center availability), even before patient-level data.</a:t>
            </a:r>
          </a:p>
        </p:txBody>
      </p:sp>
    </p:spTree>
    <p:extLst>
      <p:ext uri="{BB962C8B-B14F-4D97-AF65-F5344CB8AC3E}">
        <p14:creationId xmlns:p14="http://schemas.microsoft.com/office/powerpoint/2010/main" val="629763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a:extLst>
            <a:ext uri="{FF2B5EF4-FFF2-40B4-BE49-F238E27FC236}">
              <a16:creationId xmlns:a16="http://schemas.microsoft.com/office/drawing/2014/main" id="{F8B58CA3-24AA-D0C7-0182-530FA429C63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6608877-A42B-A545-7682-5035E6E1AB95}"/>
              </a:ext>
            </a:extLst>
          </p:cNvPr>
          <p:cNvSpPr/>
          <p:nvPr/>
        </p:nvSpPr>
        <p:spPr>
          <a:xfrm>
            <a:off x="0" y="0"/>
            <a:ext cx="12191695" cy="164592"/>
          </a:xfrm>
          <a:prstGeom prst="rect">
            <a:avLst/>
          </a:prstGeom>
          <a:solidFill>
            <a:srgbClr val="16324F"/>
          </a:solidFill>
          <a:ln w="12700">
            <a:solidFill>
              <a:srgbClr val="16324F">
                <a:alpha val="0"/>
              </a:srgbClr>
            </a:solidFill>
            <a:prstDash val="solid"/>
          </a:ln>
        </p:spPr>
        <p:txBody>
          <a:bodyPr/>
          <a:lstStyle/>
          <a:p>
            <a:endParaRPr lang="en-US" dirty="0"/>
          </a:p>
        </p:txBody>
      </p:sp>
      <p:sp>
        <p:nvSpPr>
          <p:cNvPr id="3" name="Shape 1">
            <a:extLst>
              <a:ext uri="{FF2B5EF4-FFF2-40B4-BE49-F238E27FC236}">
                <a16:creationId xmlns:a16="http://schemas.microsoft.com/office/drawing/2014/main" id="{CF0B6386-0093-6D77-109F-8E77D092E212}"/>
              </a:ext>
            </a:extLst>
          </p:cNvPr>
          <p:cNvSpPr/>
          <p:nvPr/>
        </p:nvSpPr>
        <p:spPr>
          <a:xfrm>
            <a:off x="0" y="6748272"/>
            <a:ext cx="12191695" cy="109728"/>
          </a:xfrm>
          <a:prstGeom prst="rect">
            <a:avLst/>
          </a:prstGeom>
          <a:solidFill>
            <a:srgbClr val="345995"/>
          </a:solidFill>
          <a:ln w="12700">
            <a:solidFill>
              <a:srgbClr val="345995">
                <a:alpha val="0"/>
              </a:srgbClr>
            </a:solidFill>
            <a:prstDash val="solid"/>
          </a:ln>
        </p:spPr>
        <p:txBody>
          <a:bodyPr/>
          <a:lstStyle/>
          <a:p>
            <a:endParaRPr lang="en-US" dirty="0"/>
          </a:p>
        </p:txBody>
      </p:sp>
      <p:sp>
        <p:nvSpPr>
          <p:cNvPr id="5" name="Text 3">
            <a:extLst>
              <a:ext uri="{FF2B5EF4-FFF2-40B4-BE49-F238E27FC236}">
                <a16:creationId xmlns:a16="http://schemas.microsoft.com/office/drawing/2014/main" id="{DC97720E-1DA9-35B4-346A-C3FF907560D6}"/>
              </a:ext>
            </a:extLst>
          </p:cNvPr>
          <p:cNvSpPr/>
          <p:nvPr/>
        </p:nvSpPr>
        <p:spPr>
          <a:xfrm>
            <a:off x="502920" y="621792"/>
            <a:ext cx="8961120" cy="457200"/>
          </a:xfrm>
          <a:prstGeom prst="rect">
            <a:avLst/>
          </a:prstGeom>
          <a:noFill/>
          <a:ln/>
        </p:spPr>
        <p:txBody>
          <a:bodyPr wrap="square" lIns="0" tIns="0" rIns="0" bIns="0" rtlCol="0" anchor="ctr"/>
          <a:lstStyle/>
          <a:p>
            <a:pPr>
              <a:defRPr sz="3200" b="1"/>
            </a:pPr>
            <a:r>
              <a:rPr lang="en-US" sz="2800" dirty="0"/>
              <a:t>KIDNEY: STATES WITH HIGHEST WAITLIST PER 100K</a:t>
            </a:r>
          </a:p>
        </p:txBody>
      </p:sp>
      <p:graphicFrame>
        <p:nvGraphicFramePr>
          <p:cNvPr id="10" name="Chart 9">
            <a:extLst>
              <a:ext uri="{FF2B5EF4-FFF2-40B4-BE49-F238E27FC236}">
                <a16:creationId xmlns:a16="http://schemas.microsoft.com/office/drawing/2014/main" id="{0727BB4C-1C8E-7ED0-2C49-38920E958E44}"/>
              </a:ext>
            </a:extLst>
          </p:cNvPr>
          <p:cNvGraphicFramePr>
            <a:graphicFrameLocks/>
          </p:cNvGraphicFramePr>
          <p:nvPr>
            <p:extLst>
              <p:ext uri="{D42A27DB-BD31-4B8C-83A1-F6EECF244321}">
                <p14:modId xmlns:p14="http://schemas.microsoft.com/office/powerpoint/2010/main" val="2205627274"/>
              </p:ext>
            </p:extLst>
          </p:nvPr>
        </p:nvGraphicFramePr>
        <p:xfrm>
          <a:off x="400050" y="1152144"/>
          <a:ext cx="7772400" cy="52120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4">
            <a:extLst>
              <a:ext uri="{FF2B5EF4-FFF2-40B4-BE49-F238E27FC236}">
                <a16:creationId xmlns:a16="http://schemas.microsoft.com/office/drawing/2014/main" id="{C7DCA5D4-F032-0ED4-F32D-42C0EE828ABC}"/>
              </a:ext>
            </a:extLst>
          </p:cNvPr>
          <p:cNvSpPr/>
          <p:nvPr/>
        </p:nvSpPr>
        <p:spPr>
          <a:xfrm>
            <a:off x="8534401" y="1474470"/>
            <a:ext cx="3512820" cy="1177290"/>
          </a:xfrm>
          <a:prstGeom prst="roundRect">
            <a:avLst>
              <a:gd name="adj" fmla="val 5926"/>
            </a:avLst>
          </a:prstGeom>
          <a:solidFill>
            <a:srgbClr val="FFFFFF"/>
          </a:solidFill>
          <a:ln w="12700">
            <a:solidFill>
              <a:srgbClr val="345995"/>
            </a:solidFill>
            <a:prstDash val="solid"/>
          </a:ln>
        </p:spPr>
        <p:txBody>
          <a:bodyPr/>
          <a:lstStyle/>
          <a:p>
            <a:r>
              <a:rPr lang="en-US" sz="1600" dirty="0"/>
              <a:t>It ranks the top 12 states (and DC) with the highest heart waitlist burden, measured as Heart waitlist per 100,000 residents.</a:t>
            </a:r>
          </a:p>
        </p:txBody>
      </p:sp>
      <p:sp>
        <p:nvSpPr>
          <p:cNvPr id="8" name="Shape 4">
            <a:extLst>
              <a:ext uri="{FF2B5EF4-FFF2-40B4-BE49-F238E27FC236}">
                <a16:creationId xmlns:a16="http://schemas.microsoft.com/office/drawing/2014/main" id="{B1BAACBB-2F79-7DB1-EEF9-A0212282666D}"/>
              </a:ext>
            </a:extLst>
          </p:cNvPr>
          <p:cNvSpPr/>
          <p:nvPr/>
        </p:nvSpPr>
        <p:spPr>
          <a:xfrm>
            <a:off x="8534401" y="3047238"/>
            <a:ext cx="3512820" cy="2128266"/>
          </a:xfrm>
          <a:prstGeom prst="roundRect">
            <a:avLst>
              <a:gd name="adj" fmla="val 5926"/>
            </a:avLst>
          </a:prstGeom>
          <a:solidFill>
            <a:srgbClr val="FFFFFF"/>
          </a:solidFill>
          <a:ln w="12700">
            <a:solidFill>
              <a:srgbClr val="345995"/>
            </a:solidFill>
            <a:prstDash val="solid"/>
          </a:ln>
        </p:spPr>
        <p:txBody>
          <a:bodyPr/>
          <a:lstStyle/>
          <a:p>
            <a:r>
              <a:rPr lang="en-US" sz="1600" dirty="0"/>
              <a:t>A higher value means more pressure/need relative to the population. This can reflect a mix of higher kidney disease burden, more referrals/listings, transplant center concentration, cross-state listing patterns, and differences in access to evaluation/listing.</a:t>
            </a:r>
          </a:p>
        </p:txBody>
      </p:sp>
    </p:spTree>
    <p:extLst>
      <p:ext uri="{BB962C8B-B14F-4D97-AF65-F5344CB8AC3E}">
        <p14:creationId xmlns:p14="http://schemas.microsoft.com/office/powerpoint/2010/main" val="3980865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a:extLst>
            <a:ext uri="{FF2B5EF4-FFF2-40B4-BE49-F238E27FC236}">
              <a16:creationId xmlns:a16="http://schemas.microsoft.com/office/drawing/2014/main" id="{43AEFAC9-9783-32FB-A0DF-7BBE02C4A61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CE59B48-ACB6-9655-B85B-BDBA94A2080D}"/>
              </a:ext>
            </a:extLst>
          </p:cNvPr>
          <p:cNvSpPr/>
          <p:nvPr/>
        </p:nvSpPr>
        <p:spPr>
          <a:xfrm>
            <a:off x="0" y="0"/>
            <a:ext cx="12191695" cy="164592"/>
          </a:xfrm>
          <a:prstGeom prst="rect">
            <a:avLst/>
          </a:prstGeom>
          <a:solidFill>
            <a:srgbClr val="16324F"/>
          </a:solidFill>
          <a:ln w="12700">
            <a:solidFill>
              <a:srgbClr val="16324F">
                <a:alpha val="0"/>
              </a:srgbClr>
            </a:solidFill>
            <a:prstDash val="solid"/>
          </a:ln>
        </p:spPr>
        <p:txBody>
          <a:bodyPr/>
          <a:lstStyle/>
          <a:p>
            <a:endParaRPr lang="en-US" dirty="0"/>
          </a:p>
        </p:txBody>
      </p:sp>
      <p:sp>
        <p:nvSpPr>
          <p:cNvPr id="3" name="Shape 1">
            <a:extLst>
              <a:ext uri="{FF2B5EF4-FFF2-40B4-BE49-F238E27FC236}">
                <a16:creationId xmlns:a16="http://schemas.microsoft.com/office/drawing/2014/main" id="{8867944B-5FA4-8A8E-9BCF-DFB3F57AFDF3}"/>
              </a:ext>
            </a:extLst>
          </p:cNvPr>
          <p:cNvSpPr/>
          <p:nvPr/>
        </p:nvSpPr>
        <p:spPr>
          <a:xfrm>
            <a:off x="0" y="6748272"/>
            <a:ext cx="12191695" cy="109728"/>
          </a:xfrm>
          <a:prstGeom prst="rect">
            <a:avLst/>
          </a:prstGeom>
          <a:solidFill>
            <a:srgbClr val="345995"/>
          </a:solidFill>
          <a:ln w="12700">
            <a:solidFill>
              <a:srgbClr val="345995">
                <a:alpha val="0"/>
              </a:srgbClr>
            </a:solidFill>
            <a:prstDash val="solid"/>
          </a:ln>
        </p:spPr>
        <p:txBody>
          <a:bodyPr/>
          <a:lstStyle/>
          <a:p>
            <a:endParaRPr lang="en-US" dirty="0"/>
          </a:p>
        </p:txBody>
      </p:sp>
      <p:sp>
        <p:nvSpPr>
          <p:cNvPr id="5" name="Text 3">
            <a:extLst>
              <a:ext uri="{FF2B5EF4-FFF2-40B4-BE49-F238E27FC236}">
                <a16:creationId xmlns:a16="http://schemas.microsoft.com/office/drawing/2014/main" id="{140A0874-E099-1CEC-3A33-3BF443F47EEB}"/>
              </a:ext>
            </a:extLst>
          </p:cNvPr>
          <p:cNvSpPr/>
          <p:nvPr/>
        </p:nvSpPr>
        <p:spPr>
          <a:xfrm>
            <a:off x="502920" y="621792"/>
            <a:ext cx="8961120" cy="457200"/>
          </a:xfrm>
          <a:prstGeom prst="rect">
            <a:avLst/>
          </a:prstGeom>
          <a:noFill/>
          <a:ln/>
        </p:spPr>
        <p:txBody>
          <a:bodyPr wrap="square" lIns="0" tIns="0" rIns="0" bIns="0" rtlCol="0" anchor="ctr"/>
          <a:lstStyle/>
          <a:p>
            <a:pPr>
              <a:defRPr sz="3200" b="1"/>
            </a:pPr>
            <a:r>
              <a:rPr lang="en-US" sz="2800" dirty="0">
                <a:solidFill>
                  <a:schemeClr val="accent1">
                    <a:lumMod val="50000"/>
                  </a:schemeClr>
                </a:solidFill>
              </a:rPr>
              <a:t>LUNG: STATES WITH HIGHEST WAITLIST PER 100K</a:t>
            </a:r>
          </a:p>
        </p:txBody>
      </p:sp>
      <p:sp>
        <p:nvSpPr>
          <p:cNvPr id="6" name="Shape 4">
            <a:extLst>
              <a:ext uri="{FF2B5EF4-FFF2-40B4-BE49-F238E27FC236}">
                <a16:creationId xmlns:a16="http://schemas.microsoft.com/office/drawing/2014/main" id="{14EBA565-F2B0-FFED-0EA1-0E0D50A71B70}"/>
              </a:ext>
            </a:extLst>
          </p:cNvPr>
          <p:cNvSpPr/>
          <p:nvPr/>
        </p:nvSpPr>
        <p:spPr>
          <a:xfrm>
            <a:off x="8534401" y="1078992"/>
            <a:ext cx="3512820" cy="2434590"/>
          </a:xfrm>
          <a:prstGeom prst="roundRect">
            <a:avLst>
              <a:gd name="adj" fmla="val 5926"/>
            </a:avLst>
          </a:prstGeom>
          <a:solidFill>
            <a:srgbClr val="FFFFFF"/>
          </a:solidFill>
          <a:ln w="12700">
            <a:solidFill>
              <a:srgbClr val="345995"/>
            </a:solidFill>
            <a:prstDash val="solid"/>
          </a:ln>
        </p:spPr>
        <p:txBody>
          <a:bodyPr/>
          <a:lstStyle/>
          <a:p>
            <a:r>
              <a:rPr lang="en-US" sz="1600" dirty="0"/>
              <a:t>Lung waitlist rates are much lower overall than kidney (the scale is under 1 per 100k in the chart). The top states include Pennsylvania (highest), Michigan, Washington, Ohio, Minnesota, New York, Missouri, Massachusetts, Oklahoma, Maryland, Illinois, and Wisconsin.</a:t>
            </a:r>
          </a:p>
        </p:txBody>
      </p:sp>
      <p:sp>
        <p:nvSpPr>
          <p:cNvPr id="8" name="Shape 4">
            <a:extLst>
              <a:ext uri="{FF2B5EF4-FFF2-40B4-BE49-F238E27FC236}">
                <a16:creationId xmlns:a16="http://schemas.microsoft.com/office/drawing/2014/main" id="{8A3A32E2-1B83-D4FE-9D74-EA53EC08C008}"/>
              </a:ext>
            </a:extLst>
          </p:cNvPr>
          <p:cNvSpPr/>
          <p:nvPr/>
        </p:nvSpPr>
        <p:spPr>
          <a:xfrm>
            <a:off x="8534401" y="3989070"/>
            <a:ext cx="3512820" cy="2434590"/>
          </a:xfrm>
          <a:prstGeom prst="roundRect">
            <a:avLst>
              <a:gd name="adj" fmla="val 5926"/>
            </a:avLst>
          </a:prstGeom>
          <a:solidFill>
            <a:srgbClr val="FFFFFF"/>
          </a:solidFill>
          <a:ln w="12700">
            <a:solidFill>
              <a:srgbClr val="345995"/>
            </a:solidFill>
            <a:prstDash val="solid"/>
          </a:ln>
        </p:spPr>
        <p:txBody>
          <a:bodyPr/>
          <a:lstStyle/>
          <a:p>
            <a:r>
              <a:rPr lang="en-US" sz="1600" dirty="0"/>
              <a:t>Because lung transplants are less common, small numeric differences can still be meaningful. Higher per-capita waitlist rates may reflect where specialized lung transplant centers are located, regional referral patterns, local prevalence of severe lung disease, and listing practices.</a:t>
            </a:r>
          </a:p>
        </p:txBody>
      </p:sp>
      <p:graphicFrame>
        <p:nvGraphicFramePr>
          <p:cNvPr id="7" name="Chart 6">
            <a:extLst>
              <a:ext uri="{FF2B5EF4-FFF2-40B4-BE49-F238E27FC236}">
                <a16:creationId xmlns:a16="http://schemas.microsoft.com/office/drawing/2014/main" id="{00000000-0008-0000-0100-000002000000}"/>
              </a:ext>
            </a:extLst>
          </p:cNvPr>
          <p:cNvGraphicFramePr>
            <a:graphicFrameLocks/>
          </p:cNvGraphicFramePr>
          <p:nvPr>
            <p:extLst>
              <p:ext uri="{D42A27DB-BD31-4B8C-83A1-F6EECF244321}">
                <p14:modId xmlns:p14="http://schemas.microsoft.com/office/powerpoint/2010/main" val="3863075675"/>
              </p:ext>
            </p:extLst>
          </p:nvPr>
        </p:nvGraphicFramePr>
        <p:xfrm>
          <a:off x="275610" y="1379220"/>
          <a:ext cx="7999710" cy="485698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2687142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6324F"/>
          </a:solidFill>
          <a:ln w="12700">
            <a:solidFill>
              <a:srgbClr val="16324F">
                <a:alpha val="0"/>
              </a:srgbClr>
            </a:solidFill>
            <a:prstDash val="solid"/>
          </a:ln>
        </p:spPr>
        <p:txBody>
          <a:bodyPr/>
          <a:lstStyle/>
          <a:p>
            <a:endParaRPr lang="en-US" dirty="0"/>
          </a:p>
        </p:txBody>
      </p:sp>
      <p:sp>
        <p:nvSpPr>
          <p:cNvPr id="3" name="Shape 1"/>
          <p:cNvSpPr/>
          <p:nvPr/>
        </p:nvSpPr>
        <p:spPr>
          <a:xfrm>
            <a:off x="0" y="6748272"/>
            <a:ext cx="12191695" cy="109728"/>
          </a:xfrm>
          <a:prstGeom prst="rect">
            <a:avLst/>
          </a:prstGeom>
          <a:solidFill>
            <a:srgbClr val="345995"/>
          </a:solidFill>
          <a:ln w="12700">
            <a:solidFill>
              <a:srgbClr val="345995">
                <a:alpha val="0"/>
              </a:srgbClr>
            </a:solidFill>
            <a:prstDash val="solid"/>
          </a:ln>
        </p:spPr>
        <p:txBody>
          <a:bodyPr/>
          <a:lstStyle/>
          <a:p>
            <a:endParaRPr lang="en-US" dirty="0"/>
          </a:p>
        </p:txBody>
      </p:sp>
      <p:sp>
        <p:nvSpPr>
          <p:cNvPr id="5" name="Text 3"/>
          <p:cNvSpPr/>
          <p:nvPr/>
        </p:nvSpPr>
        <p:spPr>
          <a:xfrm>
            <a:off x="502920" y="621792"/>
            <a:ext cx="8961120" cy="457200"/>
          </a:xfrm>
          <a:prstGeom prst="rect">
            <a:avLst/>
          </a:prstGeom>
          <a:noFill/>
          <a:ln/>
        </p:spPr>
        <p:txBody>
          <a:bodyPr wrap="square" lIns="0" tIns="0" rIns="0" bIns="0" rtlCol="0" anchor="ctr"/>
          <a:lstStyle/>
          <a:p>
            <a:pPr marL="0" indent="0">
              <a:buNone/>
            </a:pPr>
            <a:r>
              <a:rPr lang="en-US" sz="2500" b="1" dirty="0">
                <a:solidFill>
                  <a:srgbClr val="16324F"/>
                </a:solidFill>
                <a:latin typeface="Aptos Display" pitchFamily="34" charset="0"/>
                <a:ea typeface="Aptos Display" pitchFamily="34" charset="-122"/>
                <a:cs typeface="Aptos Display" pitchFamily="34" charset="-120"/>
              </a:rPr>
              <a:t>LONG WAITS ARE ALSO UNEVEN ACROSS REGIONS</a:t>
            </a:r>
            <a:endParaRPr lang="en-US" sz="2500" dirty="0"/>
          </a:p>
        </p:txBody>
      </p:sp>
      <p:graphicFrame>
        <p:nvGraphicFramePr>
          <p:cNvPr id="6" name="Chart 0"/>
          <p:cNvGraphicFramePr/>
          <p:nvPr>
            <p:extLst>
              <p:ext uri="{D42A27DB-BD31-4B8C-83A1-F6EECF244321}">
                <p14:modId xmlns:p14="http://schemas.microsoft.com/office/powerpoint/2010/main" val="3092356290"/>
              </p:ext>
            </p:extLst>
          </p:nvPr>
        </p:nvGraphicFramePr>
        <p:xfrm>
          <a:off x="342900" y="1463040"/>
          <a:ext cx="7219188"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7973568" y="1737360"/>
            <a:ext cx="3383280" cy="1474470"/>
          </a:xfrm>
          <a:prstGeom prst="roundRect">
            <a:avLst>
              <a:gd name="adj" fmla="val 6667"/>
            </a:avLst>
          </a:prstGeom>
          <a:solidFill>
            <a:srgbClr val="FFFFFF"/>
          </a:solidFill>
          <a:ln w="12700">
            <a:solidFill>
              <a:srgbClr val="C17C29"/>
            </a:solidFill>
            <a:prstDash val="solid"/>
          </a:ln>
        </p:spPr>
        <p:txBody>
          <a:bodyPr/>
          <a:lstStyle/>
          <a:p>
            <a:endParaRPr lang="en-US" dirty="0"/>
          </a:p>
        </p:txBody>
      </p:sp>
      <p:sp>
        <p:nvSpPr>
          <p:cNvPr id="8" name="Shape 5"/>
          <p:cNvSpPr/>
          <p:nvPr/>
        </p:nvSpPr>
        <p:spPr>
          <a:xfrm>
            <a:off x="7973568" y="1737360"/>
            <a:ext cx="109728" cy="1474470"/>
          </a:xfrm>
          <a:prstGeom prst="rect">
            <a:avLst/>
          </a:prstGeom>
          <a:solidFill>
            <a:srgbClr val="C17C29"/>
          </a:solidFill>
          <a:ln w="12700">
            <a:solidFill>
              <a:srgbClr val="C17C29">
                <a:alpha val="0"/>
              </a:srgbClr>
            </a:solidFill>
            <a:prstDash val="solid"/>
          </a:ln>
        </p:spPr>
        <p:txBody>
          <a:bodyPr/>
          <a:lstStyle/>
          <a:p>
            <a:endParaRPr lang="en-US" dirty="0"/>
          </a:p>
        </p:txBody>
      </p:sp>
      <p:sp>
        <p:nvSpPr>
          <p:cNvPr id="9" name="Text 6"/>
          <p:cNvSpPr/>
          <p:nvPr/>
        </p:nvSpPr>
        <p:spPr>
          <a:xfrm>
            <a:off x="8174736" y="1865376"/>
            <a:ext cx="3072384" cy="201168"/>
          </a:xfrm>
          <a:prstGeom prst="rect">
            <a:avLst/>
          </a:prstGeom>
          <a:noFill/>
          <a:ln/>
        </p:spPr>
        <p:txBody>
          <a:bodyPr wrap="square" lIns="0" tIns="0" rIns="0" bIns="0" rtlCol="0" anchor="ctr"/>
          <a:lstStyle/>
          <a:p>
            <a:pPr marL="0" indent="0">
              <a:buNone/>
            </a:pPr>
            <a:r>
              <a:rPr lang="en-US" sz="1400" b="1" dirty="0">
                <a:solidFill>
                  <a:srgbClr val="16324F"/>
                </a:solidFill>
              </a:rPr>
              <a:t>Biggest pattern</a:t>
            </a:r>
            <a:endParaRPr lang="en-US" sz="1400" dirty="0"/>
          </a:p>
        </p:txBody>
      </p:sp>
      <p:sp>
        <p:nvSpPr>
          <p:cNvPr id="10" name="Text 7"/>
          <p:cNvSpPr/>
          <p:nvPr/>
        </p:nvSpPr>
        <p:spPr>
          <a:xfrm>
            <a:off x="8174736" y="2121408"/>
            <a:ext cx="3072384" cy="838962"/>
          </a:xfrm>
          <a:prstGeom prst="rect">
            <a:avLst/>
          </a:prstGeom>
          <a:noFill/>
          <a:ln/>
        </p:spPr>
        <p:txBody>
          <a:bodyPr wrap="square" lIns="0" tIns="0" rIns="0" bIns="0" rtlCol="0" anchor="t"/>
          <a:lstStyle/>
          <a:p>
            <a:pPr marL="0" indent="0">
              <a:buNone/>
            </a:pPr>
            <a:r>
              <a:rPr lang="en-US" sz="1400" dirty="0">
                <a:solidFill>
                  <a:srgbClr val="243240"/>
                </a:solidFill>
              </a:rPr>
              <a:t>Kidney has the highest share of candidates waiting at least one year in every region. Heart is intermediate. The lung is the lowest.</a:t>
            </a:r>
            <a:endParaRPr lang="en-US" sz="1400" dirty="0"/>
          </a:p>
        </p:txBody>
      </p:sp>
      <p:sp>
        <p:nvSpPr>
          <p:cNvPr id="11" name="Text 8"/>
          <p:cNvSpPr/>
          <p:nvPr/>
        </p:nvSpPr>
        <p:spPr>
          <a:xfrm>
            <a:off x="8138160" y="3557016"/>
            <a:ext cx="3108960" cy="2468880"/>
          </a:xfrm>
          <a:prstGeom prst="rect">
            <a:avLst/>
          </a:prstGeom>
          <a:noFill/>
          <a:ln/>
        </p:spPr>
        <p:txBody>
          <a:bodyPr wrap="square" lIns="508" tIns="508" rIns="508" bIns="508" rtlCol="0" anchor="t"/>
          <a:lstStyle/>
          <a:p>
            <a:pPr marL="184150" indent="-184150">
              <a:buSzPct val="100000"/>
              <a:buChar char="•"/>
            </a:pPr>
            <a:r>
              <a:rPr lang="en-US" sz="1450" dirty="0">
                <a:solidFill>
                  <a:srgbClr val="243240"/>
                </a:solidFill>
                <a:latin typeface="Aptos" pitchFamily="34" charset="0"/>
                <a:ea typeface="Aptos" pitchFamily="34" charset="-122"/>
                <a:cs typeface="Aptos" pitchFamily="34" charset="-120"/>
              </a:rPr>
              <a:t>Northeast stands out for </a:t>
            </a:r>
            <a:r>
              <a:rPr lang="en-US" sz="1450" b="1" dirty="0">
                <a:solidFill>
                  <a:srgbClr val="243240"/>
                </a:solidFill>
                <a:latin typeface="Aptos" pitchFamily="34" charset="0"/>
                <a:ea typeface="Aptos" pitchFamily="34" charset="-122"/>
                <a:cs typeface="Aptos" pitchFamily="34" charset="-120"/>
              </a:rPr>
              <a:t>kidney</a:t>
            </a:r>
            <a:r>
              <a:rPr lang="en-US" sz="1450" dirty="0">
                <a:solidFill>
                  <a:srgbClr val="243240"/>
                </a:solidFill>
                <a:latin typeface="Aptos" pitchFamily="34" charset="0"/>
                <a:ea typeface="Aptos" pitchFamily="34" charset="-122"/>
                <a:cs typeface="Aptos" pitchFamily="34" charset="-120"/>
              </a:rPr>
              <a:t> with the highest long-wait share (around the high-60% range). </a:t>
            </a:r>
          </a:p>
          <a:p>
            <a:pPr marL="184150" indent="-184150">
              <a:buSzPct val="100000"/>
              <a:buChar char="•"/>
            </a:pPr>
            <a:r>
              <a:rPr lang="en-US" sz="1450" dirty="0">
                <a:solidFill>
                  <a:srgbClr val="243240"/>
                </a:solidFill>
                <a:latin typeface="Aptos" pitchFamily="34" charset="0"/>
                <a:ea typeface="Aptos" pitchFamily="34" charset="-122"/>
                <a:cs typeface="Aptos" pitchFamily="34" charset="-120"/>
              </a:rPr>
              <a:t> The Midwest has the highest lung long-wait share (around the high-teens), compared with other regions. Heart varies less by region (only a few percentage points difference), suggesting a more consistent long-wait burden across the country.</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6324F"/>
          </a:solidFill>
          <a:ln w="12700">
            <a:solidFill>
              <a:srgbClr val="16324F">
                <a:alpha val="0"/>
              </a:srgbClr>
            </a:solidFill>
            <a:prstDash val="solid"/>
          </a:ln>
        </p:spPr>
        <p:txBody>
          <a:bodyPr/>
          <a:lstStyle/>
          <a:p>
            <a:endParaRPr lang="en-US" dirty="0"/>
          </a:p>
        </p:txBody>
      </p:sp>
      <p:sp>
        <p:nvSpPr>
          <p:cNvPr id="3" name="Shape 1"/>
          <p:cNvSpPr/>
          <p:nvPr/>
        </p:nvSpPr>
        <p:spPr>
          <a:xfrm>
            <a:off x="0" y="6748272"/>
            <a:ext cx="12191695" cy="109728"/>
          </a:xfrm>
          <a:prstGeom prst="rect">
            <a:avLst/>
          </a:prstGeom>
          <a:solidFill>
            <a:srgbClr val="345995"/>
          </a:solidFill>
          <a:ln w="12700">
            <a:solidFill>
              <a:srgbClr val="345995">
                <a:alpha val="0"/>
              </a:srgbClr>
            </a:solidFill>
            <a:prstDash val="solid"/>
          </a:ln>
        </p:spPr>
        <p:txBody>
          <a:bodyPr/>
          <a:lstStyle/>
          <a:p>
            <a:endParaRPr lang="en-US" dirty="0"/>
          </a:p>
        </p:txBody>
      </p:sp>
      <p:sp>
        <p:nvSpPr>
          <p:cNvPr id="5" name="Text 3"/>
          <p:cNvSpPr/>
          <p:nvPr/>
        </p:nvSpPr>
        <p:spPr>
          <a:xfrm>
            <a:off x="502920" y="621792"/>
            <a:ext cx="10206990" cy="457200"/>
          </a:xfrm>
          <a:prstGeom prst="rect">
            <a:avLst/>
          </a:prstGeom>
          <a:noFill/>
          <a:ln/>
        </p:spPr>
        <p:txBody>
          <a:bodyPr wrap="square" lIns="0" tIns="0" rIns="0" bIns="0" rtlCol="0" anchor="ctr"/>
          <a:lstStyle/>
          <a:p>
            <a:pPr marL="0" indent="0">
              <a:buNone/>
            </a:pPr>
            <a:r>
              <a:rPr lang="en-US" sz="2500" b="1" dirty="0">
                <a:solidFill>
                  <a:srgbClr val="16324F"/>
                </a:solidFill>
                <a:latin typeface="Aptos Display" pitchFamily="34" charset="0"/>
                <a:ea typeface="Aptos Display" pitchFamily="34" charset="-122"/>
                <a:cs typeface="Aptos Display" pitchFamily="34" charset="-120"/>
              </a:rPr>
              <a:t>CANDIDATE WAIT-TIME BUCKETS SUGGEST DEMOGRAPHIC DISPARITIES</a:t>
            </a:r>
            <a:endParaRPr lang="en-US" sz="2500" dirty="0"/>
          </a:p>
        </p:txBody>
      </p:sp>
      <p:graphicFrame>
        <p:nvGraphicFramePr>
          <p:cNvPr id="6" name="Chart 0"/>
          <p:cNvGraphicFramePr/>
          <p:nvPr>
            <p:extLst>
              <p:ext uri="{D42A27DB-BD31-4B8C-83A1-F6EECF244321}">
                <p14:modId xmlns:p14="http://schemas.microsoft.com/office/powerpoint/2010/main" val="2338357098"/>
              </p:ext>
            </p:extLst>
          </p:nvPr>
        </p:nvGraphicFramePr>
        <p:xfrm>
          <a:off x="658368" y="1417320"/>
          <a:ext cx="7498080" cy="452628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8412480" y="2834640"/>
            <a:ext cx="2834640" cy="653796"/>
          </a:xfrm>
          <a:prstGeom prst="rect">
            <a:avLst/>
          </a:prstGeom>
          <a:noFill/>
          <a:ln/>
        </p:spPr>
        <p:txBody>
          <a:bodyPr wrap="square" lIns="508" tIns="508" rIns="508" bIns="508" rtlCol="0" anchor="t"/>
          <a:lstStyle/>
          <a:p>
            <a:pPr>
              <a:buSzPct val="100000"/>
            </a:pPr>
            <a:r>
              <a:rPr lang="en-US" sz="1420" dirty="0">
                <a:solidFill>
                  <a:srgbClr val="243240"/>
                </a:solidFill>
                <a:latin typeface="Aptos" pitchFamily="34" charset="0"/>
                <a:ea typeface="Aptos" pitchFamily="34" charset="-122"/>
                <a:cs typeface="Aptos" pitchFamily="34" charset="-120"/>
              </a:rPr>
              <a:t>Kidney again tends to sit highest, but group ordering still shifts within each organ.</a:t>
            </a:r>
            <a:endParaRPr lang="en-US" sz="1420" dirty="0"/>
          </a:p>
        </p:txBody>
      </p:sp>
      <p:sp>
        <p:nvSpPr>
          <p:cNvPr id="8" name="Shape 5"/>
          <p:cNvSpPr/>
          <p:nvPr/>
        </p:nvSpPr>
        <p:spPr>
          <a:xfrm>
            <a:off x="8412480" y="4160520"/>
            <a:ext cx="2788920" cy="1490472"/>
          </a:xfrm>
          <a:prstGeom prst="roundRect">
            <a:avLst>
              <a:gd name="adj" fmla="val 6957"/>
            </a:avLst>
          </a:prstGeom>
          <a:solidFill>
            <a:srgbClr val="FFFFFF"/>
          </a:solidFill>
          <a:ln w="12700">
            <a:solidFill>
              <a:srgbClr val="345995"/>
            </a:solidFill>
            <a:prstDash val="solid"/>
          </a:ln>
        </p:spPr>
        <p:txBody>
          <a:bodyPr/>
          <a:lstStyle/>
          <a:p>
            <a:endParaRPr lang="en-US" dirty="0"/>
          </a:p>
        </p:txBody>
      </p:sp>
      <p:sp>
        <p:nvSpPr>
          <p:cNvPr id="9" name="Shape 6"/>
          <p:cNvSpPr/>
          <p:nvPr/>
        </p:nvSpPr>
        <p:spPr>
          <a:xfrm>
            <a:off x="8412480" y="4160520"/>
            <a:ext cx="109728" cy="1362456"/>
          </a:xfrm>
          <a:prstGeom prst="rect">
            <a:avLst/>
          </a:prstGeom>
          <a:solidFill>
            <a:srgbClr val="345995"/>
          </a:solidFill>
          <a:ln w="12700">
            <a:solidFill>
              <a:srgbClr val="345995">
                <a:alpha val="0"/>
              </a:srgbClr>
            </a:solidFill>
            <a:prstDash val="solid"/>
          </a:ln>
        </p:spPr>
        <p:txBody>
          <a:bodyPr/>
          <a:lstStyle/>
          <a:p>
            <a:endParaRPr lang="en-US" dirty="0"/>
          </a:p>
        </p:txBody>
      </p:sp>
      <p:sp>
        <p:nvSpPr>
          <p:cNvPr id="11" name="Text 8"/>
          <p:cNvSpPr/>
          <p:nvPr/>
        </p:nvSpPr>
        <p:spPr>
          <a:xfrm>
            <a:off x="8613648" y="4197096"/>
            <a:ext cx="2478024" cy="1232154"/>
          </a:xfrm>
          <a:prstGeom prst="rect">
            <a:avLst/>
          </a:prstGeom>
          <a:noFill/>
          <a:ln/>
        </p:spPr>
        <p:txBody>
          <a:bodyPr wrap="square" lIns="0" tIns="0" rIns="0" bIns="0" rtlCol="0" anchor="t"/>
          <a:lstStyle/>
          <a:p>
            <a:pPr marL="0" indent="0">
              <a:buNone/>
            </a:pPr>
            <a:r>
              <a:rPr lang="en-US" sz="1400" dirty="0">
                <a:solidFill>
                  <a:srgbClr val="243240"/>
                </a:solidFill>
              </a:rPr>
              <a:t>The  bucket file mixes “All Races” with race-specific groups and sometimes appends “Non-Hispanic.” Labels were normalized for comparison.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5">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6324F"/>
          </a:solidFill>
          <a:ln w="12700">
            <a:solidFill>
              <a:srgbClr val="16324F">
                <a:alpha val="0"/>
              </a:srgbClr>
            </a:solidFill>
            <a:prstDash val="solid"/>
          </a:ln>
        </p:spPr>
        <p:txBody>
          <a:bodyPr/>
          <a:lstStyle/>
          <a:p>
            <a:endParaRPr lang="en-US" dirty="0"/>
          </a:p>
        </p:txBody>
      </p:sp>
      <p:sp>
        <p:nvSpPr>
          <p:cNvPr id="3" name="Shape 1"/>
          <p:cNvSpPr/>
          <p:nvPr/>
        </p:nvSpPr>
        <p:spPr>
          <a:xfrm>
            <a:off x="0" y="6748272"/>
            <a:ext cx="12191695" cy="109728"/>
          </a:xfrm>
          <a:prstGeom prst="rect">
            <a:avLst/>
          </a:prstGeom>
          <a:solidFill>
            <a:srgbClr val="345995"/>
          </a:solidFill>
          <a:ln w="12700">
            <a:solidFill>
              <a:srgbClr val="345995">
                <a:alpha val="0"/>
              </a:srgbClr>
            </a:solidFill>
            <a:prstDash val="solid"/>
          </a:ln>
        </p:spPr>
        <p:txBody>
          <a:bodyPr/>
          <a:lstStyle/>
          <a:p>
            <a:endParaRPr lang="en-US" dirty="0"/>
          </a:p>
        </p:txBody>
      </p:sp>
      <p:sp>
        <p:nvSpPr>
          <p:cNvPr id="5" name="Text 3"/>
          <p:cNvSpPr/>
          <p:nvPr/>
        </p:nvSpPr>
        <p:spPr>
          <a:xfrm>
            <a:off x="502920" y="621792"/>
            <a:ext cx="8961120" cy="457200"/>
          </a:xfrm>
          <a:prstGeom prst="rect">
            <a:avLst/>
          </a:prstGeom>
          <a:noFill/>
          <a:ln/>
        </p:spPr>
        <p:txBody>
          <a:bodyPr wrap="square" lIns="0" tIns="0" rIns="0" bIns="0" rtlCol="0" anchor="ctr"/>
          <a:lstStyle/>
          <a:p>
            <a:pPr marL="0" indent="0">
              <a:buNone/>
            </a:pPr>
            <a:r>
              <a:rPr lang="en-US" sz="2500" b="1" dirty="0">
                <a:solidFill>
                  <a:srgbClr val="16324F"/>
                </a:solidFill>
                <a:latin typeface="Aptos Display" pitchFamily="34" charset="0"/>
                <a:ea typeface="Aptos Display" pitchFamily="34" charset="-122"/>
                <a:cs typeface="Aptos Display" pitchFamily="34" charset="-120"/>
              </a:rPr>
              <a:t>REGIONAL ACCESS BURDEN</a:t>
            </a:r>
            <a:endParaRPr lang="en-US" sz="2500" dirty="0"/>
          </a:p>
        </p:txBody>
      </p:sp>
      <p:sp>
        <p:nvSpPr>
          <p:cNvPr id="6" name="Text 4"/>
          <p:cNvSpPr/>
          <p:nvPr/>
        </p:nvSpPr>
        <p:spPr>
          <a:xfrm>
            <a:off x="548640" y="1961388"/>
            <a:ext cx="1280160" cy="201168"/>
          </a:xfrm>
          <a:prstGeom prst="rect">
            <a:avLst/>
          </a:prstGeom>
          <a:noFill/>
          <a:ln/>
        </p:spPr>
        <p:txBody>
          <a:bodyPr wrap="square" lIns="0" tIns="0" rIns="0" bIns="0" rtlCol="0" anchor="ctr"/>
          <a:lstStyle/>
          <a:p>
            <a:pPr marL="0" indent="0">
              <a:buNone/>
            </a:pPr>
            <a:r>
              <a:rPr lang="en-US" sz="1600" b="1" dirty="0">
                <a:solidFill>
                  <a:srgbClr val="16324F"/>
                </a:solidFill>
              </a:rPr>
              <a:t>Heart</a:t>
            </a:r>
            <a:endParaRPr lang="en-US" sz="1600" dirty="0"/>
          </a:p>
        </p:txBody>
      </p:sp>
      <p:graphicFrame>
        <p:nvGraphicFramePr>
          <p:cNvPr id="7" name="Chart 0"/>
          <p:cNvGraphicFramePr/>
          <p:nvPr>
            <p:extLst>
              <p:ext uri="{D42A27DB-BD31-4B8C-83A1-F6EECF244321}">
                <p14:modId xmlns:p14="http://schemas.microsoft.com/office/powerpoint/2010/main" val="3772110328"/>
              </p:ext>
            </p:extLst>
          </p:nvPr>
        </p:nvGraphicFramePr>
        <p:xfrm>
          <a:off x="548640" y="2171700"/>
          <a:ext cx="361188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p:nvPr/>
        </p:nvSpPr>
        <p:spPr>
          <a:xfrm>
            <a:off x="4315968" y="1961388"/>
            <a:ext cx="1280160" cy="201168"/>
          </a:xfrm>
          <a:prstGeom prst="rect">
            <a:avLst/>
          </a:prstGeom>
          <a:noFill/>
          <a:ln/>
        </p:spPr>
        <p:txBody>
          <a:bodyPr wrap="square" lIns="0" tIns="0" rIns="0" bIns="0" rtlCol="0" anchor="ctr"/>
          <a:lstStyle/>
          <a:p>
            <a:pPr marL="0" indent="0">
              <a:buNone/>
            </a:pPr>
            <a:r>
              <a:rPr lang="en-US" sz="1600" b="1" dirty="0">
                <a:solidFill>
                  <a:srgbClr val="16324F"/>
                </a:solidFill>
              </a:rPr>
              <a:t>Kidney</a:t>
            </a:r>
            <a:endParaRPr lang="en-US" sz="1600" dirty="0"/>
          </a:p>
        </p:txBody>
      </p:sp>
      <p:graphicFrame>
        <p:nvGraphicFramePr>
          <p:cNvPr id="9" name="Chart 1"/>
          <p:cNvGraphicFramePr/>
          <p:nvPr>
            <p:extLst>
              <p:ext uri="{D42A27DB-BD31-4B8C-83A1-F6EECF244321}">
                <p14:modId xmlns:p14="http://schemas.microsoft.com/office/powerpoint/2010/main" val="652280710"/>
              </p:ext>
            </p:extLst>
          </p:nvPr>
        </p:nvGraphicFramePr>
        <p:xfrm>
          <a:off x="4315968" y="2171700"/>
          <a:ext cx="3611880" cy="347472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 6"/>
          <p:cNvSpPr/>
          <p:nvPr/>
        </p:nvSpPr>
        <p:spPr>
          <a:xfrm>
            <a:off x="8083296" y="1961388"/>
            <a:ext cx="1280160" cy="201168"/>
          </a:xfrm>
          <a:prstGeom prst="rect">
            <a:avLst/>
          </a:prstGeom>
          <a:noFill/>
          <a:ln/>
        </p:spPr>
        <p:txBody>
          <a:bodyPr wrap="square" lIns="0" tIns="0" rIns="0" bIns="0" rtlCol="0" anchor="ctr"/>
          <a:lstStyle/>
          <a:p>
            <a:pPr marL="0" indent="0">
              <a:buNone/>
            </a:pPr>
            <a:r>
              <a:rPr lang="en-US" sz="1600" b="1" dirty="0">
                <a:solidFill>
                  <a:srgbClr val="16324F"/>
                </a:solidFill>
              </a:rPr>
              <a:t>Lung</a:t>
            </a:r>
            <a:endParaRPr lang="en-US" sz="1600" dirty="0"/>
          </a:p>
        </p:txBody>
      </p:sp>
      <p:graphicFrame>
        <p:nvGraphicFramePr>
          <p:cNvPr id="11" name="Chart 2"/>
          <p:cNvGraphicFramePr/>
          <p:nvPr>
            <p:extLst>
              <p:ext uri="{D42A27DB-BD31-4B8C-83A1-F6EECF244321}">
                <p14:modId xmlns:p14="http://schemas.microsoft.com/office/powerpoint/2010/main" val="393250368"/>
              </p:ext>
            </p:extLst>
          </p:nvPr>
        </p:nvGraphicFramePr>
        <p:xfrm>
          <a:off x="8083296" y="2171700"/>
          <a:ext cx="3520440" cy="3474720"/>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6324F"/>
          </a:solidFill>
          <a:ln w="12700">
            <a:solidFill>
              <a:srgbClr val="16324F">
                <a:alpha val="0"/>
              </a:srgbClr>
            </a:solidFill>
            <a:prstDash val="solid"/>
          </a:ln>
        </p:spPr>
        <p:txBody>
          <a:bodyPr/>
          <a:lstStyle/>
          <a:p>
            <a:endParaRPr lang="en-US" dirty="0"/>
          </a:p>
        </p:txBody>
      </p:sp>
      <p:sp>
        <p:nvSpPr>
          <p:cNvPr id="3" name="Shape 1"/>
          <p:cNvSpPr/>
          <p:nvPr/>
        </p:nvSpPr>
        <p:spPr>
          <a:xfrm>
            <a:off x="0" y="6748272"/>
            <a:ext cx="12191695" cy="109728"/>
          </a:xfrm>
          <a:prstGeom prst="rect">
            <a:avLst/>
          </a:prstGeom>
          <a:solidFill>
            <a:srgbClr val="345995"/>
          </a:solidFill>
          <a:ln w="12700">
            <a:solidFill>
              <a:srgbClr val="345995">
                <a:alpha val="0"/>
              </a:srgbClr>
            </a:solidFill>
            <a:prstDash val="solid"/>
          </a:ln>
        </p:spPr>
        <p:txBody>
          <a:bodyPr/>
          <a:lstStyle/>
          <a:p>
            <a:endParaRPr lang="en-US" dirty="0"/>
          </a:p>
        </p:txBody>
      </p:sp>
      <p:sp>
        <p:nvSpPr>
          <p:cNvPr id="5" name="Text 3"/>
          <p:cNvSpPr/>
          <p:nvPr/>
        </p:nvSpPr>
        <p:spPr>
          <a:xfrm>
            <a:off x="502920" y="621792"/>
            <a:ext cx="11029950" cy="457200"/>
          </a:xfrm>
          <a:prstGeom prst="rect">
            <a:avLst/>
          </a:prstGeom>
          <a:noFill/>
          <a:ln/>
        </p:spPr>
        <p:txBody>
          <a:bodyPr wrap="square" lIns="0" tIns="0" rIns="0" bIns="0" rtlCol="0" anchor="ctr"/>
          <a:lstStyle/>
          <a:p>
            <a:pPr marL="0" indent="0">
              <a:buNone/>
            </a:pPr>
            <a:r>
              <a:rPr lang="en-US" sz="2500" b="1" dirty="0">
                <a:solidFill>
                  <a:srgbClr val="16324F"/>
                </a:solidFill>
                <a:latin typeface="Aptos Display" pitchFamily="34" charset="0"/>
                <a:ea typeface="Aptos Display" pitchFamily="34" charset="-122"/>
                <a:cs typeface="Aptos Display" pitchFamily="34" charset="-120"/>
              </a:rPr>
              <a:t>REGIONAL CONTEXT POINTS TO STRUCTURAL DIFFERENCES AROUND ACCESS</a:t>
            </a:r>
            <a:endParaRPr lang="en-US" sz="2500" dirty="0"/>
          </a:p>
        </p:txBody>
      </p:sp>
      <p:sp>
        <p:nvSpPr>
          <p:cNvPr id="6" name="Text 4"/>
          <p:cNvSpPr/>
          <p:nvPr/>
        </p:nvSpPr>
        <p:spPr>
          <a:xfrm>
            <a:off x="548640" y="1682496"/>
            <a:ext cx="3703320" cy="164592"/>
          </a:xfrm>
          <a:prstGeom prst="rect">
            <a:avLst/>
          </a:prstGeom>
          <a:noFill/>
          <a:ln/>
        </p:spPr>
        <p:txBody>
          <a:bodyPr wrap="square" lIns="0" tIns="0" rIns="0" bIns="0" rtlCol="0" anchor="ctr"/>
          <a:lstStyle/>
          <a:p>
            <a:pPr marL="0" indent="0">
              <a:buNone/>
            </a:pPr>
            <a:r>
              <a:rPr lang="en-US" sz="1500" b="1" dirty="0">
                <a:solidFill>
                  <a:srgbClr val="16324F"/>
                </a:solidFill>
              </a:rPr>
              <a:t>Uninsured share</a:t>
            </a:r>
            <a:endParaRPr lang="en-US" sz="1500" dirty="0"/>
          </a:p>
        </p:txBody>
      </p:sp>
      <p:graphicFrame>
        <p:nvGraphicFramePr>
          <p:cNvPr id="7" name="Chart 0"/>
          <p:cNvGraphicFramePr/>
          <p:nvPr>
            <p:extLst>
              <p:ext uri="{D42A27DB-BD31-4B8C-83A1-F6EECF244321}">
                <p14:modId xmlns:p14="http://schemas.microsoft.com/office/powerpoint/2010/main" val="3595935073"/>
              </p:ext>
            </p:extLst>
          </p:nvPr>
        </p:nvGraphicFramePr>
        <p:xfrm>
          <a:off x="548640" y="1993392"/>
          <a:ext cx="3703320" cy="370332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p:nvPr/>
        </p:nvSpPr>
        <p:spPr>
          <a:xfrm>
            <a:off x="4270248" y="1682496"/>
            <a:ext cx="3703320" cy="164592"/>
          </a:xfrm>
          <a:prstGeom prst="rect">
            <a:avLst/>
          </a:prstGeom>
          <a:noFill/>
          <a:ln/>
        </p:spPr>
        <p:txBody>
          <a:bodyPr wrap="square" lIns="0" tIns="0" rIns="0" bIns="0" rtlCol="0" anchor="ctr"/>
          <a:lstStyle/>
          <a:p>
            <a:pPr marL="0" indent="0">
              <a:buNone/>
            </a:pPr>
            <a:r>
              <a:rPr lang="en-US" sz="1500" b="1" dirty="0">
                <a:solidFill>
                  <a:srgbClr val="16324F"/>
                </a:solidFill>
              </a:rPr>
              <a:t>Median income</a:t>
            </a:r>
            <a:endParaRPr lang="en-US" sz="1500" dirty="0"/>
          </a:p>
        </p:txBody>
      </p:sp>
      <p:graphicFrame>
        <p:nvGraphicFramePr>
          <p:cNvPr id="9" name="Chart 1"/>
          <p:cNvGraphicFramePr/>
          <p:nvPr>
            <p:extLst>
              <p:ext uri="{D42A27DB-BD31-4B8C-83A1-F6EECF244321}">
                <p14:modId xmlns:p14="http://schemas.microsoft.com/office/powerpoint/2010/main" val="1227787124"/>
              </p:ext>
            </p:extLst>
          </p:nvPr>
        </p:nvGraphicFramePr>
        <p:xfrm>
          <a:off x="4270248" y="1993392"/>
          <a:ext cx="3703320" cy="370332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 6"/>
          <p:cNvSpPr/>
          <p:nvPr/>
        </p:nvSpPr>
        <p:spPr>
          <a:xfrm>
            <a:off x="7991856" y="1682496"/>
            <a:ext cx="3657600" cy="164592"/>
          </a:xfrm>
          <a:prstGeom prst="rect">
            <a:avLst/>
          </a:prstGeom>
          <a:noFill/>
          <a:ln/>
        </p:spPr>
        <p:txBody>
          <a:bodyPr wrap="square" lIns="0" tIns="0" rIns="0" bIns="0" rtlCol="0" anchor="ctr"/>
          <a:lstStyle/>
          <a:p>
            <a:pPr marL="0" indent="0">
              <a:buNone/>
            </a:pPr>
            <a:r>
              <a:rPr lang="en-US" sz="1500" b="1" dirty="0">
                <a:solidFill>
                  <a:srgbClr val="16324F"/>
                </a:solidFill>
              </a:rPr>
              <a:t>Population mortality crude rate</a:t>
            </a:r>
            <a:endParaRPr lang="en-US" sz="1500" dirty="0"/>
          </a:p>
        </p:txBody>
      </p:sp>
      <p:graphicFrame>
        <p:nvGraphicFramePr>
          <p:cNvPr id="11" name="Chart 2"/>
          <p:cNvGraphicFramePr/>
          <p:nvPr>
            <p:extLst>
              <p:ext uri="{D42A27DB-BD31-4B8C-83A1-F6EECF244321}">
                <p14:modId xmlns:p14="http://schemas.microsoft.com/office/powerpoint/2010/main" val="1034963249"/>
              </p:ext>
            </p:extLst>
          </p:nvPr>
        </p:nvGraphicFramePr>
        <p:xfrm>
          <a:off x="7991856" y="1993392"/>
          <a:ext cx="3657600" cy="3703320"/>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9">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6324F"/>
          </a:solidFill>
          <a:ln w="12700">
            <a:solidFill>
              <a:srgbClr val="16324F">
                <a:alpha val="0"/>
              </a:srgbClr>
            </a:solidFill>
            <a:prstDash val="solid"/>
          </a:ln>
        </p:spPr>
        <p:txBody>
          <a:bodyPr/>
          <a:lstStyle/>
          <a:p>
            <a:endParaRPr lang="en-US" dirty="0"/>
          </a:p>
        </p:txBody>
      </p:sp>
      <p:sp>
        <p:nvSpPr>
          <p:cNvPr id="3" name="Shape 1"/>
          <p:cNvSpPr/>
          <p:nvPr/>
        </p:nvSpPr>
        <p:spPr>
          <a:xfrm>
            <a:off x="0" y="6748272"/>
            <a:ext cx="12191695" cy="109728"/>
          </a:xfrm>
          <a:prstGeom prst="rect">
            <a:avLst/>
          </a:prstGeom>
          <a:solidFill>
            <a:srgbClr val="345995"/>
          </a:solidFill>
          <a:ln w="12700">
            <a:solidFill>
              <a:srgbClr val="345995">
                <a:alpha val="0"/>
              </a:srgbClr>
            </a:solidFill>
            <a:prstDash val="solid"/>
          </a:ln>
        </p:spPr>
        <p:txBody>
          <a:bodyPr/>
          <a:lstStyle/>
          <a:p>
            <a:endParaRPr lang="en-US" dirty="0"/>
          </a:p>
        </p:txBody>
      </p:sp>
      <p:sp>
        <p:nvSpPr>
          <p:cNvPr id="5" name="Text 3"/>
          <p:cNvSpPr/>
          <p:nvPr/>
        </p:nvSpPr>
        <p:spPr>
          <a:xfrm>
            <a:off x="2121408" y="832104"/>
            <a:ext cx="8961120" cy="457200"/>
          </a:xfrm>
          <a:prstGeom prst="rect">
            <a:avLst/>
          </a:prstGeom>
          <a:noFill/>
          <a:ln/>
        </p:spPr>
        <p:txBody>
          <a:bodyPr wrap="square" lIns="0" tIns="0" rIns="0" bIns="0" rtlCol="0" anchor="ctr"/>
          <a:lstStyle/>
          <a:p>
            <a:pPr marL="0" indent="0">
              <a:buNone/>
            </a:pPr>
            <a:r>
              <a:rPr lang="en-US" sz="2500" b="1" dirty="0">
                <a:solidFill>
                  <a:srgbClr val="16324F"/>
                </a:solidFill>
                <a:latin typeface="Aptos Display" pitchFamily="34" charset="0"/>
                <a:ea typeface="Aptos Display" pitchFamily="34" charset="-122"/>
                <a:cs typeface="Aptos Display" pitchFamily="34" charset="-120"/>
              </a:rPr>
              <a:t>HOTSPOTS SHOW WHERE BURDEN CONCENTRATES</a:t>
            </a:r>
            <a:endParaRPr lang="en-US" sz="2500" dirty="0"/>
          </a:p>
        </p:txBody>
      </p:sp>
      <p:sp>
        <p:nvSpPr>
          <p:cNvPr id="6" name="Shape 4"/>
          <p:cNvSpPr/>
          <p:nvPr/>
        </p:nvSpPr>
        <p:spPr>
          <a:xfrm>
            <a:off x="2276856" y="1783080"/>
            <a:ext cx="566928" cy="512064"/>
          </a:xfrm>
          <a:prstGeom prst="rect">
            <a:avLst/>
          </a:prstGeom>
          <a:solidFill>
            <a:srgbClr val="16324F"/>
          </a:solidFill>
          <a:ln w="12700">
            <a:solidFill>
              <a:srgbClr val="D9E0E6"/>
            </a:solidFill>
            <a:prstDash val="solid"/>
          </a:ln>
        </p:spPr>
        <p:txBody>
          <a:bodyPr/>
          <a:lstStyle/>
          <a:p>
            <a:endParaRPr lang="en-US" sz="2400" b="1" dirty="0">
              <a:solidFill>
                <a:schemeClr val="bg1"/>
              </a:solidFill>
            </a:endParaRPr>
          </a:p>
        </p:txBody>
      </p:sp>
      <p:sp>
        <p:nvSpPr>
          <p:cNvPr id="7" name="Text 5"/>
          <p:cNvSpPr/>
          <p:nvPr/>
        </p:nvSpPr>
        <p:spPr>
          <a:xfrm>
            <a:off x="2331720" y="1828800"/>
            <a:ext cx="457200" cy="420624"/>
          </a:xfrm>
          <a:prstGeom prst="rect">
            <a:avLst/>
          </a:prstGeom>
          <a:noFill/>
          <a:ln/>
        </p:spPr>
        <p:txBody>
          <a:bodyPr wrap="square" lIns="0" tIns="0" rIns="0" bIns="0" rtlCol="0" anchor="ctr"/>
          <a:lstStyle/>
          <a:p>
            <a:pPr marL="0" indent="0" algn="ctr">
              <a:buNone/>
            </a:pPr>
            <a:r>
              <a:rPr lang="en-US" sz="1400" b="1" dirty="0">
                <a:solidFill>
                  <a:schemeClr val="bg1"/>
                </a:solidFill>
                <a:latin typeface="Aptos" pitchFamily="34" charset="0"/>
                <a:ea typeface="Aptos" pitchFamily="34" charset="-122"/>
                <a:cs typeface="Aptos" pitchFamily="34" charset="-120"/>
              </a:rPr>
              <a:t>Rank</a:t>
            </a:r>
            <a:endParaRPr lang="en-US" sz="1400" b="1" dirty="0">
              <a:solidFill>
                <a:schemeClr val="bg1"/>
              </a:solidFill>
            </a:endParaRPr>
          </a:p>
        </p:txBody>
      </p:sp>
      <p:sp>
        <p:nvSpPr>
          <p:cNvPr id="8" name="Shape 6"/>
          <p:cNvSpPr/>
          <p:nvPr/>
        </p:nvSpPr>
        <p:spPr>
          <a:xfrm>
            <a:off x="2843784" y="1783080"/>
            <a:ext cx="2212848" cy="512064"/>
          </a:xfrm>
          <a:prstGeom prst="rect">
            <a:avLst/>
          </a:prstGeom>
          <a:solidFill>
            <a:srgbClr val="16324F"/>
          </a:solidFill>
          <a:ln w="12700">
            <a:solidFill>
              <a:srgbClr val="D9E0E6"/>
            </a:solidFill>
            <a:prstDash val="solid"/>
          </a:ln>
        </p:spPr>
        <p:txBody>
          <a:bodyPr/>
          <a:lstStyle/>
          <a:p>
            <a:endParaRPr lang="en-US" sz="2400" b="1" dirty="0">
              <a:solidFill>
                <a:schemeClr val="bg1"/>
              </a:solidFill>
            </a:endParaRPr>
          </a:p>
        </p:txBody>
      </p:sp>
      <p:sp>
        <p:nvSpPr>
          <p:cNvPr id="9" name="Text 7"/>
          <p:cNvSpPr/>
          <p:nvPr/>
        </p:nvSpPr>
        <p:spPr>
          <a:xfrm>
            <a:off x="2898648" y="1828800"/>
            <a:ext cx="2103120" cy="420624"/>
          </a:xfrm>
          <a:prstGeom prst="rect">
            <a:avLst/>
          </a:prstGeom>
          <a:noFill/>
          <a:ln/>
        </p:spPr>
        <p:txBody>
          <a:bodyPr wrap="square" lIns="0" tIns="0" rIns="0" bIns="0" rtlCol="0" anchor="ctr"/>
          <a:lstStyle/>
          <a:p>
            <a:pPr marL="0" indent="0" algn="l">
              <a:buNone/>
            </a:pPr>
            <a:r>
              <a:rPr lang="en-US" sz="1400" b="1" dirty="0">
                <a:solidFill>
                  <a:schemeClr val="bg1"/>
                </a:solidFill>
                <a:latin typeface="Aptos" pitchFamily="34" charset="0"/>
                <a:ea typeface="Aptos" pitchFamily="34" charset="-122"/>
                <a:cs typeface="Aptos" pitchFamily="34" charset="-120"/>
              </a:rPr>
              <a:t>Heart</a:t>
            </a:r>
            <a:endParaRPr lang="en-US" sz="1400" b="1" dirty="0">
              <a:solidFill>
                <a:schemeClr val="bg1"/>
              </a:solidFill>
            </a:endParaRPr>
          </a:p>
        </p:txBody>
      </p:sp>
      <p:sp>
        <p:nvSpPr>
          <p:cNvPr id="10" name="Shape 8"/>
          <p:cNvSpPr/>
          <p:nvPr/>
        </p:nvSpPr>
        <p:spPr>
          <a:xfrm>
            <a:off x="5056632" y="1783080"/>
            <a:ext cx="2304288" cy="512064"/>
          </a:xfrm>
          <a:prstGeom prst="rect">
            <a:avLst/>
          </a:prstGeom>
          <a:solidFill>
            <a:srgbClr val="16324F"/>
          </a:solidFill>
          <a:ln w="12700">
            <a:solidFill>
              <a:srgbClr val="D9E0E6"/>
            </a:solidFill>
            <a:prstDash val="solid"/>
          </a:ln>
        </p:spPr>
        <p:txBody>
          <a:bodyPr/>
          <a:lstStyle/>
          <a:p>
            <a:endParaRPr lang="en-US" sz="2400" b="1" dirty="0">
              <a:solidFill>
                <a:schemeClr val="bg1"/>
              </a:solidFill>
            </a:endParaRPr>
          </a:p>
        </p:txBody>
      </p:sp>
      <p:sp>
        <p:nvSpPr>
          <p:cNvPr id="11" name="Text 9"/>
          <p:cNvSpPr/>
          <p:nvPr/>
        </p:nvSpPr>
        <p:spPr>
          <a:xfrm>
            <a:off x="5111496" y="1828800"/>
            <a:ext cx="2194560" cy="420624"/>
          </a:xfrm>
          <a:prstGeom prst="rect">
            <a:avLst/>
          </a:prstGeom>
          <a:noFill/>
          <a:ln/>
        </p:spPr>
        <p:txBody>
          <a:bodyPr wrap="square" lIns="0" tIns="0" rIns="0" bIns="0" rtlCol="0" anchor="ctr"/>
          <a:lstStyle/>
          <a:p>
            <a:pPr marL="0" indent="0" algn="l">
              <a:buNone/>
            </a:pPr>
            <a:r>
              <a:rPr lang="en-US" sz="1400" b="1" dirty="0">
                <a:solidFill>
                  <a:schemeClr val="bg1"/>
                </a:solidFill>
                <a:latin typeface="Aptos" pitchFamily="34" charset="0"/>
                <a:ea typeface="Aptos" pitchFamily="34" charset="-122"/>
                <a:cs typeface="Aptos" pitchFamily="34" charset="-120"/>
              </a:rPr>
              <a:t>Kidney</a:t>
            </a:r>
            <a:endParaRPr lang="en-US" sz="1400" b="1" dirty="0">
              <a:solidFill>
                <a:schemeClr val="bg1"/>
              </a:solidFill>
            </a:endParaRPr>
          </a:p>
        </p:txBody>
      </p:sp>
      <p:sp>
        <p:nvSpPr>
          <p:cNvPr id="12" name="Shape 10"/>
          <p:cNvSpPr/>
          <p:nvPr/>
        </p:nvSpPr>
        <p:spPr>
          <a:xfrm>
            <a:off x="7360920" y="1783080"/>
            <a:ext cx="2103120" cy="512064"/>
          </a:xfrm>
          <a:prstGeom prst="rect">
            <a:avLst/>
          </a:prstGeom>
          <a:solidFill>
            <a:srgbClr val="16324F"/>
          </a:solidFill>
          <a:ln w="12700">
            <a:solidFill>
              <a:srgbClr val="D9E0E6"/>
            </a:solidFill>
            <a:prstDash val="solid"/>
          </a:ln>
        </p:spPr>
        <p:txBody>
          <a:bodyPr/>
          <a:lstStyle/>
          <a:p>
            <a:endParaRPr lang="en-US" sz="2400" b="1" dirty="0">
              <a:solidFill>
                <a:schemeClr val="bg1"/>
              </a:solidFill>
            </a:endParaRPr>
          </a:p>
        </p:txBody>
      </p:sp>
      <p:sp>
        <p:nvSpPr>
          <p:cNvPr id="13" name="Text 11"/>
          <p:cNvSpPr/>
          <p:nvPr/>
        </p:nvSpPr>
        <p:spPr>
          <a:xfrm>
            <a:off x="7415784" y="1828800"/>
            <a:ext cx="1993392" cy="420624"/>
          </a:xfrm>
          <a:prstGeom prst="rect">
            <a:avLst/>
          </a:prstGeom>
          <a:noFill/>
          <a:ln/>
        </p:spPr>
        <p:txBody>
          <a:bodyPr wrap="square" lIns="0" tIns="0" rIns="0" bIns="0" rtlCol="0" anchor="ctr"/>
          <a:lstStyle/>
          <a:p>
            <a:pPr marL="0" indent="0" algn="l">
              <a:buNone/>
            </a:pPr>
            <a:r>
              <a:rPr lang="en-US" sz="1400" b="1" dirty="0">
                <a:solidFill>
                  <a:schemeClr val="bg1"/>
                </a:solidFill>
                <a:latin typeface="Aptos" pitchFamily="34" charset="0"/>
                <a:ea typeface="Aptos" pitchFamily="34" charset="-122"/>
                <a:cs typeface="Aptos" pitchFamily="34" charset="-120"/>
              </a:rPr>
              <a:t>Lung</a:t>
            </a:r>
            <a:endParaRPr lang="en-US" sz="1400" b="1" dirty="0">
              <a:solidFill>
                <a:schemeClr val="bg1"/>
              </a:solidFill>
            </a:endParaRPr>
          </a:p>
        </p:txBody>
      </p:sp>
      <p:sp>
        <p:nvSpPr>
          <p:cNvPr id="14" name="Shape 12"/>
          <p:cNvSpPr/>
          <p:nvPr/>
        </p:nvSpPr>
        <p:spPr>
          <a:xfrm>
            <a:off x="2276856" y="2295144"/>
            <a:ext cx="566928" cy="512064"/>
          </a:xfrm>
          <a:prstGeom prst="rect">
            <a:avLst/>
          </a:prstGeom>
          <a:solidFill>
            <a:srgbClr val="FFFFFF"/>
          </a:solidFill>
          <a:ln w="12700">
            <a:solidFill>
              <a:srgbClr val="D9E0E6"/>
            </a:solidFill>
            <a:prstDash val="solid"/>
          </a:ln>
        </p:spPr>
        <p:txBody>
          <a:bodyPr/>
          <a:lstStyle/>
          <a:p>
            <a:endParaRPr lang="en-US" sz="2400" b="1" dirty="0"/>
          </a:p>
        </p:txBody>
      </p:sp>
      <p:sp>
        <p:nvSpPr>
          <p:cNvPr id="15" name="Text 13"/>
          <p:cNvSpPr/>
          <p:nvPr/>
        </p:nvSpPr>
        <p:spPr>
          <a:xfrm>
            <a:off x="2331720" y="2340864"/>
            <a:ext cx="457200" cy="420624"/>
          </a:xfrm>
          <a:prstGeom prst="rect">
            <a:avLst/>
          </a:prstGeom>
          <a:noFill/>
          <a:ln/>
        </p:spPr>
        <p:txBody>
          <a:bodyPr wrap="square" lIns="0" tIns="0" rIns="0" bIns="0" rtlCol="0" anchor="ctr"/>
          <a:lstStyle/>
          <a:p>
            <a:pPr marL="0" indent="0" algn="ctr">
              <a:buNone/>
            </a:pPr>
            <a:r>
              <a:rPr lang="en-US" sz="1400" b="1" dirty="0">
                <a:latin typeface="Aptos" pitchFamily="34" charset="0"/>
                <a:ea typeface="Aptos" pitchFamily="34" charset="-122"/>
                <a:cs typeface="Aptos" pitchFamily="34" charset="-120"/>
              </a:rPr>
              <a:t>1</a:t>
            </a:r>
            <a:endParaRPr lang="en-US" sz="1400" b="1" dirty="0"/>
          </a:p>
        </p:txBody>
      </p:sp>
      <p:sp>
        <p:nvSpPr>
          <p:cNvPr id="16" name="Shape 14"/>
          <p:cNvSpPr/>
          <p:nvPr/>
        </p:nvSpPr>
        <p:spPr>
          <a:xfrm>
            <a:off x="2843784" y="2295144"/>
            <a:ext cx="2212848" cy="512064"/>
          </a:xfrm>
          <a:prstGeom prst="rect">
            <a:avLst/>
          </a:prstGeom>
          <a:solidFill>
            <a:srgbClr val="FFFFFF"/>
          </a:solidFill>
          <a:ln w="12700">
            <a:solidFill>
              <a:srgbClr val="D9E0E6"/>
            </a:solidFill>
            <a:prstDash val="solid"/>
          </a:ln>
        </p:spPr>
        <p:txBody>
          <a:bodyPr/>
          <a:lstStyle/>
          <a:p>
            <a:endParaRPr lang="en-US" sz="2400" b="1" dirty="0"/>
          </a:p>
        </p:txBody>
      </p:sp>
      <p:sp>
        <p:nvSpPr>
          <p:cNvPr id="17" name="Text 15"/>
          <p:cNvSpPr/>
          <p:nvPr/>
        </p:nvSpPr>
        <p:spPr>
          <a:xfrm>
            <a:off x="2898648" y="2340864"/>
            <a:ext cx="2103120" cy="420624"/>
          </a:xfrm>
          <a:prstGeom prst="rect">
            <a:avLst/>
          </a:prstGeom>
          <a:noFill/>
          <a:ln/>
        </p:spPr>
        <p:txBody>
          <a:bodyPr wrap="square" lIns="0" tIns="0" rIns="0" bIns="0" rtlCol="0" anchor="ctr"/>
          <a:lstStyle/>
          <a:p>
            <a:pPr marL="0" indent="0" algn="l">
              <a:buNone/>
            </a:pPr>
            <a:r>
              <a:rPr lang="en-US" sz="1400" b="1" dirty="0">
                <a:latin typeface="Aptos" pitchFamily="34" charset="0"/>
                <a:ea typeface="Aptos" pitchFamily="34" charset="-122"/>
                <a:cs typeface="Aptos" pitchFamily="34" charset="-120"/>
              </a:rPr>
              <a:t>District of Columbia (7.4)</a:t>
            </a:r>
            <a:endParaRPr lang="en-US" sz="1400" b="1" dirty="0"/>
          </a:p>
        </p:txBody>
      </p:sp>
      <p:sp>
        <p:nvSpPr>
          <p:cNvPr id="18" name="Shape 16"/>
          <p:cNvSpPr/>
          <p:nvPr/>
        </p:nvSpPr>
        <p:spPr>
          <a:xfrm>
            <a:off x="5056632" y="2295144"/>
            <a:ext cx="2304288" cy="512064"/>
          </a:xfrm>
          <a:prstGeom prst="rect">
            <a:avLst/>
          </a:prstGeom>
          <a:solidFill>
            <a:srgbClr val="FFFFFF"/>
          </a:solidFill>
          <a:ln w="12700">
            <a:solidFill>
              <a:srgbClr val="D9E0E6"/>
            </a:solidFill>
            <a:prstDash val="solid"/>
          </a:ln>
        </p:spPr>
        <p:txBody>
          <a:bodyPr/>
          <a:lstStyle/>
          <a:p>
            <a:endParaRPr lang="en-US" sz="2400" b="1" dirty="0"/>
          </a:p>
        </p:txBody>
      </p:sp>
      <p:sp>
        <p:nvSpPr>
          <p:cNvPr id="19" name="Text 17"/>
          <p:cNvSpPr/>
          <p:nvPr/>
        </p:nvSpPr>
        <p:spPr>
          <a:xfrm>
            <a:off x="5111496" y="2340864"/>
            <a:ext cx="2194560" cy="420624"/>
          </a:xfrm>
          <a:prstGeom prst="rect">
            <a:avLst/>
          </a:prstGeom>
          <a:noFill/>
          <a:ln/>
        </p:spPr>
        <p:txBody>
          <a:bodyPr wrap="square" lIns="0" tIns="0" rIns="0" bIns="0" rtlCol="0" anchor="ctr"/>
          <a:lstStyle/>
          <a:p>
            <a:pPr marL="0" indent="0" algn="l">
              <a:buNone/>
            </a:pPr>
            <a:r>
              <a:rPr lang="en-US" sz="1400" b="1" dirty="0">
                <a:latin typeface="Aptos" pitchFamily="34" charset="0"/>
                <a:ea typeface="Aptos" pitchFamily="34" charset="-122"/>
                <a:cs typeface="Aptos" pitchFamily="34" charset="-120"/>
              </a:rPr>
              <a:t>District of Columbia (159.2)</a:t>
            </a:r>
            <a:endParaRPr lang="en-US" sz="1400" b="1" dirty="0"/>
          </a:p>
        </p:txBody>
      </p:sp>
      <p:sp>
        <p:nvSpPr>
          <p:cNvPr id="20" name="Shape 18"/>
          <p:cNvSpPr/>
          <p:nvPr/>
        </p:nvSpPr>
        <p:spPr>
          <a:xfrm>
            <a:off x="7360920" y="2295144"/>
            <a:ext cx="2103120" cy="512064"/>
          </a:xfrm>
          <a:prstGeom prst="rect">
            <a:avLst/>
          </a:prstGeom>
          <a:solidFill>
            <a:srgbClr val="FFFFFF"/>
          </a:solidFill>
          <a:ln w="12700">
            <a:solidFill>
              <a:srgbClr val="D9E0E6"/>
            </a:solidFill>
            <a:prstDash val="solid"/>
          </a:ln>
        </p:spPr>
        <p:txBody>
          <a:bodyPr/>
          <a:lstStyle/>
          <a:p>
            <a:endParaRPr lang="en-US" sz="2400" b="1" dirty="0"/>
          </a:p>
        </p:txBody>
      </p:sp>
      <p:sp>
        <p:nvSpPr>
          <p:cNvPr id="21" name="Text 19"/>
          <p:cNvSpPr/>
          <p:nvPr/>
        </p:nvSpPr>
        <p:spPr>
          <a:xfrm>
            <a:off x="7415784" y="2340864"/>
            <a:ext cx="1993392" cy="420624"/>
          </a:xfrm>
          <a:prstGeom prst="rect">
            <a:avLst/>
          </a:prstGeom>
          <a:noFill/>
          <a:ln/>
        </p:spPr>
        <p:txBody>
          <a:bodyPr wrap="square" lIns="0" tIns="0" rIns="0" bIns="0" rtlCol="0" anchor="ctr"/>
          <a:lstStyle/>
          <a:p>
            <a:pPr marL="0" indent="0" algn="l">
              <a:buNone/>
            </a:pPr>
            <a:r>
              <a:rPr lang="en-US" sz="1400" b="1" dirty="0">
                <a:latin typeface="Aptos" pitchFamily="34" charset="0"/>
                <a:ea typeface="Aptos" pitchFamily="34" charset="-122"/>
                <a:cs typeface="Aptos" pitchFamily="34" charset="-120"/>
              </a:rPr>
              <a:t>Pennsylvania (0.9)</a:t>
            </a:r>
            <a:endParaRPr lang="en-US" sz="1400" b="1" dirty="0"/>
          </a:p>
        </p:txBody>
      </p:sp>
      <p:sp>
        <p:nvSpPr>
          <p:cNvPr id="22" name="Shape 20"/>
          <p:cNvSpPr/>
          <p:nvPr/>
        </p:nvSpPr>
        <p:spPr>
          <a:xfrm>
            <a:off x="2276856" y="2807208"/>
            <a:ext cx="566928" cy="512064"/>
          </a:xfrm>
          <a:prstGeom prst="rect">
            <a:avLst/>
          </a:prstGeom>
          <a:solidFill>
            <a:srgbClr val="FFFFFF"/>
          </a:solidFill>
          <a:ln w="12700">
            <a:solidFill>
              <a:srgbClr val="D9E0E6"/>
            </a:solidFill>
            <a:prstDash val="solid"/>
          </a:ln>
        </p:spPr>
        <p:txBody>
          <a:bodyPr/>
          <a:lstStyle/>
          <a:p>
            <a:endParaRPr lang="en-US" sz="2400" b="1" dirty="0"/>
          </a:p>
        </p:txBody>
      </p:sp>
      <p:sp>
        <p:nvSpPr>
          <p:cNvPr id="23" name="Text 21"/>
          <p:cNvSpPr/>
          <p:nvPr/>
        </p:nvSpPr>
        <p:spPr>
          <a:xfrm>
            <a:off x="2331720" y="2852928"/>
            <a:ext cx="457200" cy="420624"/>
          </a:xfrm>
          <a:prstGeom prst="rect">
            <a:avLst/>
          </a:prstGeom>
          <a:noFill/>
          <a:ln/>
        </p:spPr>
        <p:txBody>
          <a:bodyPr wrap="square" lIns="0" tIns="0" rIns="0" bIns="0" rtlCol="0" anchor="ctr"/>
          <a:lstStyle/>
          <a:p>
            <a:pPr marL="0" indent="0" algn="ctr">
              <a:buNone/>
            </a:pPr>
            <a:r>
              <a:rPr lang="en-US" sz="1400" b="1" dirty="0">
                <a:latin typeface="Aptos" pitchFamily="34" charset="0"/>
                <a:ea typeface="Aptos" pitchFamily="34" charset="-122"/>
                <a:cs typeface="Aptos" pitchFamily="34" charset="-120"/>
              </a:rPr>
              <a:t>2</a:t>
            </a:r>
            <a:endParaRPr lang="en-US" sz="1400" b="1" dirty="0"/>
          </a:p>
        </p:txBody>
      </p:sp>
      <p:sp>
        <p:nvSpPr>
          <p:cNvPr id="24" name="Shape 22"/>
          <p:cNvSpPr/>
          <p:nvPr/>
        </p:nvSpPr>
        <p:spPr>
          <a:xfrm>
            <a:off x="2843784" y="2807208"/>
            <a:ext cx="2212848" cy="512064"/>
          </a:xfrm>
          <a:prstGeom prst="rect">
            <a:avLst/>
          </a:prstGeom>
          <a:solidFill>
            <a:srgbClr val="FFFFFF"/>
          </a:solidFill>
          <a:ln w="12700">
            <a:solidFill>
              <a:srgbClr val="D9E0E6"/>
            </a:solidFill>
            <a:prstDash val="solid"/>
          </a:ln>
        </p:spPr>
        <p:txBody>
          <a:bodyPr/>
          <a:lstStyle/>
          <a:p>
            <a:endParaRPr lang="en-US" sz="2400" b="1" dirty="0"/>
          </a:p>
        </p:txBody>
      </p:sp>
      <p:sp>
        <p:nvSpPr>
          <p:cNvPr id="25" name="Text 23"/>
          <p:cNvSpPr/>
          <p:nvPr/>
        </p:nvSpPr>
        <p:spPr>
          <a:xfrm>
            <a:off x="2898648" y="2852928"/>
            <a:ext cx="2103120" cy="420624"/>
          </a:xfrm>
          <a:prstGeom prst="rect">
            <a:avLst/>
          </a:prstGeom>
          <a:noFill/>
          <a:ln/>
        </p:spPr>
        <p:txBody>
          <a:bodyPr wrap="square" lIns="0" tIns="0" rIns="0" bIns="0" rtlCol="0" anchor="ctr"/>
          <a:lstStyle/>
          <a:p>
            <a:pPr marL="0" indent="0" algn="l">
              <a:buNone/>
            </a:pPr>
            <a:r>
              <a:rPr lang="en-US" sz="1400" b="1" dirty="0">
                <a:latin typeface="Aptos" pitchFamily="34" charset="0"/>
                <a:ea typeface="Aptos" pitchFamily="34" charset="-122"/>
                <a:cs typeface="Aptos" pitchFamily="34" charset="-120"/>
              </a:rPr>
              <a:t>Ohio (2.5)</a:t>
            </a:r>
            <a:endParaRPr lang="en-US" sz="1400" b="1" dirty="0"/>
          </a:p>
        </p:txBody>
      </p:sp>
      <p:sp>
        <p:nvSpPr>
          <p:cNvPr id="26" name="Shape 24"/>
          <p:cNvSpPr/>
          <p:nvPr/>
        </p:nvSpPr>
        <p:spPr>
          <a:xfrm>
            <a:off x="5056632" y="2807208"/>
            <a:ext cx="2304288" cy="512064"/>
          </a:xfrm>
          <a:prstGeom prst="rect">
            <a:avLst/>
          </a:prstGeom>
          <a:solidFill>
            <a:srgbClr val="FFFFFF"/>
          </a:solidFill>
          <a:ln w="12700">
            <a:solidFill>
              <a:srgbClr val="D9E0E6"/>
            </a:solidFill>
            <a:prstDash val="solid"/>
          </a:ln>
        </p:spPr>
        <p:txBody>
          <a:bodyPr/>
          <a:lstStyle/>
          <a:p>
            <a:endParaRPr lang="en-US" sz="2400" b="1" dirty="0"/>
          </a:p>
        </p:txBody>
      </p:sp>
      <p:sp>
        <p:nvSpPr>
          <p:cNvPr id="27" name="Text 25"/>
          <p:cNvSpPr/>
          <p:nvPr/>
        </p:nvSpPr>
        <p:spPr>
          <a:xfrm>
            <a:off x="5111496" y="2852928"/>
            <a:ext cx="2194560" cy="420624"/>
          </a:xfrm>
          <a:prstGeom prst="rect">
            <a:avLst/>
          </a:prstGeom>
          <a:noFill/>
          <a:ln/>
        </p:spPr>
        <p:txBody>
          <a:bodyPr wrap="square" lIns="0" tIns="0" rIns="0" bIns="0" rtlCol="0" anchor="ctr"/>
          <a:lstStyle/>
          <a:p>
            <a:pPr marL="0" indent="0" algn="l">
              <a:buNone/>
            </a:pPr>
            <a:r>
              <a:rPr lang="en-US" sz="1400" b="1" dirty="0">
                <a:latin typeface="Aptos" pitchFamily="34" charset="0"/>
                <a:ea typeface="Aptos" pitchFamily="34" charset="-122"/>
                <a:cs typeface="Aptos" pitchFamily="34" charset="-120"/>
              </a:rPr>
              <a:t>Massachusetts (49.1)</a:t>
            </a:r>
            <a:endParaRPr lang="en-US" sz="1400" b="1" dirty="0"/>
          </a:p>
        </p:txBody>
      </p:sp>
      <p:sp>
        <p:nvSpPr>
          <p:cNvPr id="28" name="Shape 26"/>
          <p:cNvSpPr/>
          <p:nvPr/>
        </p:nvSpPr>
        <p:spPr>
          <a:xfrm>
            <a:off x="7360920" y="2807208"/>
            <a:ext cx="2103120" cy="512064"/>
          </a:xfrm>
          <a:prstGeom prst="rect">
            <a:avLst/>
          </a:prstGeom>
          <a:solidFill>
            <a:srgbClr val="FFFFFF"/>
          </a:solidFill>
          <a:ln w="12700">
            <a:solidFill>
              <a:srgbClr val="D9E0E6"/>
            </a:solidFill>
            <a:prstDash val="solid"/>
          </a:ln>
        </p:spPr>
        <p:txBody>
          <a:bodyPr/>
          <a:lstStyle/>
          <a:p>
            <a:endParaRPr lang="en-US" sz="2400" b="1" dirty="0"/>
          </a:p>
        </p:txBody>
      </p:sp>
      <p:sp>
        <p:nvSpPr>
          <p:cNvPr id="29" name="Text 27"/>
          <p:cNvSpPr/>
          <p:nvPr/>
        </p:nvSpPr>
        <p:spPr>
          <a:xfrm>
            <a:off x="7415784" y="2852928"/>
            <a:ext cx="1993392" cy="420624"/>
          </a:xfrm>
          <a:prstGeom prst="rect">
            <a:avLst/>
          </a:prstGeom>
          <a:noFill/>
          <a:ln/>
        </p:spPr>
        <p:txBody>
          <a:bodyPr wrap="square" lIns="0" tIns="0" rIns="0" bIns="0" rtlCol="0" anchor="ctr"/>
          <a:lstStyle/>
          <a:p>
            <a:pPr marL="0" indent="0" algn="l">
              <a:buNone/>
            </a:pPr>
            <a:r>
              <a:rPr lang="en-US" sz="1400" b="1" dirty="0">
                <a:latin typeface="Aptos" pitchFamily="34" charset="0"/>
                <a:ea typeface="Aptos" pitchFamily="34" charset="-122"/>
                <a:cs typeface="Aptos" pitchFamily="34" charset="-120"/>
              </a:rPr>
              <a:t>Michigan (0.7)</a:t>
            </a:r>
            <a:endParaRPr lang="en-US" sz="1400" b="1" dirty="0"/>
          </a:p>
        </p:txBody>
      </p:sp>
      <p:sp>
        <p:nvSpPr>
          <p:cNvPr id="30" name="Shape 28"/>
          <p:cNvSpPr/>
          <p:nvPr/>
        </p:nvSpPr>
        <p:spPr>
          <a:xfrm>
            <a:off x="2276856" y="3319272"/>
            <a:ext cx="566928" cy="512064"/>
          </a:xfrm>
          <a:prstGeom prst="rect">
            <a:avLst/>
          </a:prstGeom>
          <a:solidFill>
            <a:srgbClr val="FFFFFF"/>
          </a:solidFill>
          <a:ln w="12700">
            <a:solidFill>
              <a:srgbClr val="D9E0E6"/>
            </a:solidFill>
            <a:prstDash val="solid"/>
          </a:ln>
        </p:spPr>
        <p:txBody>
          <a:bodyPr/>
          <a:lstStyle/>
          <a:p>
            <a:endParaRPr lang="en-US" sz="2400" b="1" dirty="0"/>
          </a:p>
        </p:txBody>
      </p:sp>
      <p:sp>
        <p:nvSpPr>
          <p:cNvPr id="31" name="Text 29"/>
          <p:cNvSpPr/>
          <p:nvPr/>
        </p:nvSpPr>
        <p:spPr>
          <a:xfrm>
            <a:off x="2331720" y="3364992"/>
            <a:ext cx="457200" cy="420624"/>
          </a:xfrm>
          <a:prstGeom prst="rect">
            <a:avLst/>
          </a:prstGeom>
          <a:noFill/>
          <a:ln/>
        </p:spPr>
        <p:txBody>
          <a:bodyPr wrap="square" lIns="0" tIns="0" rIns="0" bIns="0" rtlCol="0" anchor="ctr"/>
          <a:lstStyle/>
          <a:p>
            <a:pPr marL="0" indent="0" algn="ctr">
              <a:buNone/>
            </a:pPr>
            <a:r>
              <a:rPr lang="en-US" sz="1400" b="1" dirty="0">
                <a:latin typeface="Aptos" pitchFamily="34" charset="0"/>
                <a:ea typeface="Aptos" pitchFamily="34" charset="-122"/>
                <a:cs typeface="Aptos" pitchFamily="34" charset="-120"/>
              </a:rPr>
              <a:t>3</a:t>
            </a:r>
            <a:endParaRPr lang="en-US" sz="1400" b="1" dirty="0"/>
          </a:p>
        </p:txBody>
      </p:sp>
      <p:sp>
        <p:nvSpPr>
          <p:cNvPr id="32" name="Shape 30"/>
          <p:cNvSpPr/>
          <p:nvPr/>
        </p:nvSpPr>
        <p:spPr>
          <a:xfrm>
            <a:off x="2843784" y="3319272"/>
            <a:ext cx="2212848" cy="512064"/>
          </a:xfrm>
          <a:prstGeom prst="rect">
            <a:avLst/>
          </a:prstGeom>
          <a:solidFill>
            <a:srgbClr val="FFFFFF"/>
          </a:solidFill>
          <a:ln w="12700">
            <a:solidFill>
              <a:srgbClr val="D9E0E6"/>
            </a:solidFill>
            <a:prstDash val="solid"/>
          </a:ln>
        </p:spPr>
        <p:txBody>
          <a:bodyPr/>
          <a:lstStyle/>
          <a:p>
            <a:endParaRPr lang="en-US" sz="2400" b="1" dirty="0"/>
          </a:p>
        </p:txBody>
      </p:sp>
      <p:sp>
        <p:nvSpPr>
          <p:cNvPr id="33" name="Text 31"/>
          <p:cNvSpPr/>
          <p:nvPr/>
        </p:nvSpPr>
        <p:spPr>
          <a:xfrm>
            <a:off x="2898648" y="3364992"/>
            <a:ext cx="2103120" cy="420624"/>
          </a:xfrm>
          <a:prstGeom prst="rect">
            <a:avLst/>
          </a:prstGeom>
          <a:noFill/>
          <a:ln/>
        </p:spPr>
        <p:txBody>
          <a:bodyPr wrap="square" lIns="0" tIns="0" rIns="0" bIns="0" rtlCol="0" anchor="ctr"/>
          <a:lstStyle/>
          <a:p>
            <a:pPr marL="0" indent="0" algn="l">
              <a:buNone/>
            </a:pPr>
            <a:r>
              <a:rPr lang="en-US" sz="1400" b="1" dirty="0">
                <a:latin typeface="Aptos" pitchFamily="34" charset="0"/>
                <a:ea typeface="Aptos" pitchFamily="34" charset="-122"/>
                <a:cs typeface="Aptos" pitchFamily="34" charset="-120"/>
              </a:rPr>
              <a:t>Nebraska (2.1)</a:t>
            </a:r>
            <a:endParaRPr lang="en-US" sz="1400" b="1" dirty="0"/>
          </a:p>
        </p:txBody>
      </p:sp>
      <p:sp>
        <p:nvSpPr>
          <p:cNvPr id="34" name="Shape 32"/>
          <p:cNvSpPr/>
          <p:nvPr/>
        </p:nvSpPr>
        <p:spPr>
          <a:xfrm>
            <a:off x="5056632" y="3319272"/>
            <a:ext cx="2304288" cy="512064"/>
          </a:xfrm>
          <a:prstGeom prst="rect">
            <a:avLst/>
          </a:prstGeom>
          <a:solidFill>
            <a:srgbClr val="FFFFFF"/>
          </a:solidFill>
          <a:ln w="12700">
            <a:solidFill>
              <a:srgbClr val="D9E0E6"/>
            </a:solidFill>
            <a:prstDash val="solid"/>
          </a:ln>
        </p:spPr>
        <p:txBody>
          <a:bodyPr/>
          <a:lstStyle/>
          <a:p>
            <a:endParaRPr lang="en-US" sz="2400" b="1" dirty="0"/>
          </a:p>
        </p:txBody>
      </p:sp>
      <p:sp>
        <p:nvSpPr>
          <p:cNvPr id="35" name="Text 33"/>
          <p:cNvSpPr/>
          <p:nvPr/>
        </p:nvSpPr>
        <p:spPr>
          <a:xfrm>
            <a:off x="5111496" y="3364992"/>
            <a:ext cx="2194560" cy="420624"/>
          </a:xfrm>
          <a:prstGeom prst="rect">
            <a:avLst/>
          </a:prstGeom>
          <a:noFill/>
          <a:ln/>
        </p:spPr>
        <p:txBody>
          <a:bodyPr wrap="square" lIns="0" tIns="0" rIns="0" bIns="0" rtlCol="0" anchor="ctr"/>
          <a:lstStyle/>
          <a:p>
            <a:pPr marL="0" indent="0" algn="l">
              <a:buNone/>
            </a:pPr>
            <a:r>
              <a:rPr lang="en-US" sz="1400" b="1" dirty="0">
                <a:latin typeface="Aptos" pitchFamily="34" charset="0"/>
                <a:ea typeface="Aptos" pitchFamily="34" charset="-122"/>
                <a:cs typeface="Aptos" pitchFamily="34" charset="-120"/>
              </a:rPr>
              <a:t>California (45.3)</a:t>
            </a:r>
            <a:endParaRPr lang="en-US" sz="1400" b="1" dirty="0"/>
          </a:p>
        </p:txBody>
      </p:sp>
      <p:sp>
        <p:nvSpPr>
          <p:cNvPr id="36" name="Shape 34"/>
          <p:cNvSpPr/>
          <p:nvPr/>
        </p:nvSpPr>
        <p:spPr>
          <a:xfrm>
            <a:off x="7360920" y="3319272"/>
            <a:ext cx="2103120" cy="512064"/>
          </a:xfrm>
          <a:prstGeom prst="rect">
            <a:avLst/>
          </a:prstGeom>
          <a:solidFill>
            <a:srgbClr val="FFFFFF"/>
          </a:solidFill>
          <a:ln w="12700">
            <a:solidFill>
              <a:srgbClr val="D9E0E6"/>
            </a:solidFill>
            <a:prstDash val="solid"/>
          </a:ln>
        </p:spPr>
        <p:txBody>
          <a:bodyPr/>
          <a:lstStyle/>
          <a:p>
            <a:endParaRPr lang="en-US" sz="2400" b="1" dirty="0"/>
          </a:p>
        </p:txBody>
      </p:sp>
      <p:sp>
        <p:nvSpPr>
          <p:cNvPr id="37" name="Text 35"/>
          <p:cNvSpPr/>
          <p:nvPr/>
        </p:nvSpPr>
        <p:spPr>
          <a:xfrm>
            <a:off x="7415784" y="3364992"/>
            <a:ext cx="1993392" cy="420624"/>
          </a:xfrm>
          <a:prstGeom prst="rect">
            <a:avLst/>
          </a:prstGeom>
          <a:noFill/>
          <a:ln/>
        </p:spPr>
        <p:txBody>
          <a:bodyPr wrap="square" lIns="0" tIns="0" rIns="0" bIns="0" rtlCol="0" anchor="ctr"/>
          <a:lstStyle/>
          <a:p>
            <a:pPr marL="0" indent="0" algn="l">
              <a:buNone/>
            </a:pPr>
            <a:r>
              <a:rPr lang="en-US" sz="1400" b="1" dirty="0">
                <a:latin typeface="Aptos" pitchFamily="34" charset="0"/>
                <a:ea typeface="Aptos" pitchFamily="34" charset="-122"/>
                <a:cs typeface="Aptos" pitchFamily="34" charset="-120"/>
              </a:rPr>
              <a:t>Washington (0.7)</a:t>
            </a:r>
            <a:endParaRPr lang="en-US" sz="1400" b="1" dirty="0"/>
          </a:p>
        </p:txBody>
      </p:sp>
      <p:sp>
        <p:nvSpPr>
          <p:cNvPr id="38" name="Shape 36"/>
          <p:cNvSpPr/>
          <p:nvPr/>
        </p:nvSpPr>
        <p:spPr>
          <a:xfrm>
            <a:off x="2276856" y="3831336"/>
            <a:ext cx="566928" cy="512064"/>
          </a:xfrm>
          <a:prstGeom prst="rect">
            <a:avLst/>
          </a:prstGeom>
          <a:solidFill>
            <a:srgbClr val="FFFFFF"/>
          </a:solidFill>
          <a:ln w="12700">
            <a:solidFill>
              <a:srgbClr val="D9E0E6"/>
            </a:solidFill>
            <a:prstDash val="solid"/>
          </a:ln>
        </p:spPr>
        <p:txBody>
          <a:bodyPr/>
          <a:lstStyle/>
          <a:p>
            <a:endParaRPr lang="en-US" sz="2400" b="1" dirty="0"/>
          </a:p>
        </p:txBody>
      </p:sp>
      <p:sp>
        <p:nvSpPr>
          <p:cNvPr id="39" name="Text 37"/>
          <p:cNvSpPr/>
          <p:nvPr/>
        </p:nvSpPr>
        <p:spPr>
          <a:xfrm>
            <a:off x="2331720" y="3877056"/>
            <a:ext cx="457200" cy="420624"/>
          </a:xfrm>
          <a:prstGeom prst="rect">
            <a:avLst/>
          </a:prstGeom>
          <a:noFill/>
          <a:ln/>
        </p:spPr>
        <p:txBody>
          <a:bodyPr wrap="square" lIns="0" tIns="0" rIns="0" bIns="0" rtlCol="0" anchor="ctr"/>
          <a:lstStyle/>
          <a:p>
            <a:pPr marL="0" indent="0" algn="ctr">
              <a:buNone/>
            </a:pPr>
            <a:r>
              <a:rPr lang="en-US" sz="1400" b="1" dirty="0">
                <a:latin typeface="Aptos" pitchFamily="34" charset="0"/>
                <a:ea typeface="Aptos" pitchFamily="34" charset="-122"/>
                <a:cs typeface="Aptos" pitchFamily="34" charset="-120"/>
              </a:rPr>
              <a:t>4</a:t>
            </a:r>
            <a:endParaRPr lang="en-US" sz="1400" b="1" dirty="0"/>
          </a:p>
        </p:txBody>
      </p:sp>
      <p:sp>
        <p:nvSpPr>
          <p:cNvPr id="40" name="Shape 38"/>
          <p:cNvSpPr/>
          <p:nvPr/>
        </p:nvSpPr>
        <p:spPr>
          <a:xfrm>
            <a:off x="2843784" y="3831336"/>
            <a:ext cx="2212848" cy="512064"/>
          </a:xfrm>
          <a:prstGeom prst="rect">
            <a:avLst/>
          </a:prstGeom>
          <a:solidFill>
            <a:srgbClr val="FFFFFF"/>
          </a:solidFill>
          <a:ln w="12700">
            <a:solidFill>
              <a:srgbClr val="D9E0E6"/>
            </a:solidFill>
            <a:prstDash val="solid"/>
          </a:ln>
        </p:spPr>
        <p:txBody>
          <a:bodyPr/>
          <a:lstStyle/>
          <a:p>
            <a:endParaRPr lang="en-US" sz="2400" b="1" dirty="0"/>
          </a:p>
        </p:txBody>
      </p:sp>
      <p:sp>
        <p:nvSpPr>
          <p:cNvPr id="41" name="Text 39"/>
          <p:cNvSpPr/>
          <p:nvPr/>
        </p:nvSpPr>
        <p:spPr>
          <a:xfrm>
            <a:off x="2898648" y="3877056"/>
            <a:ext cx="2103120" cy="420624"/>
          </a:xfrm>
          <a:prstGeom prst="rect">
            <a:avLst/>
          </a:prstGeom>
          <a:noFill/>
          <a:ln/>
        </p:spPr>
        <p:txBody>
          <a:bodyPr wrap="square" lIns="0" tIns="0" rIns="0" bIns="0" rtlCol="0" anchor="ctr"/>
          <a:lstStyle/>
          <a:p>
            <a:pPr marL="0" indent="0" algn="l">
              <a:buNone/>
            </a:pPr>
            <a:r>
              <a:rPr lang="en-US" sz="1400" b="1" dirty="0">
                <a:latin typeface="Aptos" pitchFamily="34" charset="0"/>
                <a:ea typeface="Aptos" pitchFamily="34" charset="-122"/>
                <a:cs typeface="Aptos" pitchFamily="34" charset="-120"/>
              </a:rPr>
              <a:t>Utah (2.1)</a:t>
            </a:r>
            <a:endParaRPr lang="en-US" sz="1400" b="1" dirty="0"/>
          </a:p>
        </p:txBody>
      </p:sp>
      <p:sp>
        <p:nvSpPr>
          <p:cNvPr id="42" name="Shape 40"/>
          <p:cNvSpPr/>
          <p:nvPr/>
        </p:nvSpPr>
        <p:spPr>
          <a:xfrm>
            <a:off x="5056632" y="3831336"/>
            <a:ext cx="2304288" cy="512064"/>
          </a:xfrm>
          <a:prstGeom prst="rect">
            <a:avLst/>
          </a:prstGeom>
          <a:solidFill>
            <a:srgbClr val="FFFFFF"/>
          </a:solidFill>
          <a:ln w="12700">
            <a:solidFill>
              <a:srgbClr val="D9E0E6"/>
            </a:solidFill>
            <a:prstDash val="solid"/>
          </a:ln>
        </p:spPr>
        <p:txBody>
          <a:bodyPr/>
          <a:lstStyle/>
          <a:p>
            <a:endParaRPr lang="en-US" sz="2400" b="1" dirty="0"/>
          </a:p>
        </p:txBody>
      </p:sp>
      <p:sp>
        <p:nvSpPr>
          <p:cNvPr id="43" name="Text 41"/>
          <p:cNvSpPr/>
          <p:nvPr/>
        </p:nvSpPr>
        <p:spPr>
          <a:xfrm>
            <a:off x="5111496" y="3877056"/>
            <a:ext cx="2194560" cy="420624"/>
          </a:xfrm>
          <a:prstGeom prst="rect">
            <a:avLst/>
          </a:prstGeom>
          <a:noFill/>
          <a:ln/>
        </p:spPr>
        <p:txBody>
          <a:bodyPr wrap="square" lIns="0" tIns="0" rIns="0" bIns="0" rtlCol="0" anchor="ctr"/>
          <a:lstStyle/>
          <a:p>
            <a:pPr marL="0" indent="0" algn="l">
              <a:buNone/>
            </a:pPr>
            <a:r>
              <a:rPr lang="en-US" sz="1400" b="1" dirty="0">
                <a:latin typeface="Aptos" pitchFamily="34" charset="0"/>
                <a:ea typeface="Aptos" pitchFamily="34" charset="-122"/>
                <a:cs typeface="Aptos" pitchFamily="34" charset="-120"/>
              </a:rPr>
              <a:t>South Dakota (42.3)</a:t>
            </a:r>
            <a:endParaRPr lang="en-US" sz="1400" b="1" dirty="0"/>
          </a:p>
        </p:txBody>
      </p:sp>
      <p:sp>
        <p:nvSpPr>
          <p:cNvPr id="44" name="Shape 42"/>
          <p:cNvSpPr/>
          <p:nvPr/>
        </p:nvSpPr>
        <p:spPr>
          <a:xfrm>
            <a:off x="7360920" y="3831336"/>
            <a:ext cx="2103120" cy="512064"/>
          </a:xfrm>
          <a:prstGeom prst="rect">
            <a:avLst/>
          </a:prstGeom>
          <a:solidFill>
            <a:srgbClr val="FFFFFF"/>
          </a:solidFill>
          <a:ln w="12700">
            <a:solidFill>
              <a:srgbClr val="D9E0E6"/>
            </a:solidFill>
            <a:prstDash val="solid"/>
          </a:ln>
        </p:spPr>
        <p:txBody>
          <a:bodyPr/>
          <a:lstStyle/>
          <a:p>
            <a:endParaRPr lang="en-US" sz="2400" b="1" dirty="0"/>
          </a:p>
        </p:txBody>
      </p:sp>
      <p:sp>
        <p:nvSpPr>
          <p:cNvPr id="45" name="Text 43"/>
          <p:cNvSpPr/>
          <p:nvPr/>
        </p:nvSpPr>
        <p:spPr>
          <a:xfrm>
            <a:off x="7415784" y="3877056"/>
            <a:ext cx="1993392" cy="420624"/>
          </a:xfrm>
          <a:prstGeom prst="rect">
            <a:avLst/>
          </a:prstGeom>
          <a:noFill/>
          <a:ln/>
        </p:spPr>
        <p:txBody>
          <a:bodyPr wrap="square" lIns="0" tIns="0" rIns="0" bIns="0" rtlCol="0" anchor="ctr"/>
          <a:lstStyle/>
          <a:p>
            <a:pPr marL="0" indent="0" algn="l">
              <a:buNone/>
            </a:pPr>
            <a:r>
              <a:rPr lang="en-US" sz="1400" b="1" dirty="0">
                <a:latin typeface="Aptos" pitchFamily="34" charset="0"/>
                <a:ea typeface="Aptos" pitchFamily="34" charset="-122"/>
                <a:cs typeface="Aptos" pitchFamily="34" charset="-120"/>
              </a:rPr>
              <a:t>Ohio (0.6)</a:t>
            </a:r>
            <a:endParaRPr lang="en-US" sz="1400" b="1" dirty="0"/>
          </a:p>
        </p:txBody>
      </p:sp>
      <p:sp>
        <p:nvSpPr>
          <p:cNvPr id="46" name="Shape 44"/>
          <p:cNvSpPr/>
          <p:nvPr/>
        </p:nvSpPr>
        <p:spPr>
          <a:xfrm>
            <a:off x="2276856" y="4343400"/>
            <a:ext cx="566928" cy="512064"/>
          </a:xfrm>
          <a:prstGeom prst="rect">
            <a:avLst/>
          </a:prstGeom>
          <a:solidFill>
            <a:srgbClr val="FFFFFF"/>
          </a:solidFill>
          <a:ln w="12700">
            <a:solidFill>
              <a:srgbClr val="D9E0E6"/>
            </a:solidFill>
            <a:prstDash val="solid"/>
          </a:ln>
        </p:spPr>
        <p:txBody>
          <a:bodyPr/>
          <a:lstStyle/>
          <a:p>
            <a:endParaRPr lang="en-US" sz="2400" b="1" dirty="0"/>
          </a:p>
        </p:txBody>
      </p:sp>
      <p:sp>
        <p:nvSpPr>
          <p:cNvPr id="47" name="Text 45"/>
          <p:cNvSpPr/>
          <p:nvPr/>
        </p:nvSpPr>
        <p:spPr>
          <a:xfrm>
            <a:off x="2331720" y="4389120"/>
            <a:ext cx="457200" cy="420624"/>
          </a:xfrm>
          <a:prstGeom prst="rect">
            <a:avLst/>
          </a:prstGeom>
          <a:noFill/>
          <a:ln/>
        </p:spPr>
        <p:txBody>
          <a:bodyPr wrap="square" lIns="0" tIns="0" rIns="0" bIns="0" rtlCol="0" anchor="ctr"/>
          <a:lstStyle/>
          <a:p>
            <a:pPr marL="0" indent="0" algn="ctr">
              <a:buNone/>
            </a:pPr>
            <a:r>
              <a:rPr lang="en-US" sz="1400" b="1" dirty="0">
                <a:latin typeface="Aptos" pitchFamily="34" charset="0"/>
                <a:ea typeface="Aptos" pitchFamily="34" charset="-122"/>
                <a:cs typeface="Aptos" pitchFamily="34" charset="-120"/>
              </a:rPr>
              <a:t>5</a:t>
            </a:r>
            <a:endParaRPr lang="en-US" sz="1400" b="1" dirty="0"/>
          </a:p>
        </p:txBody>
      </p:sp>
      <p:sp>
        <p:nvSpPr>
          <p:cNvPr id="48" name="Shape 46"/>
          <p:cNvSpPr/>
          <p:nvPr/>
        </p:nvSpPr>
        <p:spPr>
          <a:xfrm>
            <a:off x="2843784" y="4343400"/>
            <a:ext cx="2212848" cy="512064"/>
          </a:xfrm>
          <a:prstGeom prst="rect">
            <a:avLst/>
          </a:prstGeom>
          <a:solidFill>
            <a:srgbClr val="FFFFFF"/>
          </a:solidFill>
          <a:ln w="12700">
            <a:solidFill>
              <a:srgbClr val="D9E0E6"/>
            </a:solidFill>
            <a:prstDash val="solid"/>
          </a:ln>
        </p:spPr>
        <p:txBody>
          <a:bodyPr/>
          <a:lstStyle/>
          <a:p>
            <a:endParaRPr lang="en-US" sz="2400" b="1" dirty="0"/>
          </a:p>
        </p:txBody>
      </p:sp>
      <p:sp>
        <p:nvSpPr>
          <p:cNvPr id="49" name="Text 47"/>
          <p:cNvSpPr/>
          <p:nvPr/>
        </p:nvSpPr>
        <p:spPr>
          <a:xfrm>
            <a:off x="2898648" y="4389120"/>
            <a:ext cx="2103120" cy="420624"/>
          </a:xfrm>
          <a:prstGeom prst="rect">
            <a:avLst/>
          </a:prstGeom>
          <a:noFill/>
          <a:ln/>
        </p:spPr>
        <p:txBody>
          <a:bodyPr wrap="square" lIns="0" tIns="0" rIns="0" bIns="0" rtlCol="0" anchor="ctr"/>
          <a:lstStyle/>
          <a:p>
            <a:pPr marL="0" indent="0" algn="l">
              <a:buNone/>
            </a:pPr>
            <a:r>
              <a:rPr lang="en-US" sz="1400" b="1" dirty="0">
                <a:latin typeface="Aptos" pitchFamily="34" charset="0"/>
                <a:ea typeface="Aptos" pitchFamily="34" charset="-122"/>
                <a:cs typeface="Aptos" pitchFamily="34" charset="-120"/>
              </a:rPr>
              <a:t>Massachusetts (1.9)</a:t>
            </a:r>
            <a:endParaRPr lang="en-US" sz="1400" b="1" dirty="0"/>
          </a:p>
        </p:txBody>
      </p:sp>
      <p:sp>
        <p:nvSpPr>
          <p:cNvPr id="50" name="Shape 48"/>
          <p:cNvSpPr/>
          <p:nvPr/>
        </p:nvSpPr>
        <p:spPr>
          <a:xfrm>
            <a:off x="5056632" y="4343400"/>
            <a:ext cx="2304288" cy="512064"/>
          </a:xfrm>
          <a:prstGeom prst="rect">
            <a:avLst/>
          </a:prstGeom>
          <a:solidFill>
            <a:srgbClr val="FFFFFF"/>
          </a:solidFill>
          <a:ln w="12700">
            <a:solidFill>
              <a:srgbClr val="D9E0E6"/>
            </a:solidFill>
            <a:prstDash val="solid"/>
          </a:ln>
        </p:spPr>
        <p:txBody>
          <a:bodyPr/>
          <a:lstStyle/>
          <a:p>
            <a:endParaRPr lang="en-US" sz="2400" b="1" dirty="0"/>
          </a:p>
        </p:txBody>
      </p:sp>
      <p:sp>
        <p:nvSpPr>
          <p:cNvPr id="51" name="Text 49"/>
          <p:cNvSpPr/>
          <p:nvPr/>
        </p:nvSpPr>
        <p:spPr>
          <a:xfrm>
            <a:off x="5111496" y="4389120"/>
            <a:ext cx="2194560" cy="420624"/>
          </a:xfrm>
          <a:prstGeom prst="rect">
            <a:avLst/>
          </a:prstGeom>
          <a:noFill/>
          <a:ln/>
        </p:spPr>
        <p:txBody>
          <a:bodyPr wrap="square" lIns="0" tIns="0" rIns="0" bIns="0" rtlCol="0" anchor="ctr"/>
          <a:lstStyle/>
          <a:p>
            <a:pPr marL="0" indent="0" algn="l">
              <a:buNone/>
            </a:pPr>
            <a:r>
              <a:rPr lang="en-US" sz="1400" b="1" dirty="0">
                <a:latin typeface="Aptos" pitchFamily="34" charset="0"/>
                <a:ea typeface="Aptos" pitchFamily="34" charset="-122"/>
                <a:cs typeface="Aptos" pitchFamily="34" charset="-120"/>
              </a:rPr>
              <a:t>Pennsylvania (38.2)</a:t>
            </a:r>
            <a:endParaRPr lang="en-US" sz="1400" b="1" dirty="0"/>
          </a:p>
        </p:txBody>
      </p:sp>
      <p:sp>
        <p:nvSpPr>
          <p:cNvPr id="52" name="Shape 50"/>
          <p:cNvSpPr/>
          <p:nvPr/>
        </p:nvSpPr>
        <p:spPr>
          <a:xfrm>
            <a:off x="7360920" y="4343400"/>
            <a:ext cx="2103120" cy="512064"/>
          </a:xfrm>
          <a:prstGeom prst="rect">
            <a:avLst/>
          </a:prstGeom>
          <a:solidFill>
            <a:srgbClr val="FFFFFF"/>
          </a:solidFill>
          <a:ln w="12700">
            <a:solidFill>
              <a:srgbClr val="D9E0E6"/>
            </a:solidFill>
            <a:prstDash val="solid"/>
          </a:ln>
        </p:spPr>
        <p:txBody>
          <a:bodyPr/>
          <a:lstStyle/>
          <a:p>
            <a:endParaRPr lang="en-US" sz="2400" b="1" dirty="0"/>
          </a:p>
        </p:txBody>
      </p:sp>
      <p:sp>
        <p:nvSpPr>
          <p:cNvPr id="53" name="Text 51"/>
          <p:cNvSpPr/>
          <p:nvPr/>
        </p:nvSpPr>
        <p:spPr>
          <a:xfrm>
            <a:off x="7415784" y="4389120"/>
            <a:ext cx="1993392" cy="420624"/>
          </a:xfrm>
          <a:prstGeom prst="rect">
            <a:avLst/>
          </a:prstGeom>
          <a:noFill/>
          <a:ln/>
        </p:spPr>
        <p:txBody>
          <a:bodyPr wrap="square" lIns="0" tIns="0" rIns="0" bIns="0" rtlCol="0" anchor="ctr"/>
          <a:lstStyle/>
          <a:p>
            <a:pPr marL="0" indent="0" algn="l">
              <a:buNone/>
            </a:pPr>
            <a:r>
              <a:rPr lang="en-US" sz="1400" b="1" dirty="0">
                <a:latin typeface="Aptos" pitchFamily="34" charset="0"/>
                <a:ea typeface="Aptos" pitchFamily="34" charset="-122"/>
                <a:cs typeface="Aptos" pitchFamily="34" charset="-120"/>
              </a:rPr>
              <a:t>Minnesota (0.5)</a:t>
            </a:r>
            <a:endParaRPr lang="en-US" sz="1400" b="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a:extLst>
            <a:ext uri="{FF2B5EF4-FFF2-40B4-BE49-F238E27FC236}">
              <a16:creationId xmlns:a16="http://schemas.microsoft.com/office/drawing/2014/main" id="{8D8B763F-C2D5-701C-BEF5-4A8A6E71869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309A495-2E0F-CCD2-B716-EEF6C245B9C9}"/>
              </a:ext>
            </a:extLst>
          </p:cNvPr>
          <p:cNvSpPr/>
          <p:nvPr/>
        </p:nvSpPr>
        <p:spPr>
          <a:xfrm>
            <a:off x="0" y="0"/>
            <a:ext cx="12191695" cy="164592"/>
          </a:xfrm>
          <a:prstGeom prst="rect">
            <a:avLst/>
          </a:prstGeom>
          <a:solidFill>
            <a:srgbClr val="16324F"/>
          </a:solidFill>
          <a:ln w="12700">
            <a:solidFill>
              <a:srgbClr val="16324F">
                <a:alpha val="0"/>
              </a:srgbClr>
            </a:solidFill>
            <a:prstDash val="solid"/>
          </a:ln>
        </p:spPr>
        <p:txBody>
          <a:bodyPr/>
          <a:lstStyle/>
          <a:p>
            <a:endParaRPr lang="en-US" dirty="0"/>
          </a:p>
        </p:txBody>
      </p:sp>
      <p:sp>
        <p:nvSpPr>
          <p:cNvPr id="3" name="Shape 1">
            <a:extLst>
              <a:ext uri="{FF2B5EF4-FFF2-40B4-BE49-F238E27FC236}">
                <a16:creationId xmlns:a16="http://schemas.microsoft.com/office/drawing/2014/main" id="{982F026B-7585-D7AF-8A6A-2EF682860FA3}"/>
              </a:ext>
            </a:extLst>
          </p:cNvPr>
          <p:cNvSpPr/>
          <p:nvPr/>
        </p:nvSpPr>
        <p:spPr>
          <a:xfrm>
            <a:off x="0" y="6748272"/>
            <a:ext cx="12191695" cy="109728"/>
          </a:xfrm>
          <a:prstGeom prst="rect">
            <a:avLst/>
          </a:prstGeom>
          <a:solidFill>
            <a:srgbClr val="345995"/>
          </a:solidFill>
          <a:ln w="12700">
            <a:solidFill>
              <a:srgbClr val="345995">
                <a:alpha val="0"/>
              </a:srgbClr>
            </a:solidFill>
            <a:prstDash val="solid"/>
          </a:ln>
        </p:spPr>
        <p:txBody>
          <a:bodyPr/>
          <a:lstStyle/>
          <a:p>
            <a:endParaRPr lang="en-US" dirty="0"/>
          </a:p>
        </p:txBody>
      </p:sp>
      <p:sp>
        <p:nvSpPr>
          <p:cNvPr id="5" name="Text 3">
            <a:extLst>
              <a:ext uri="{FF2B5EF4-FFF2-40B4-BE49-F238E27FC236}">
                <a16:creationId xmlns:a16="http://schemas.microsoft.com/office/drawing/2014/main" id="{9FCC42C9-B703-052C-FDEA-CB3B5C8D658C}"/>
              </a:ext>
            </a:extLst>
          </p:cNvPr>
          <p:cNvSpPr/>
          <p:nvPr/>
        </p:nvSpPr>
        <p:spPr>
          <a:xfrm>
            <a:off x="697230" y="473202"/>
            <a:ext cx="10149840" cy="457200"/>
          </a:xfrm>
          <a:prstGeom prst="rect">
            <a:avLst/>
          </a:prstGeom>
          <a:noFill/>
          <a:ln/>
        </p:spPr>
        <p:txBody>
          <a:bodyPr wrap="square" lIns="0" tIns="0" rIns="0" bIns="0" rtlCol="0" anchor="ctr"/>
          <a:lstStyle/>
          <a:p>
            <a:pPr marL="0" indent="0">
              <a:buNone/>
            </a:pPr>
            <a:r>
              <a:rPr lang="en-US" sz="2500" b="1" dirty="0">
                <a:solidFill>
                  <a:srgbClr val="16324F"/>
                </a:solidFill>
                <a:latin typeface="Aptos Display" pitchFamily="34" charset="0"/>
                <a:ea typeface="Aptos Display" pitchFamily="34" charset="-122"/>
                <a:cs typeface="Aptos Display" pitchFamily="34" charset="-120"/>
              </a:rPr>
              <a:t>DEMOGRAPHIC HOTSPOTS SHOW WHERE BURDEN CONCENTRATES</a:t>
            </a:r>
            <a:endParaRPr lang="en-US" sz="2500" dirty="0"/>
          </a:p>
        </p:txBody>
      </p:sp>
      <p:pic>
        <p:nvPicPr>
          <p:cNvPr id="59" name="Picture 58" descr="heart_top5_hotspots_map.png">
            <a:extLst>
              <a:ext uri="{FF2B5EF4-FFF2-40B4-BE49-F238E27FC236}">
                <a16:creationId xmlns:a16="http://schemas.microsoft.com/office/drawing/2014/main" id="{FB841016-D269-A0F4-D09E-864D6C654A7D}"/>
              </a:ext>
            </a:extLst>
          </p:cNvPr>
          <p:cNvPicPr>
            <a:picLocks noChangeAspect="1"/>
          </p:cNvPicPr>
          <p:nvPr/>
        </p:nvPicPr>
        <p:blipFill>
          <a:blip r:embed="rId3"/>
          <a:stretch>
            <a:fillRect/>
          </a:stretch>
        </p:blipFill>
        <p:spPr>
          <a:xfrm>
            <a:off x="1119160" y="930402"/>
            <a:ext cx="9305000" cy="5427917"/>
          </a:xfrm>
          <a:prstGeom prst="rect">
            <a:avLst/>
          </a:prstGeom>
          <a:pattFill prst="pct5">
            <a:fgClr>
              <a:srgbClr val="F5F7FA"/>
            </a:fgClr>
            <a:bgClr>
              <a:schemeClr val="bg1"/>
            </a:bgClr>
          </a:pattFill>
          <a:effectLst>
            <a:softEdge rad="0"/>
          </a:effectLst>
        </p:spPr>
      </p:pic>
    </p:spTree>
    <p:extLst>
      <p:ext uri="{BB962C8B-B14F-4D97-AF65-F5344CB8AC3E}">
        <p14:creationId xmlns:p14="http://schemas.microsoft.com/office/powerpoint/2010/main" val="36019990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a:extLst>
            <a:ext uri="{FF2B5EF4-FFF2-40B4-BE49-F238E27FC236}">
              <a16:creationId xmlns:a16="http://schemas.microsoft.com/office/drawing/2014/main" id="{FBF3AC2B-C8E0-BE18-BF60-860A162E13D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6568D6F-4EEB-7604-A613-519984791DDA}"/>
              </a:ext>
            </a:extLst>
          </p:cNvPr>
          <p:cNvSpPr/>
          <p:nvPr/>
        </p:nvSpPr>
        <p:spPr>
          <a:xfrm>
            <a:off x="0" y="0"/>
            <a:ext cx="12191695" cy="164592"/>
          </a:xfrm>
          <a:prstGeom prst="rect">
            <a:avLst/>
          </a:prstGeom>
          <a:solidFill>
            <a:srgbClr val="16324F"/>
          </a:solidFill>
          <a:ln w="12700">
            <a:solidFill>
              <a:srgbClr val="16324F">
                <a:alpha val="0"/>
              </a:srgbClr>
            </a:solidFill>
            <a:prstDash val="solid"/>
          </a:ln>
        </p:spPr>
        <p:txBody>
          <a:bodyPr/>
          <a:lstStyle/>
          <a:p>
            <a:endParaRPr lang="en-US" dirty="0"/>
          </a:p>
        </p:txBody>
      </p:sp>
      <p:sp>
        <p:nvSpPr>
          <p:cNvPr id="3" name="Shape 1">
            <a:extLst>
              <a:ext uri="{FF2B5EF4-FFF2-40B4-BE49-F238E27FC236}">
                <a16:creationId xmlns:a16="http://schemas.microsoft.com/office/drawing/2014/main" id="{287FB5F8-7DB9-3F21-36D4-D23234B4125B}"/>
              </a:ext>
            </a:extLst>
          </p:cNvPr>
          <p:cNvSpPr/>
          <p:nvPr/>
        </p:nvSpPr>
        <p:spPr>
          <a:xfrm>
            <a:off x="0" y="6748272"/>
            <a:ext cx="12191695" cy="109728"/>
          </a:xfrm>
          <a:prstGeom prst="rect">
            <a:avLst/>
          </a:prstGeom>
          <a:solidFill>
            <a:srgbClr val="345995"/>
          </a:solidFill>
          <a:ln w="12700">
            <a:solidFill>
              <a:srgbClr val="345995">
                <a:alpha val="0"/>
              </a:srgbClr>
            </a:solidFill>
            <a:prstDash val="solid"/>
          </a:ln>
        </p:spPr>
        <p:txBody>
          <a:bodyPr/>
          <a:lstStyle/>
          <a:p>
            <a:endParaRPr lang="en-US" dirty="0"/>
          </a:p>
        </p:txBody>
      </p:sp>
      <p:pic>
        <p:nvPicPr>
          <p:cNvPr id="60" name="Picture 59" descr="kidney_top5_hotspots_map.png">
            <a:extLst>
              <a:ext uri="{FF2B5EF4-FFF2-40B4-BE49-F238E27FC236}">
                <a16:creationId xmlns:a16="http://schemas.microsoft.com/office/drawing/2014/main" id="{3D203CC4-7F7D-AEAB-22AE-CA8D664A8FE3}"/>
              </a:ext>
            </a:extLst>
          </p:cNvPr>
          <p:cNvPicPr>
            <a:picLocks noChangeAspect="1"/>
          </p:cNvPicPr>
          <p:nvPr/>
        </p:nvPicPr>
        <p:blipFill>
          <a:blip r:embed="rId3"/>
          <a:stretch>
            <a:fillRect/>
          </a:stretch>
        </p:blipFill>
        <p:spPr>
          <a:xfrm>
            <a:off x="1115850" y="973835"/>
            <a:ext cx="9571200" cy="5583201"/>
          </a:xfrm>
          <a:prstGeom prst="rect">
            <a:avLst/>
          </a:prstGeom>
        </p:spPr>
      </p:pic>
      <p:sp>
        <p:nvSpPr>
          <p:cNvPr id="6" name="Text 3">
            <a:extLst>
              <a:ext uri="{FF2B5EF4-FFF2-40B4-BE49-F238E27FC236}">
                <a16:creationId xmlns:a16="http://schemas.microsoft.com/office/drawing/2014/main" id="{E6D68748-02A2-D6A4-2D24-BA604F2AD6E5}"/>
              </a:ext>
            </a:extLst>
          </p:cNvPr>
          <p:cNvSpPr/>
          <p:nvPr/>
        </p:nvSpPr>
        <p:spPr>
          <a:xfrm>
            <a:off x="537210" y="473202"/>
            <a:ext cx="9875520" cy="457200"/>
          </a:xfrm>
          <a:prstGeom prst="rect">
            <a:avLst/>
          </a:prstGeom>
          <a:noFill/>
          <a:ln/>
        </p:spPr>
        <p:txBody>
          <a:bodyPr wrap="square" lIns="0" tIns="0" rIns="0" bIns="0" rtlCol="0" anchor="ctr"/>
          <a:lstStyle/>
          <a:p>
            <a:pPr marL="0" indent="0">
              <a:buNone/>
            </a:pPr>
            <a:r>
              <a:rPr lang="en-US" sz="2500" b="1" dirty="0">
                <a:solidFill>
                  <a:srgbClr val="16324F"/>
                </a:solidFill>
                <a:latin typeface="Aptos Display" pitchFamily="34" charset="0"/>
                <a:ea typeface="Aptos Display" pitchFamily="34" charset="-122"/>
                <a:cs typeface="Aptos Display" pitchFamily="34" charset="-120"/>
              </a:rPr>
              <a:t>DEMOGRAPHIC HOTSPOTS SHOW WHERE BURDEN CONCENTRATES</a:t>
            </a:r>
            <a:endParaRPr lang="en-US" sz="2500" dirty="0"/>
          </a:p>
        </p:txBody>
      </p:sp>
    </p:spTree>
    <p:extLst>
      <p:ext uri="{BB962C8B-B14F-4D97-AF65-F5344CB8AC3E}">
        <p14:creationId xmlns:p14="http://schemas.microsoft.com/office/powerpoint/2010/main" val="32783431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a:extLst>
            <a:ext uri="{FF2B5EF4-FFF2-40B4-BE49-F238E27FC236}">
              <a16:creationId xmlns:a16="http://schemas.microsoft.com/office/drawing/2014/main" id="{A28748E2-C9C3-D3DA-F1EB-2E802FA3FEA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DA63102-6E75-0DB8-A913-9CD0DA79FC76}"/>
              </a:ext>
            </a:extLst>
          </p:cNvPr>
          <p:cNvSpPr/>
          <p:nvPr/>
        </p:nvSpPr>
        <p:spPr>
          <a:xfrm>
            <a:off x="0" y="0"/>
            <a:ext cx="12191695" cy="164592"/>
          </a:xfrm>
          <a:prstGeom prst="rect">
            <a:avLst/>
          </a:prstGeom>
          <a:solidFill>
            <a:srgbClr val="16324F"/>
          </a:solidFill>
          <a:ln w="12700">
            <a:solidFill>
              <a:srgbClr val="16324F">
                <a:alpha val="0"/>
              </a:srgbClr>
            </a:solidFill>
            <a:prstDash val="solid"/>
          </a:ln>
        </p:spPr>
        <p:txBody>
          <a:bodyPr/>
          <a:lstStyle/>
          <a:p>
            <a:endParaRPr lang="en-US" dirty="0"/>
          </a:p>
        </p:txBody>
      </p:sp>
      <p:sp>
        <p:nvSpPr>
          <p:cNvPr id="3" name="Shape 1">
            <a:extLst>
              <a:ext uri="{FF2B5EF4-FFF2-40B4-BE49-F238E27FC236}">
                <a16:creationId xmlns:a16="http://schemas.microsoft.com/office/drawing/2014/main" id="{9FBC67BA-D0B7-D913-05D1-FA70D765A841}"/>
              </a:ext>
            </a:extLst>
          </p:cNvPr>
          <p:cNvSpPr/>
          <p:nvPr/>
        </p:nvSpPr>
        <p:spPr>
          <a:xfrm>
            <a:off x="0" y="6748272"/>
            <a:ext cx="12191695" cy="109728"/>
          </a:xfrm>
          <a:prstGeom prst="rect">
            <a:avLst/>
          </a:prstGeom>
          <a:solidFill>
            <a:srgbClr val="345995"/>
          </a:solidFill>
          <a:ln w="12700">
            <a:solidFill>
              <a:srgbClr val="345995">
                <a:alpha val="0"/>
              </a:srgbClr>
            </a:solidFill>
            <a:prstDash val="solid"/>
          </a:ln>
        </p:spPr>
        <p:txBody>
          <a:bodyPr/>
          <a:lstStyle/>
          <a:p>
            <a:endParaRPr lang="en-US" dirty="0"/>
          </a:p>
        </p:txBody>
      </p:sp>
      <p:pic>
        <p:nvPicPr>
          <p:cNvPr id="61" name="Picture 60" descr="lung_top5_hotspots_map.png">
            <a:extLst>
              <a:ext uri="{FF2B5EF4-FFF2-40B4-BE49-F238E27FC236}">
                <a16:creationId xmlns:a16="http://schemas.microsoft.com/office/drawing/2014/main" id="{8BA3A7EB-974B-0A8E-FE62-4640F0A1D18B}"/>
              </a:ext>
            </a:extLst>
          </p:cNvPr>
          <p:cNvPicPr>
            <a:picLocks noChangeAspect="1"/>
          </p:cNvPicPr>
          <p:nvPr/>
        </p:nvPicPr>
        <p:blipFill>
          <a:blip r:embed="rId3"/>
          <a:stretch>
            <a:fillRect/>
          </a:stretch>
        </p:blipFill>
        <p:spPr>
          <a:xfrm>
            <a:off x="959140" y="992029"/>
            <a:ext cx="9762200" cy="5694615"/>
          </a:xfrm>
          <a:prstGeom prst="rect">
            <a:avLst/>
          </a:prstGeom>
        </p:spPr>
      </p:pic>
      <p:sp>
        <p:nvSpPr>
          <p:cNvPr id="6" name="Text 3">
            <a:extLst>
              <a:ext uri="{FF2B5EF4-FFF2-40B4-BE49-F238E27FC236}">
                <a16:creationId xmlns:a16="http://schemas.microsoft.com/office/drawing/2014/main" id="{1D637F06-B7AA-884D-7353-F05540F54DDE}"/>
              </a:ext>
            </a:extLst>
          </p:cNvPr>
          <p:cNvSpPr/>
          <p:nvPr/>
        </p:nvSpPr>
        <p:spPr>
          <a:xfrm>
            <a:off x="640080" y="377142"/>
            <a:ext cx="9936327" cy="457200"/>
          </a:xfrm>
          <a:prstGeom prst="rect">
            <a:avLst/>
          </a:prstGeom>
          <a:noFill/>
          <a:ln/>
        </p:spPr>
        <p:txBody>
          <a:bodyPr wrap="square" lIns="0" tIns="0" rIns="0" bIns="0" rtlCol="0" anchor="ctr"/>
          <a:lstStyle/>
          <a:p>
            <a:pPr marL="0" indent="0">
              <a:buNone/>
            </a:pPr>
            <a:r>
              <a:rPr lang="en-US" sz="2500" b="1" dirty="0">
                <a:solidFill>
                  <a:srgbClr val="16324F"/>
                </a:solidFill>
                <a:latin typeface="Aptos Display" pitchFamily="34" charset="0"/>
                <a:ea typeface="Aptos Display" pitchFamily="34" charset="-122"/>
                <a:cs typeface="Aptos Display" pitchFamily="34" charset="-120"/>
              </a:rPr>
              <a:t>DEMOGRAPHIC HOTSPOTS SHOW WHERE BURDEN CONCENTRATES</a:t>
            </a:r>
            <a:endParaRPr lang="en-US" sz="2500" dirty="0"/>
          </a:p>
        </p:txBody>
      </p:sp>
    </p:spTree>
    <p:extLst>
      <p:ext uri="{BB962C8B-B14F-4D97-AF65-F5344CB8AC3E}">
        <p14:creationId xmlns:p14="http://schemas.microsoft.com/office/powerpoint/2010/main" val="15417549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a:extLst>
            <a:ext uri="{FF2B5EF4-FFF2-40B4-BE49-F238E27FC236}">
              <a16:creationId xmlns:a16="http://schemas.microsoft.com/office/drawing/2014/main" id="{A544A26D-BF59-A377-DE5A-19E7EE4133A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31EB1B5-00D9-2834-7147-31251E9080E3}"/>
              </a:ext>
            </a:extLst>
          </p:cNvPr>
          <p:cNvSpPr/>
          <p:nvPr/>
        </p:nvSpPr>
        <p:spPr>
          <a:xfrm>
            <a:off x="0" y="0"/>
            <a:ext cx="12191695" cy="164592"/>
          </a:xfrm>
          <a:prstGeom prst="rect">
            <a:avLst/>
          </a:prstGeom>
          <a:solidFill>
            <a:srgbClr val="16324F"/>
          </a:solidFill>
          <a:ln w="12700">
            <a:solidFill>
              <a:srgbClr val="16324F">
                <a:alpha val="0"/>
              </a:srgbClr>
            </a:solidFill>
            <a:prstDash val="solid"/>
          </a:ln>
        </p:spPr>
        <p:txBody>
          <a:bodyPr/>
          <a:lstStyle/>
          <a:p>
            <a:endParaRPr lang="en-US" dirty="0"/>
          </a:p>
        </p:txBody>
      </p:sp>
      <p:sp>
        <p:nvSpPr>
          <p:cNvPr id="3" name="Shape 1">
            <a:extLst>
              <a:ext uri="{FF2B5EF4-FFF2-40B4-BE49-F238E27FC236}">
                <a16:creationId xmlns:a16="http://schemas.microsoft.com/office/drawing/2014/main" id="{6F6A1CA3-791D-1A43-C141-478A0E095BBC}"/>
              </a:ext>
            </a:extLst>
          </p:cNvPr>
          <p:cNvSpPr/>
          <p:nvPr/>
        </p:nvSpPr>
        <p:spPr>
          <a:xfrm>
            <a:off x="0" y="6748272"/>
            <a:ext cx="12191695" cy="109728"/>
          </a:xfrm>
          <a:prstGeom prst="rect">
            <a:avLst/>
          </a:prstGeom>
          <a:solidFill>
            <a:srgbClr val="345995"/>
          </a:solidFill>
          <a:ln w="12700">
            <a:solidFill>
              <a:srgbClr val="345995">
                <a:alpha val="0"/>
              </a:srgbClr>
            </a:solidFill>
            <a:prstDash val="solid"/>
          </a:ln>
        </p:spPr>
        <p:txBody>
          <a:bodyPr/>
          <a:lstStyle/>
          <a:p>
            <a:endParaRPr lang="en-US" dirty="0"/>
          </a:p>
        </p:txBody>
      </p:sp>
      <p:sp>
        <p:nvSpPr>
          <p:cNvPr id="5" name="Text 3">
            <a:extLst>
              <a:ext uri="{FF2B5EF4-FFF2-40B4-BE49-F238E27FC236}">
                <a16:creationId xmlns:a16="http://schemas.microsoft.com/office/drawing/2014/main" id="{BBCD8C59-2BBB-6CEF-90FC-A0A89FE6D0C7}"/>
              </a:ext>
            </a:extLst>
          </p:cNvPr>
          <p:cNvSpPr/>
          <p:nvPr/>
        </p:nvSpPr>
        <p:spPr>
          <a:xfrm>
            <a:off x="502920" y="621792"/>
            <a:ext cx="8961120" cy="457200"/>
          </a:xfrm>
          <a:prstGeom prst="rect">
            <a:avLst/>
          </a:prstGeom>
          <a:noFill/>
          <a:ln/>
        </p:spPr>
        <p:txBody>
          <a:bodyPr wrap="square" lIns="0" tIns="0" rIns="0" bIns="0" rtlCol="0" anchor="ctr"/>
          <a:lstStyle/>
          <a:p>
            <a:pPr marL="0" indent="0">
              <a:buNone/>
            </a:pPr>
            <a:r>
              <a:rPr lang="en-US" sz="2500" b="1" dirty="0">
                <a:solidFill>
                  <a:srgbClr val="16324F"/>
                </a:solidFill>
                <a:latin typeface="Aptos Display" pitchFamily="34" charset="0"/>
                <a:ea typeface="Aptos Display" pitchFamily="34" charset="-122"/>
                <a:cs typeface="Aptos Display" pitchFamily="34" charset="-120"/>
              </a:rPr>
              <a:t>KEY FINDINGS</a:t>
            </a:r>
            <a:endParaRPr lang="en-US" sz="2500" dirty="0"/>
          </a:p>
        </p:txBody>
      </p:sp>
      <p:sp>
        <p:nvSpPr>
          <p:cNvPr id="6" name="Shape 4">
            <a:extLst>
              <a:ext uri="{FF2B5EF4-FFF2-40B4-BE49-F238E27FC236}">
                <a16:creationId xmlns:a16="http://schemas.microsoft.com/office/drawing/2014/main" id="{B2008E77-E65E-AF5F-FFC9-5E0B44F3CB05}"/>
              </a:ext>
            </a:extLst>
          </p:cNvPr>
          <p:cNvSpPr/>
          <p:nvPr/>
        </p:nvSpPr>
        <p:spPr>
          <a:xfrm>
            <a:off x="411480" y="1078992"/>
            <a:ext cx="11487150" cy="5310378"/>
          </a:xfrm>
          <a:prstGeom prst="roundRect">
            <a:avLst>
              <a:gd name="adj" fmla="val 5926"/>
            </a:avLst>
          </a:prstGeom>
          <a:solidFill>
            <a:srgbClr val="FFFFFF"/>
          </a:solidFill>
          <a:ln w="12700">
            <a:solidFill>
              <a:srgbClr val="345995"/>
            </a:solidFill>
            <a:prstDash val="solid"/>
          </a:ln>
        </p:spPr>
        <p:txBody>
          <a:bodyPr/>
          <a:lstStyle/>
          <a:p>
            <a:pPr marL="285750" indent="-285750">
              <a:buFont typeface="Wingdings" panose="05000000000000000000" pitchFamily="2" charset="2"/>
              <a:buChar char="q"/>
            </a:pPr>
            <a:endParaRPr lang="en-US" b="1" dirty="0"/>
          </a:p>
          <a:p>
            <a:pPr marL="285750" indent="-285750">
              <a:buFont typeface="Wingdings" panose="05000000000000000000" pitchFamily="2" charset="2"/>
              <a:buChar char="q"/>
            </a:pPr>
            <a:r>
              <a:rPr lang="en-US" b="1" dirty="0"/>
              <a:t>Access burden is not evenly distributed</a:t>
            </a:r>
            <a:endParaRPr lang="en-US" dirty="0"/>
          </a:p>
          <a:p>
            <a:r>
              <a:rPr lang="en-US" dirty="0"/>
              <a:t>Kidney shows the </a:t>
            </a:r>
            <a:r>
              <a:rPr lang="en-US" b="1" dirty="0"/>
              <a:t>highest waitlist burden per 100k</a:t>
            </a:r>
            <a:r>
              <a:rPr lang="en-US" dirty="0"/>
              <a:t> across regions/states</a:t>
            </a:r>
          </a:p>
          <a:p>
            <a:r>
              <a:rPr lang="en-US" dirty="0"/>
              <a:t>It also has the </a:t>
            </a:r>
            <a:r>
              <a:rPr lang="en-US" b="1" dirty="0"/>
              <a:t>highest long-wait share (≥1 year)</a:t>
            </a:r>
            <a:r>
              <a:rPr lang="en-US" dirty="0"/>
              <a:t> compared with heart and lung</a:t>
            </a:r>
          </a:p>
          <a:p>
            <a:endParaRPr lang="en-US" dirty="0"/>
          </a:p>
          <a:p>
            <a:pPr marL="285750" indent="-285750">
              <a:buFont typeface="Wingdings" panose="05000000000000000000" pitchFamily="2" charset="2"/>
              <a:buChar char="q"/>
            </a:pPr>
            <a:r>
              <a:rPr lang="en-US" b="1" dirty="0"/>
              <a:t> Region matters</a:t>
            </a:r>
            <a:endParaRPr lang="en-US" dirty="0"/>
          </a:p>
          <a:p>
            <a:r>
              <a:rPr lang="en-US" dirty="0"/>
              <a:t>The </a:t>
            </a:r>
            <a:r>
              <a:rPr lang="en-US" b="1" dirty="0"/>
              <a:t>South</a:t>
            </a:r>
            <a:r>
              <a:rPr lang="en-US" dirty="0"/>
              <a:t> tends to be higher on </a:t>
            </a:r>
            <a:r>
              <a:rPr lang="en-US" b="1" dirty="0"/>
              <a:t>heart waitlist burden</a:t>
            </a:r>
            <a:r>
              <a:rPr lang="en-US" dirty="0"/>
              <a:t> and related social risk context</a:t>
            </a:r>
          </a:p>
          <a:p>
            <a:r>
              <a:rPr lang="en-US" b="1" dirty="0"/>
              <a:t>Long-wait shares vary</a:t>
            </a:r>
            <a:r>
              <a:rPr lang="en-US" dirty="0"/>
              <a:t> across the four U.S. regions (Northeast, Midwest, South, West)</a:t>
            </a:r>
          </a:p>
          <a:p>
            <a:endParaRPr lang="en-US" dirty="0"/>
          </a:p>
          <a:p>
            <a:pPr marL="285750" indent="-285750">
              <a:buFont typeface="Wingdings" panose="05000000000000000000" pitchFamily="2" charset="2"/>
              <a:buChar char="q"/>
            </a:pPr>
            <a:r>
              <a:rPr lang="en-US" b="1" dirty="0"/>
              <a:t> Demographic differences are visible</a:t>
            </a:r>
            <a:endParaRPr lang="en-US" dirty="0"/>
          </a:p>
          <a:p>
            <a:r>
              <a:rPr lang="en-US" dirty="0"/>
              <a:t>Race/ethnicity groups show </a:t>
            </a:r>
            <a:r>
              <a:rPr lang="en-US" b="1" dirty="0"/>
              <a:t>different exposure to waits ≥1 year</a:t>
            </a:r>
            <a:endParaRPr lang="en-US" dirty="0"/>
          </a:p>
          <a:p>
            <a:r>
              <a:rPr lang="en-US" dirty="0"/>
              <a:t>Patterns differ by organ, indicating </a:t>
            </a:r>
            <a:r>
              <a:rPr lang="en-US" b="1" dirty="0"/>
              <a:t>uneven long-wait burden across groups</a:t>
            </a:r>
          </a:p>
          <a:p>
            <a:endParaRPr lang="en-US" dirty="0"/>
          </a:p>
          <a:p>
            <a:pPr marL="285750" indent="-285750">
              <a:buFont typeface="Wingdings" panose="05000000000000000000" pitchFamily="2" charset="2"/>
              <a:buChar char="q"/>
            </a:pPr>
            <a:r>
              <a:rPr lang="en-US" b="1" dirty="0"/>
              <a:t>Geography is concentrated</a:t>
            </a:r>
            <a:endParaRPr lang="en-US" dirty="0"/>
          </a:p>
          <a:p>
            <a:r>
              <a:rPr lang="en-US" dirty="0"/>
              <a:t>A </a:t>
            </a:r>
            <a:r>
              <a:rPr lang="en-US" b="1" dirty="0"/>
              <a:t>small set of states</a:t>
            </a:r>
            <a:r>
              <a:rPr lang="en-US" dirty="0"/>
              <a:t> accounts for the </a:t>
            </a:r>
            <a:r>
              <a:rPr lang="en-US" b="1" dirty="0"/>
              <a:t>highest per-capita waitlist burden</a:t>
            </a:r>
            <a:endParaRPr lang="en-US" dirty="0"/>
          </a:p>
          <a:p>
            <a:r>
              <a:rPr lang="en-US" dirty="0"/>
              <a:t>Concentration is especially strong for the </a:t>
            </a:r>
            <a:r>
              <a:rPr lang="en-US" b="1" dirty="0"/>
              <a:t>kidney</a:t>
            </a:r>
            <a:r>
              <a:rPr lang="en-US" dirty="0"/>
              <a:t> waitlist burden</a:t>
            </a:r>
          </a:p>
          <a:p>
            <a:endParaRPr lang="en-US" dirty="0"/>
          </a:p>
        </p:txBody>
      </p:sp>
    </p:spTree>
    <p:extLst>
      <p:ext uri="{BB962C8B-B14F-4D97-AF65-F5344CB8AC3E}">
        <p14:creationId xmlns:p14="http://schemas.microsoft.com/office/powerpoint/2010/main" val="15050052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6324F"/>
          </a:solidFill>
          <a:ln w="12700">
            <a:solidFill>
              <a:srgbClr val="16324F">
                <a:alpha val="0"/>
              </a:srgbClr>
            </a:solidFill>
            <a:prstDash val="solid"/>
          </a:ln>
        </p:spPr>
        <p:txBody>
          <a:bodyPr/>
          <a:lstStyle/>
          <a:p>
            <a:endParaRPr lang="en-US" dirty="0"/>
          </a:p>
        </p:txBody>
      </p:sp>
      <p:sp>
        <p:nvSpPr>
          <p:cNvPr id="3" name="Shape 1"/>
          <p:cNvSpPr/>
          <p:nvPr/>
        </p:nvSpPr>
        <p:spPr>
          <a:xfrm>
            <a:off x="0" y="6748272"/>
            <a:ext cx="12191695" cy="109728"/>
          </a:xfrm>
          <a:prstGeom prst="rect">
            <a:avLst/>
          </a:prstGeom>
          <a:solidFill>
            <a:srgbClr val="345995"/>
          </a:solidFill>
          <a:ln w="12700">
            <a:solidFill>
              <a:srgbClr val="345995">
                <a:alpha val="0"/>
              </a:srgbClr>
            </a:solidFill>
            <a:prstDash val="solid"/>
          </a:ln>
        </p:spPr>
        <p:txBody>
          <a:bodyPr/>
          <a:lstStyle/>
          <a:p>
            <a:endParaRPr lang="en-US" dirty="0"/>
          </a:p>
        </p:txBody>
      </p:sp>
      <p:sp>
        <p:nvSpPr>
          <p:cNvPr id="22" name="Text 20"/>
          <p:cNvSpPr/>
          <p:nvPr/>
        </p:nvSpPr>
        <p:spPr>
          <a:xfrm>
            <a:off x="496062" y="486918"/>
            <a:ext cx="2011680" cy="201168"/>
          </a:xfrm>
          <a:prstGeom prst="rect">
            <a:avLst/>
          </a:prstGeom>
          <a:noFill/>
          <a:ln/>
        </p:spPr>
        <p:txBody>
          <a:bodyPr wrap="square" lIns="0" tIns="0" rIns="0" bIns="0" rtlCol="0" anchor="ctr"/>
          <a:lstStyle/>
          <a:p>
            <a:pPr marL="0" indent="0">
              <a:buNone/>
            </a:pPr>
            <a:r>
              <a:rPr lang="en-US" sz="2000" b="1" dirty="0">
                <a:solidFill>
                  <a:srgbClr val="16324F"/>
                </a:solidFill>
              </a:rPr>
              <a:t>Conclusion</a:t>
            </a:r>
            <a:endParaRPr lang="en-US" sz="2000" dirty="0"/>
          </a:p>
        </p:txBody>
      </p:sp>
      <p:sp>
        <p:nvSpPr>
          <p:cNvPr id="23" name="Text 21"/>
          <p:cNvSpPr/>
          <p:nvPr/>
        </p:nvSpPr>
        <p:spPr>
          <a:xfrm>
            <a:off x="496062" y="955548"/>
            <a:ext cx="10835640" cy="1097280"/>
          </a:xfrm>
          <a:prstGeom prst="rect">
            <a:avLst/>
          </a:prstGeom>
          <a:noFill/>
          <a:ln/>
        </p:spPr>
        <p:txBody>
          <a:bodyPr wrap="square" lIns="0" tIns="0" rIns="0" bIns="0" rtlCol="0" anchor="ctr"/>
          <a:lstStyle/>
          <a:p>
            <a:pPr marL="0" indent="0">
              <a:buNone/>
            </a:pPr>
            <a:r>
              <a:rPr lang="en-US" sz="2200" b="1" dirty="0">
                <a:solidFill>
                  <a:srgbClr val="29435C"/>
                </a:solidFill>
                <a:latin typeface="Aptos Display" pitchFamily="34" charset="0"/>
                <a:ea typeface="Aptos Display" pitchFamily="34" charset="-122"/>
                <a:cs typeface="Aptos Display" pitchFamily="34" charset="-120"/>
              </a:rPr>
              <a:t>The data support the conclusion that transplant access is unevenly distributed across geography, organ type, and candidate subgroups — but the strongest evidence here is about disparity patterns, not causal drivers.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6209</TotalTime>
  <Words>1696</Words>
  <Application>Microsoft Office PowerPoint</Application>
  <PresentationFormat>Widescreen</PresentationFormat>
  <Paragraphs>185</Paragraphs>
  <Slides>21</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Aptos</vt:lpstr>
      <vt:lpstr>Aptos Display</vt: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Transplant Equity in the United States</dc:title>
  <dc:subject>Transplant Equity Capstone</dc:subject>
  <dc:creator>OpenAI</dc:creator>
  <cp:lastModifiedBy>Anson Boameh Richard</cp:lastModifiedBy>
  <cp:revision>99</cp:revision>
  <dcterms:created xsi:type="dcterms:W3CDTF">2026-03-02T18:39:58Z</dcterms:created>
  <dcterms:modified xsi:type="dcterms:W3CDTF">2026-03-07T15:56:02Z</dcterms:modified>
</cp:coreProperties>
</file>